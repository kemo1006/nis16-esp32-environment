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ad6ab13-9136-7718-fe38-b6b07415bc66}">
          <p14:sldIdLst>
            <p14:sldId id="256"/>
            <p14:sldId id="257"/>
          </p14:sldIdLst>
        </p14:section>
        <p14:section name="Recap: Chapters 1-3" id="{eb64911c-353c-0295-9fc6-395d92226223}">
          <p14:sldIdLst>
            <p14:sldId id="258"/>
            <p14:sldId id="259"/>
            <p14:sldId id="260"/>
            <p14:sldId id="261"/>
            <p14:sldId id="262"/>
          </p14:sldIdLst>
        </p14:section>
        <p14:section name="Chapter 4: Research Design" id="{c089f743-0097-55ad-ee35-09befa2cf8a5}">
          <p14:sldIdLst>
            <p14:sldId id="263"/>
            <p14:sldId id="264"/>
            <p14:sldId id="265"/>
            <p14:sldId id="266"/>
            <p14:sldId id="267"/>
            <p14:sldId id="268"/>
            <p14:sldId id="269"/>
            <p14:sldId id="270"/>
            <p14:sldId id="271"/>
            <p14:sldId id="272"/>
            <p14:sldId id="273"/>
            <p14:sldId id="274"/>
            <p14:sldId id="275"/>
            <p14:sldId id="276"/>
          </p14:sldIdLst>
        </p14:section>
        <p14:section name="Results so far" id="{7d5153c3-672c-5131-b9e1-0ae184a9c918}">
          <p14:sldIdLst>
            <p14:sldId id="277"/>
            <p14:sldId id="278"/>
            <p14:sldId id="279"/>
            <p14:sldId id="280"/>
            <p14:sldId id="281"/>
            <p14:sldId id="282"/>
            <p14:sldId id="283"/>
            <p14:sldId id="284"/>
            <p14:sldId id="285"/>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E3C"/>
                </a:solidFill>
                <a:latin typeface="+mn-lt"/>
              </a:defRPr>
            </a:pPr>
            <a:r>
              <a:rPr sz="1400" b="0" i="0" u="none" strike="noStrike">
                <a:solidFill>
                  <a:srgbClr val="0B2E3C"/>
                </a:solidFill>
                <a:latin typeface="+mn-lt"/>
              </a:rPr>
              <a:t>Attack runs per topology (18 planned each)</a:t>
            </a:r>
          </a:p>
        </c:rich>
      </c:tx>
      <c:layout/>
      <c:overlay val="0"/>
    </c:title>
    <c:autoTitleDeleted val="0"/>
    <c:plotArea>
      <c:layout/>
      <c:barChart>
        <c:barDir val="bar"/>
        <c:grouping val="stacked"/>
        <c:varyColors val="0"/>
        <c:ser>
          <c:idx val="0"/>
          <c:order val="0"/>
          <c:tx>
            <c:strRef>
              <c:f>Sheet1!$B$1</c:f>
              <c:strCache>
                <c:ptCount val="1"/>
                <c:pt idx="0">
                  <c:v>Blackhole processed</c:v>
                </c:pt>
              </c:strCache>
            </c:strRef>
          </c:tx>
          <c:spPr>
            <a:solidFill>
              <a:srgbClr val="C8414F"/>
            </a:solidFill>
            <a:effectLst/>
          </c:spPr>
          <c:invertIfNegative val="0"/>
          <c:dLbls>
            <c:numFmt formatCode="0;;;" sourceLinked="0"/>
            <c:txPr>
              <a:bodyPr/>
              <a:lstStyle/>
              <a:p>
                <a:pPr>
                  <a:defRPr b="0" i="0" strike="noStrike" sz="1200" u="none">
                    <a:solidFill>
                      <a:srgbClr val="1B2329"/>
                    </a:solidFill>
                    <a:latin typeface="+mn-lt"/>
                  </a:defRPr>
                </a:pPr>
              </a:p>
            </c:txPr>
            <c:dLblPos val="ctr"/>
            <c:showLegendKey val="0"/>
            <c:showVal val="1"/>
            <c:showCatName val="0"/>
            <c:showSerName val="0"/>
            <c:showPercent val="0"/>
            <c:showBubbleSize val="0"/>
            <c:showLeaderLines val="0"/>
          </c:dLbls>
          <c:cat>
            <c:strRef>
              <c:f>Sheet1!$A$2:$A$5</c:f>
              <c:strCache>
                <c:ptCount val="4"/>
                <c:pt idx="0">
                  <c:v>Linear</c:v>
                </c:pt>
                <c:pt idx="1">
                  <c:v>Star</c:v>
                </c:pt>
                <c:pt idx="2">
                  <c:v>Tree</c:v>
                </c:pt>
                <c:pt idx="3">
                  <c:v>Partial mesh</c:v>
                </c:pt>
              </c:strCache>
            </c:strRef>
          </c:cat>
          <c:val>
            <c:numRef>
              <c:f>Sheet1!$B$2:$B$5</c:f>
              <c:numCache>
                <c:formatCode>General</c:formatCode>
                <c:ptCount val="4"/>
                <c:pt idx="0">
                  <c:v>9.0</c:v>
                </c:pt>
                <c:pt idx="1">
                  <c:v>9.0</c:v>
                </c:pt>
                <c:pt idx="2">
                  <c:v>8.0</c:v>
                </c:pt>
                <c:pt idx="3">
                  <c:v>9.0</c:v>
                </c:pt>
              </c:numCache>
            </c:numRef>
          </c:val>
        </c:ser>
        <c:ser>
          <c:idx val="1"/>
          <c:order val="1"/>
          <c:tx>
            <c:strRef>
              <c:f>Sheet1!$C$1</c:f>
              <c:strCache>
                <c:ptCount val="1"/>
                <c:pt idx="0">
                  <c:v>Wormhole processed</c:v>
                </c:pt>
              </c:strCache>
            </c:strRef>
          </c:tx>
          <c:spPr>
            <a:solidFill>
              <a:srgbClr val="E89B2D"/>
            </a:solidFill>
            <a:effectLst/>
          </c:spPr>
          <c:invertIfNegative val="0"/>
          <c:dLbls>
            <c:numFmt formatCode="0;;;" sourceLinked="0"/>
            <c:txPr>
              <a:bodyPr/>
              <a:lstStyle/>
              <a:p>
                <a:pPr>
                  <a:defRPr b="0" i="0" strike="noStrike" sz="1200" u="none">
                    <a:solidFill>
                      <a:srgbClr val="1B2329"/>
                    </a:solidFill>
                    <a:latin typeface="+mn-lt"/>
                  </a:defRPr>
                </a:pPr>
              </a:p>
            </c:txPr>
            <c:dLblPos val="ctr"/>
            <c:showLegendKey val="0"/>
            <c:showVal val="1"/>
            <c:showCatName val="0"/>
            <c:showSerName val="0"/>
            <c:showPercent val="0"/>
            <c:showBubbleSize val="0"/>
            <c:showLeaderLines val="0"/>
          </c:dLbls>
          <c:cat>
            <c:strRef>
              <c:f>Sheet1!$A$2:$A$5</c:f>
              <c:strCache>
                <c:ptCount val="4"/>
                <c:pt idx="0">
                  <c:v>Linear</c:v>
                </c:pt>
                <c:pt idx="1">
                  <c:v>Star</c:v>
                </c:pt>
                <c:pt idx="2">
                  <c:v>Tree</c:v>
                </c:pt>
                <c:pt idx="3">
                  <c:v>Partial mesh</c:v>
                </c:pt>
              </c:strCache>
            </c:strRef>
          </c:cat>
          <c:val>
            <c:numRef>
              <c:f>Sheet1!$C$2:$C$5</c:f>
              <c:numCache>
                <c:formatCode>General</c:formatCode>
                <c:ptCount val="4"/>
                <c:pt idx="0">
                  <c:v>9.0</c:v>
                </c:pt>
                <c:pt idx="1">
                  <c:v>0.0</c:v>
                </c:pt>
                <c:pt idx="2">
                  <c:v>0.0</c:v>
                </c:pt>
                <c:pt idx="3">
                  <c:v>0.0</c:v>
                </c:pt>
              </c:numCache>
            </c:numRef>
          </c:val>
        </c:ser>
        <c:ser>
          <c:idx val="2"/>
          <c:order val="2"/>
          <c:tx>
            <c:strRef>
              <c:f>Sheet1!$D$1</c:f>
              <c:strCache>
                <c:ptCount val="1"/>
                <c:pt idx="0">
                  <c:v>Not yet processed</c:v>
                </c:pt>
              </c:strCache>
            </c:strRef>
          </c:tx>
          <c:spPr>
            <a:solidFill>
              <a:srgbClr val="D5DEE2"/>
            </a:solidFill>
            <a:effectLst/>
          </c:spPr>
          <c:invertIfNegative val="0"/>
          <c:dLbls>
            <c:numFmt formatCode="0;;;" sourceLinked="0"/>
            <c:txPr>
              <a:bodyPr/>
              <a:lstStyle/>
              <a:p>
                <a:pPr>
                  <a:defRPr b="0" i="0" strike="noStrike" sz="1200" u="none">
                    <a:solidFill>
                      <a:srgbClr val="1B2329"/>
                    </a:solidFill>
                    <a:latin typeface="+mn-lt"/>
                  </a:defRPr>
                </a:pPr>
              </a:p>
            </c:txPr>
            <c:dLblPos val="ctr"/>
            <c:showLegendKey val="0"/>
            <c:showVal val="1"/>
            <c:showCatName val="0"/>
            <c:showSerName val="0"/>
            <c:showPercent val="0"/>
            <c:showBubbleSize val="0"/>
            <c:showLeaderLines val="0"/>
          </c:dLbls>
          <c:cat>
            <c:strRef>
              <c:f>Sheet1!$A$2:$A$5</c:f>
              <c:strCache>
                <c:ptCount val="4"/>
                <c:pt idx="0">
                  <c:v>Linear</c:v>
                </c:pt>
                <c:pt idx="1">
                  <c:v>Star</c:v>
                </c:pt>
                <c:pt idx="2">
                  <c:v>Tree</c:v>
                </c:pt>
                <c:pt idx="3">
                  <c:v>Partial mesh</c:v>
                </c:pt>
              </c:strCache>
            </c:strRef>
          </c:cat>
          <c:val>
            <c:numRef>
              <c:f>Sheet1!$D$2:$D$5</c:f>
              <c:numCache>
                <c:formatCode>General</c:formatCode>
                <c:ptCount val="4"/>
                <c:pt idx="0">
                  <c:v>0.0</c:v>
                </c:pt>
                <c:pt idx="1">
                  <c:v>9.0</c:v>
                </c:pt>
                <c:pt idx="2">
                  <c:v>10.0</c:v>
                </c:pt>
                <c:pt idx="3">
                  <c:v>9.0</c:v>
                </c:pt>
              </c:numCache>
            </c:numRef>
          </c:val>
        </c:ser>
        <c:dLbls>
          <c:numFmt formatCode="0;;;" sourceLinked="0"/>
          <c:txPr>
            <a:bodyPr/>
            <a:lstStyle/>
            <a:p>
              <a:pPr>
                <a:defRPr b="0" i="0" strike="noStrike" sz="1200" u="none">
                  <a:solidFill>
                    <a:srgbClr val="1B2329"/>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329"/>
                </a:solidFill>
                <a:latin typeface="+mn-lt"/>
              </a:defRPr>
            </a:pPr>
            <a:endParaRPr lang="en-US"/>
          </a:p>
        </c:txPr>
        <c:crossAx val="2094734552"/>
        <c:crosses val="autoZero"/>
        <c:auto val="1"/>
        <c:lblAlgn val="ctr"/>
        <c:noMultiLvlLbl val="1"/>
      </c:catAx>
      <c:valAx>
        <c:axId val="2094734552"/>
        <c:scaling>
          <c:orientation val="minMax"/>
          <c:max val="18"/>
        </c:scaling>
        <c:delete val="0"/>
        <c:axPos val="b"/>
        <c:majorGridlines>
          <c:spPr>
            <a:ln w="6350" cap="flat">
              <a:solidFill>
                <a:srgbClr val="D5DEE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C8A"/>
                </a:solidFill>
                <a:latin typeface="+mn-lt"/>
              </a:defRPr>
            </a:pPr>
            <a:endParaRPr lang="en-US"/>
          </a:p>
        </c:txPr>
        <c:crossAx val="2094734554"/>
        <c:crosses val="autoZero"/>
        <c:crossBetween val="between"/>
        <c:majorUnit val="3"/>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E3C"/>
                </a:solidFill>
                <a:latin typeface="+mn-lt"/>
              </a:defRPr>
            </a:pPr>
            <a:r>
              <a:rPr sz="1400" b="0" i="0" u="none" strike="noStrike">
                <a:solidFill>
                  <a:srgbClr val="0B2E3C"/>
                </a:solidFill>
                <a:latin typeface="+mn-lt"/>
              </a:rPr>
              <a:t>Per-phase values</a:t>
            </a:r>
          </a:p>
        </c:rich>
      </c:tx>
      <c:layout/>
      <c:overlay val="0"/>
    </c:title>
    <c:autoTitleDeleted val="0"/>
    <c:plotArea>
      <c:layout/>
      <c:barChart>
        <c:barDir val="col"/>
        <c:grouping val="clustered"/>
        <c:varyColors val="0"/>
        <c:ser>
          <c:idx val="0"/>
          <c:order val="0"/>
          <c:tx>
            <c:strRef>
              <c:f>Sheet1!$B$1</c:f>
              <c:strCache>
                <c:ptCount val="1"/>
                <c:pt idx="0">
                  <c:v>Attacker ForwardingRatio</c:v>
                </c:pt>
              </c:strCache>
            </c:strRef>
          </c:tx>
          <c:spPr>
            <a:solidFill>
              <a:srgbClr val="C8414F"/>
            </a:solidFill>
            <a:effectLst/>
          </c:spPr>
          <c:invertIfNegative val="0"/>
          <c:dLbls>
            <c:numFmt formatCode="0.00" sourceLinked="0"/>
            <c:txPr>
              <a:bodyPr/>
              <a:lstStyle/>
              <a:p>
                <a:pPr>
                  <a:defRPr b="0" i="0" strike="noStrike" sz="1200" u="none">
                    <a:solidFill>
                      <a:srgbClr val="1B2329"/>
                    </a:solidFill>
                    <a:latin typeface="+mn-lt"/>
                  </a:defRPr>
                </a:pPr>
              </a:p>
            </c:txPr>
            <c:showLegendKey val="0"/>
            <c:showVal val="1"/>
            <c:showCatName val="0"/>
            <c:showSerName val="0"/>
            <c:showPercent val="0"/>
            <c:showBubbleSize val="0"/>
            <c:showLeaderLines val="0"/>
          </c:dLbls>
          <c:cat>
            <c:multiLvlStrRef>
              <c:f>Sheet1!$A$2:$A$4</c:f>
              <c:multiLvlStrCache>
                <c:ptCount val="3"/>
                <c:lvl>
                  <c:pt idx="0">
                    <c:v>Baseline</c:v>
                  </c:pt>
                  <c:pt idx="1">
                    <c:v>Attack</c:v>
                  </c:pt>
                  <c:pt idx="2">
                    <c:v>Cooldown</c:v>
                  </c:pt>
                </c:lvl>
              </c:multiLvlStrCache>
            </c:multiLvlStrRef>
          </c:cat>
          <c:val>
            <c:numRef>
              <c:f>Sheet1!$B$2:$B$4</c:f>
              <c:numCache>
                <c:formatCode>General</c:formatCode>
                <c:ptCount val="3"/>
                <c:pt idx="0">
                  <c:v>1</c:v>
                </c:pt>
                <c:pt idx="1">
                  <c:v>0.001</c:v>
                </c:pt>
                <c:pt idx="2">
                  <c:v>1</c:v>
                </c:pt>
              </c:numCache>
            </c:numRef>
          </c:val>
        </c:ser>
        <c:ser>
          <c:idx val="1"/>
          <c:order val="1"/>
          <c:tx>
            <c:strRef>
              <c:f>Sheet1!$C$1</c:f>
              <c:strCache>
                <c:ptCount val="1"/>
                <c:pt idx="0">
                  <c:v>Victims' PDR</c:v>
                </c:pt>
              </c:strCache>
            </c:strRef>
          </c:tx>
          <c:spPr>
            <a:solidFill>
              <a:srgbClr val="0E7C86"/>
            </a:solidFill>
            <a:effectLst/>
          </c:spPr>
          <c:invertIfNegative val="0"/>
          <c:dLbls>
            <c:numFmt formatCode="0.00" sourceLinked="0"/>
            <c:txPr>
              <a:bodyPr/>
              <a:lstStyle/>
              <a:p>
                <a:pPr>
                  <a:defRPr b="0" i="0" strike="noStrike" sz="1200" u="none">
                    <a:solidFill>
                      <a:srgbClr val="1B2329"/>
                    </a:solidFill>
                    <a:latin typeface="+mn-lt"/>
                  </a:defRPr>
                </a:pPr>
              </a:p>
            </c:txPr>
            <c:showLegendKey val="0"/>
            <c:showVal val="1"/>
            <c:showCatName val="0"/>
            <c:showSerName val="0"/>
            <c:showPercent val="0"/>
            <c:showBubbleSize val="0"/>
            <c:showLeaderLines val="0"/>
          </c:dLbls>
          <c:cat>
            <c:multiLvlStrRef>
              <c:f>Sheet1!$A$2:$A$4</c:f>
              <c:multiLvlStrCache>
                <c:ptCount val="3"/>
                <c:lvl>
                  <c:pt idx="0">
                    <c:v>Baseline</c:v>
                  </c:pt>
                  <c:pt idx="1">
                    <c:v>Attack</c:v>
                  </c:pt>
                  <c:pt idx="2">
                    <c:v>Cooldown</c:v>
                  </c:pt>
                </c:lvl>
              </c:multiLvlStrCache>
            </c:multiLvlStrRef>
          </c:cat>
          <c:val>
            <c:numRef>
              <c:f>Sheet1!$C$2:$C$4</c:f>
              <c:numCache>
                <c:formatCode>General</c:formatCode>
                <c:ptCount val="3"/>
                <c:pt idx="0">
                  <c:v>1</c:v>
                </c:pt>
                <c:pt idx="1">
                  <c:v>0</c:v>
                </c:pt>
                <c:pt idx="2">
                  <c:v>0.999</c:v>
                </c:pt>
              </c:numCache>
            </c:numRef>
          </c:val>
        </c:ser>
        <c:dLbls>
          <c:numFmt formatCode="0.00" sourceLinked="0"/>
          <c:txPr>
            <a:bodyPr/>
            <a:lstStyle/>
            <a:p>
              <a:pPr>
                <a:defRPr b="0" i="0" strike="noStrike" sz="1200" u="none">
                  <a:solidFill>
                    <a:srgbClr val="1B2329"/>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329"/>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6350" cap="flat">
              <a:solidFill>
                <a:srgbClr val="D5DEE2"/>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C8A"/>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E3C"/>
                </a:solidFill>
                <a:latin typeface="+mn-lt"/>
              </a:defRPr>
            </a:pPr>
            <a:r>
              <a:rPr sz="1400" b="0" i="0" u="none" strike="noStrike">
                <a:solidFill>
                  <a:srgbClr val="0B2E3C"/>
                </a:solidFill>
                <a:latin typeface="+mn-lt"/>
              </a:rPr>
              <a:t>Single-threshold accuracy per run, mean (35 blackhole runs, Oct. 19 tables)</a:t>
            </a:r>
          </a:p>
        </c:rich>
      </c:tx>
      <c:layout/>
      <c:overlay val="0"/>
    </c:title>
    <c:autoTitleDeleted val="0"/>
    <c:plotArea>
      <c:layout/>
      <c:barChart>
        <c:barDir val="bar"/>
        <c:grouping val="clustered"/>
        <c:varyColors val="0"/>
        <c:ser>
          <c:idx val="0"/>
          <c:order val="0"/>
          <c:tx>
            <c:strRef>
              <c:f>Sheet1!$B$1</c:f>
              <c:strCache>
                <c:ptCount val="1"/>
                <c:pt idx="0">
                  <c:v>Mean accuracy</c:v>
                </c:pt>
              </c:strCache>
            </c:strRef>
          </c:tx>
          <c:spPr>
            <a:solidFill>
              <a:srgbClr val="0E7C86"/>
            </a:solidFill>
            <a:effectLst/>
          </c:spPr>
          <c:invertIfNegative val="0"/>
          <c:dLbls>
            <c:numFmt formatCode="0.00" sourceLinked="0"/>
            <c:txPr>
              <a:bodyPr/>
              <a:lstStyle/>
              <a:p>
                <a:pPr>
                  <a:defRPr b="0" i="0" strike="noStrike" sz="1200" u="none">
                    <a:solidFill>
                      <a:srgbClr val="1B2329"/>
                    </a:solidFill>
                    <a:latin typeface="+mn-lt"/>
                  </a:defRPr>
                </a:pPr>
              </a:p>
            </c:txPr>
            <c:showLegendKey val="0"/>
            <c:showVal val="1"/>
            <c:showCatName val="0"/>
            <c:showSerName val="0"/>
            <c:showPercent val="0"/>
            <c:showBubbleSize val="0"/>
            <c:showLeaderLines val="0"/>
          </c:dLbls>
          <c:cat>
            <c:strRef>
              <c:f>Sheet1!$A$2:$A$8</c:f>
              <c:strCache>
                <c:ptCount val="7"/>
                <c:pt idx="0">
                  <c:v>PDR</c:v>
                </c:pt>
                <c:pt idx="1">
                  <c:v>LatencyHopRatio</c:v>
                </c:pt>
                <c:pt idx="2">
                  <c:v>ConsistencyScore</c:v>
                </c:pt>
                <c:pt idx="3">
                  <c:v>ForwardingRatio</c:v>
                </c:pt>
                <c:pt idx="4">
                  <c:v>IngressEgressDelta</c:v>
                </c:pt>
                <c:pt idx="5">
                  <c:v>RSSI_mean</c:v>
                </c:pt>
                <c:pt idx="6">
                  <c:v>HopChangeCount</c:v>
                </c:pt>
              </c:strCache>
            </c:strRef>
          </c:cat>
          <c:val>
            <c:numRef>
              <c:f>Sheet1!$B$2:$B$8</c:f>
              <c:numCache>
                <c:formatCode>General</c:formatCode>
                <c:ptCount val="7"/>
                <c:pt idx="0">
                  <c:v>0.872</c:v>
                </c:pt>
                <c:pt idx="1">
                  <c:v>0.86</c:v>
                </c:pt>
                <c:pt idx="2">
                  <c:v>0.848</c:v>
                </c:pt>
                <c:pt idx="3">
                  <c:v>0.848</c:v>
                </c:pt>
                <c:pt idx="4">
                  <c:v>0.737</c:v>
                </c:pt>
                <c:pt idx="5">
                  <c:v>0.702</c:v>
                </c:pt>
                <c:pt idx="6">
                  <c:v>0.7</c:v>
                </c:pt>
              </c:numCache>
            </c:numRef>
          </c:val>
        </c:ser>
        <c:dLbls>
          <c:numFmt formatCode="0.00" sourceLinked="0"/>
          <c:txPr>
            <a:bodyPr/>
            <a:lstStyle/>
            <a:p>
              <a:pPr>
                <a:defRPr b="0" i="0" strike="noStrike" sz="1200" u="none">
                  <a:solidFill>
                    <a:srgbClr val="1B2329"/>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329"/>
                </a:solidFill>
                <a:latin typeface="+mn-lt"/>
              </a:defRPr>
            </a:pPr>
            <a:endParaRPr lang="en-US"/>
          </a:p>
        </c:txPr>
        <c:crossAx val="2094734552"/>
        <c:crosses val="autoZero"/>
        <c:auto val="1"/>
        <c:lblAlgn val="ctr"/>
        <c:noMultiLvlLbl val="1"/>
      </c:catAx>
      <c:valAx>
        <c:axId val="2094734552"/>
        <c:scaling>
          <c:orientation val="minMax"/>
          <c:max val="1"/>
          <c:min val="0.6"/>
        </c:scaling>
        <c:delete val="0"/>
        <c:axPos val="b"/>
        <c:majorGridlines>
          <c:spPr>
            <a:ln w="6350" cap="flat">
              <a:solidFill>
                <a:srgbClr val="D5DEE2"/>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C8A"/>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1  ·  about 1:05  ·  slide 1 of 33</a:t>
            </a:r>
          </a:p>
          <a:p/>
          <a:p>
            <a:r>
              <a:t>Good [morning / afternoon], panel. We are NIS16. I'm [Presenter 1], and with me are [Presenter 2], [Presenter 3] and [Presenter 4]. Our adviser is Mr. Gregory Cu.</a:t>
            </a:r>
          </a:p>
          <a:p/>
          <a:p>
            <a:r>
              <a:t>Our thesis is "Cross-Layer Dataset Design and Exploratory Analysis of an ESP32-Based ESP-WIFI-MESH Network." In short: we built a real mesh network out of ESP32 boards, attacked it in two controlled ways, and recorded what happens at the physical, MAC and network layers, so the result can be used as a labelled dataset.</a:t>
            </a:r>
          </a:p>
          <a:p/>
          <a:p>
            <a:r>
              <a:t>Since the panel last saw Chapters 1 to 3 several months ago, we'll go through them quickly as a refresher, in about four slides. Most of our time goes to Chapter 4, which is how the dataset is built and checked, and then the results we have so far. I'll cover the recap, [Presenter 2] the research design, [Presenter 3] data processing and validation, and [Presenter 4] the results.</a:t>
            </a:r>
          </a:p>
          <a:p/>
          <a:p>
            <a:r>
              <a:t>Original note: Open with the title and team. Say up front: chapters 1 to 3 are a short refresher, because the panel last saw them months ago; most of the time goes to chapter 4 (how the dataset is built and validated) and the results so far.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1  ·  about 1:10  ·  slide 2 of 33</a:t>
            </a:r>
          </a:p>
          <a:p/>
          <a:p>
            <a:r>
              <a:t>Here's where the project has been over nine months, in four steps.</a:t>
            </a:r>
          </a:p>
          <a:p/>
          <a:p>
            <a:r>
              <a:t>In Thesis 1 we proposed the gap, the objectives, the planned testbed and the features. In Thesis 2 the design paper was approved on March 15, 2026, and the panel gave comments that we carried into this term. Then we built everything: the firmware for both attacks, microSD logging on every board, a radio fixed at 20 megahertz so a sniffer can read the frames, and the verifier and analysis pipeline. Thesis 3 is the data campaign, which started September 30 at three DLSU sites, and this final paper.</a:t>
            </a:r>
          </a:p>
          <a:p/>
          <a:p>
            <a:r>
              <a:t>The box at the bottom is what changed since you last saw the work. Each run now uses eight boards, a root plus seven children. We collect at three campus sites under three traffic scenarios. Every board mirrors its log to a microSD card. An independent sniffer records the radio traffic. And a 3-sigma verifier checks every run before it is allowed into the dataset.</a:t>
            </a:r>
          </a:p>
          <a:p/>
          <a:p>
            <a:r>
              <a:t>Original note: Timeline of the 9 months. Thesis 2 approved the design; Thesis 3 is the build and the data campaign. Highlight what changed since the panel last saw the 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1  ·  about 0:10  ·  slide 3 of 33</a:t>
            </a:r>
          </a:p>
          <a:p/>
          <a:p>
            <a:r>
              <a:t>Let's start with the recap of Chapters 1 to 3: the problem, our objectives, the literature, and the theory the dataset rests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1  ·  about 0:55  ·  slide 4 of 33</a:t>
            </a:r>
          </a:p>
          <a:p/>
          <a:p>
            <a:r>
              <a:t>ESP32 boards are cheap, and they're already used for IoT monitoring over ESP-WIFI-MESH. But research on attacking these networks is mostly done in simulation. We see three problems.</a:t>
            </a:r>
          </a:p>
          <a:p/>
          <a:p>
            <a:r>
              <a:t>First, simulated data. The well-known intrusion detection datasets, KDD, NSL-KDD and UNR-IDD, come from simulators or regular IP networks, not from mesh hardware.</a:t>
            </a:r>
          </a:p>
          <a:p/>
          <a:p>
            <a:r>
              <a:t>Second, missing layers. Packet or flow datasets don't keep the physical, MAC and network-layer signals of a microcontroller mesh together in one place.</a:t>
            </a:r>
          </a:p>
          <a:p/>
          <a:p>
            <a:r>
              <a:t>Third, real attacks. Blackhole and wormhole attacks are well studied in theory, but how they actually look on real ESP32 boards isn't documented.</a:t>
            </a:r>
          </a:p>
          <a:p/>
          <a:p>
            <a:r>
              <a:t>So the gap our study fills is at the bottom: a hardware-derived, labelled, cross-layer dataset from a real ESP-WIFI-MESH network, under normal operation and under two controlled attacks.</a:t>
            </a:r>
          </a:p>
          <a:p/>
          <a:p>
            <a:r>
              <a:t>Original note: Chapter 1 in one slide: simulation-based datasets do not show how routing attacks look on ESP32 hardware across layers. That is the gap.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1  ·  about 1:00  ·  slide 5 of 33</a:t>
            </a:r>
          </a:p>
          <a:p/>
          <a:p>
            <a:r>
              <a:t>Our general objective is to design, generate and analyse a cross-layer dataset from an ESP32 mesh, to explore how normal operation differs from controlled attacks.</a:t>
            </a:r>
          </a:p>
          <a:p/>
          <a:p>
            <a:r>
              <a:t>It breaks into three specific objectives. One, build an ESP32 mesh testbed with normal and attack traffic. Two, collect PHY, MAC and network features into a labelled dataset. Three, check that dataset with exploratory data analysis and unsupervised clustering. These are unchanged from the approved paper.</a:t>
            </a:r>
          </a:p>
          <a:p/>
          <a:p>
            <a:r>
              <a:t>On scope: we cover two attacks, blackhole, which is forwarding suppression, and wormhole, which is an out-of-band tunnel, both emulated at the application layer. Each run uses eight boards, one root and seven children, at three indoor DLSU sites on an isolated mesh.</a:t>
            </a:r>
          </a:p>
          <a:p/>
          <a:p>
            <a:r>
              <a:t>And one point we want to be clear on: our output is a dataset and its exploratory analysis. We are not building or deploying an intrusion detection system.</a:t>
            </a:r>
          </a:p>
          <a:p/>
          <a:p>
            <a:r>
              <a:t>IF ASKED / PREP:</a:t>
            </a:r>
          </a:p>
          <a:p>
            <a:r>
              <a:t>- Why no IDS? The objectives in the approved paper are dataset + EDA + clustering. An IDS would need the full labelled dataset first; that is future work the dataset enables.</a:t>
            </a:r>
          </a:p>
          <a:p/>
          <a:p>
            <a:r>
              <a:t>Original note: Objectives unchanged from the approved paper. Stress the scope line: we build and analyse a dataset; we do not deploy an IDS.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1  ·  about 0:45  ·  slide 6 of 33</a:t>
            </a:r>
          </a:p>
          <a:p/>
          <a:p>
            <a:r>
              <a:t>Chapter 2 gave us four takeaways.</a:t>
            </a:r>
          </a:p>
          <a:p/>
          <a:p>
            <a:r>
              <a:t>On attacks: blackhole and wormhole detection is mature in simulation. Bhatti, for example, reports 98 to 99 percent in ns-2. Results on real systems are weaker.</a:t>
            </a:r>
          </a:p>
          <a:p/>
          <a:p>
            <a:r>
              <a:t>On datasets: the existing ones lack ESP-WIFI-MESH behaviour, cross-layer metrics, real-hardware attacks and multiple topologies. This is the gap we answer directly.</a:t>
            </a:r>
          </a:p>
          <a:p/>
          <a:p>
            <a:r>
              <a:t>On the platform: ESP32 mesh is proven in the field. Khan and colleagues report delivery above 97 percent on a campus deployment, which is also a benchmark we compare against later.</a:t>
            </a:r>
          </a:p>
          <a:p/>
          <a:p>
            <a:r>
              <a:t>And on method: labelled attack data is scarce in IoT, which is why we use EDA and unsupervised clustering instead of a supervised classifier.</a:t>
            </a:r>
          </a:p>
          <a:p/>
          <a:p>
            <a:r>
              <a:t>Original note: Four takeaways from the review of related literature. The dataset gap (bottom-left) is the one the study answers directly.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1  ·  about 1:15  ·  slide 7 of 33</a:t>
            </a:r>
          </a:p>
          <a:p/>
          <a:p>
            <a:r>
              <a:t>Chapter 3 is the idea the whole dataset rests on. Normal mesh traffic keeps a set of relationships between layers. An attack breaks some of them, and our features are designed to measure that break. There are four.</a:t>
            </a:r>
          </a:p>
          <a:p/>
          <a:p>
            <a:r>
              <a:t>First, received roughly equals forwarded: every relay passes on what it gets. A blackhole breaks this, because it receives far more than it forwards.</a:t>
            </a:r>
          </a:p>
          <a:p/>
          <a:p>
            <a:r>
              <a:t>Second, one copy per probe: each probe reaches the root once, by one path. A wormhole breaks this, because a second copy arrives through the tunnel.</a:t>
            </a:r>
          </a:p>
          <a:p/>
          <a:p>
            <a:r>
              <a:t>Third, delay follows hops: deeper nodes take longer to reach the root. A wormhole's shortcut breaks that pattern.</a:t>
            </a:r>
          </a:p>
          <a:p/>
          <a:p>
            <a:r>
              <a:t>Fourth, a parent's layer is always lower than its child's, so the tree stays consistent. We watch this one, but we don't expect our attacks to change it, and later we'll show they didn't.</a:t>
            </a:r>
          </a:p>
          <a:p/>
          <a:p>
            <a:r>
              <a:t>That's why our features are ratios and mismatches rather than raw values: they target the relationship, not a number that changes from site to site.</a:t>
            </a:r>
          </a:p>
          <a:p/>
          <a:p>
            <a:r>
              <a:t>That ends the recap. I'll hand over to [Presenter 2] for Chapter 4.</a:t>
            </a:r>
          </a:p>
          <a:p/>
          <a:p>
            <a:r>
              <a:t>Original note: Chapter 3 framework: normal behaviour is a set of consistent relationships; an attack breaks specific ones. That is why the features are ratios and mismatches, not raw values.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2  ·  about 0:10  ·  slide 8 of 33</a:t>
            </a:r>
          </a:p>
          <a:p/>
          <a:p>
            <a:r>
              <a:t>Thank you. Chapter 4 is our research design: how the testbed runs, how both attacks are built, and how the data is collected, turned into features and checked.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2  ·  about 1:10  ·  slide 9 of 33</a:t>
            </a:r>
          </a:p>
          <a:p/>
          <a:p>
            <a:r>
              <a:t>This is the architecture, from boards to dataset, left to right.</a:t>
            </a:r>
          </a:p>
          <a:p/>
          <a:p>
            <a:r>
              <a:t>One: each board logs ten times a second to its internal flash and to a microSD card. Two: after the run, we import the logs by card reader or USB. Three: preprocessing cuts the data into one-second windows and keeps the labels. Four: we compute the features: forwarding, delivery, topology, RSSI and tunnel. Five: EDA and clustering run on that windowed table.</a:t>
            </a:r>
          </a:p>
          <a:p/>
          <a:p>
            <a:r>
              <a:t>One design choice matters here. Data collection is a file import after the run; nothing is collected live over the mesh. If we collected over the mesh, a blackhole would be dropping its own evidence.</a:t>
            </a:r>
          </a:p>
          <a:p/>
          <a:p>
            <a:r>
              <a:t>And the attack evidence never rests only on the attacker counting its own drops. The root keeps its own log of every probe that arrives, and the attacker's neighbours keep their own counters, so each drop is confirmed from outside the attacker. A laptop sniffer outside the mesh also records the 802.11 frames.</a:t>
            </a:r>
          </a:p>
          <a:p/>
          <a:p>
            <a:r>
              <a:t>IF ASKED / PREP:</a:t>
            </a:r>
          </a:p>
          <a:p>
            <a:r>
              <a:t>- If asked about the sniffer: it is a supporting source. Its MAC retry column is currently missing from most analysis tables and is being restored (slide 30), so don't present it as the main proof.</a:t>
            </a:r>
          </a:p>
          <a:p/>
          <a:p>
            <a:r>
              <a:t>Original note: Walk the pipeline left to right. The data collector is a file import after the run, not live collection over the mesh — so an attack cannot destroy its own evidence.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2  ·  about 1:35  ·  slide 10 of 33</a:t>
            </a:r>
          </a:p>
          <a:p/>
          <a:p>
            <a:r>
              <a:t>Every run follows the same timeline.</a:t>
            </a:r>
          </a:p>
          <a:p/>
          <a:p>
            <a:r>
              <a:t>Formation lasts at least 60 seconds while the mesh builds itself. It's labelled 255 and excluded from the dataset. Then 300 seconds of baseline, label 0. Then 180 seconds of attack, label 1 for blackhole or 2 for wormhole. Then 120 seconds of cooldown, label 0 again, and the run terminates.</a:t>
            </a:r>
          </a:p>
          <a:p/>
          <a:p>
            <a:r>
              <a:t>The root controls the timeline. It sends each phase change to every node in five rounds, 100 milliseconds apart, under one sequence number. It also repeats the current phase every 10 seconds, so a node that drops and rejoins catches up.</a:t>
            </a:r>
          </a:p>
          <a:p/>
          <a:p>
            <a:r>
              <a:t>Before the attack can start, the run has to pass gates. Every child must be present. In a tree, the attacker must actually have a child to cut off. For a wormhole, both ends must report that the wire works, and end A must be shallower than end B. Then the operator types START. These gates were added on October 17, so they apply to runs from that date on. Earlier runs started on the fixed schedule, and the verifier's setup check, which you'll see shortly, confirms their layout after the fact.</a:t>
            </a:r>
          </a:p>
          <a:p/>
          <a:p>
            <a:r>
              <a:t>Most importantly, labels come from this schedule. Each row carries the phase it was logged in. A label never comes from a threshold on a feature, so the ground truth is independent of the data we analyse.</a:t>
            </a:r>
          </a:p>
          <a:p/>
          <a:p>
            <a:r>
              <a:t>IF ASKED / PREP:</a:t>
            </a:r>
          </a:p>
          <a:p>
            <a:r>
              <a:t>- Why label 255 for formation? It marks rows that are not part of the experiment, so they can be excluded by value instead of by time.</a:t>
            </a:r>
          </a:p>
          <a:p/>
          <a:p>
            <a:r>
              <a:t>Original note: Ground truth comes from the schedule, not from the data. Formation rows are excluded. Since Oct. 17 the root holds the baseline until the gates pass and someone types START.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2  ·  about 1:05  ·  slide 11 of 33</a:t>
            </a:r>
          </a:p>
          <a:p/>
          <a:p>
            <a:r>
              <a:t>The blackhole. Every node in our mesh is a relay: it passes its children's probes one hop up, and it counts what it received, forwarded and dropped.</a:t>
            </a:r>
          </a:p>
          <a:p/>
          <a:p>
            <a:r>
              <a:t>The attacker runs exactly the same relay code. In the attack phase it simply stops calling esp_mesh_send, so the probes go nowhere. It still acknowledges every frame at the link layer, so its victims never see a send failure. From their side, everything looks normal.</a:t>
            </a:r>
          </a:p>
          <a:p/>
          <a:p>
            <a:r>
              <a:t>Because received equals forwarded plus dropped on every node, the forwarding features exist on all relays, not just on the attacker.</a:t>
            </a:r>
          </a:p>
          <a:p/>
          <a:p>
            <a:r>
              <a:t>What we don't reproduce is the luring part, which is advertising a false route to attract traffic. ESP-WIFI-MESH lets an application read its routing table but not write it, so there's no way to fake a route. Instead, the attacker is a placed relay. We put it on the path, and its position is an experimental variable that we record.</a:t>
            </a:r>
          </a:p>
          <a:p/>
          <a:p>
            <a:r>
              <a:t>IF ASKED / PREP:</a:t>
            </a:r>
          </a:p>
          <a:p>
            <a:r>
              <a:t>- "Why not route attraction?" There is no ESP-WIFI-MESH API to write the routing table; the stack is closed. So attacker position becomes an experimental variable instead (design decision D-20).</a:t>
            </a:r>
          </a:p>
          <a:p/>
          <a:p>
            <a:r>
              <a:t>Original note: Blackhole is an application-layer emulation. Be ready for the question "why not route attraction?": there is no API to write the routing table, so the attacker position is an experimental variable instead.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2  ·  about 1:25  ·  slide 12 of 33</a:t>
            </a:r>
          </a:p>
          <a:p/>
          <a:p>
            <a:r>
              <a:t>The wormhole needs two colluding nodes joined by an out-of-band channel. Ours is a physical UART wire at 115,200 baud, carrying 30-byte frames, each protected by a CRC32 check.</a:t>
            </a:r>
          </a:p>
          <a:p/>
          <a:p>
            <a:r>
              <a:t>Node B, the deeper end, sends each of its probes normally over the mesh, and during the attack it also writes the probe to the wire. Node A, the shallower end, reads it and re-injects it toward the root, tagged so the root keeps it instead of discarding it as a duplicate. So the root receives every one of B's probes twice, by two paths, with different delays. The two ends are chosen at run time by mesh depth and locked in at phase 0.</a:t>
            </a:r>
          </a:p>
          <a:p/>
          <a:p>
            <a:r>
              <a:t>What this shows is the packet-level signature of a wormhole: duplicate arrivals and a delay mismatch. What it doesn't show: the mesh never routes over the wire, so no false neighbour appears and the tree doesn't change.</a:t>
            </a:r>
          </a:p>
          <a:p/>
          <a:p>
            <a:r>
              <a:t>The wire plays the same role as the GSM tunnel in Zhukabayeva and colleagues. One more note: only Node B's own probes are tunnelled, so a wormhole run has no victims in the blackhole sense. Every other node is simply "not tunnelled."</a:t>
            </a:r>
          </a:p>
          <a:p/>
          <a:p>
            <a:r>
              <a:t>IF ASKED / PREP:</a:t>
            </a:r>
          </a:p>
          <a:p>
            <a:r>
              <a:t>- Be honest that the false-neighbour effect is not reproduced (D-20). The contribution is the duplicate + delay signature on real hardware.</a:t>
            </a:r>
          </a:p>
          <a:p/>
          <a:p>
            <a:r>
              <a:t>Original note: A wire plays the role of the GSM/GPRS tunnel in Zhukabayeva et al. Only Node B's own probes are tunnelled, so a wormhole run has no victims; every other node is "not tunnelled". Be honest that the false-neighbour effect is not reproduced.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2  ·  about 1:15  ·  slide 13 of 33</a:t>
            </a:r>
          </a:p>
          <a:p/>
          <a:p>
            <a:r>
              <a:t>We checked both attacks against published definitions.</a:t>
            </a:r>
          </a:p>
          <a:p/>
          <a:p>
            <a:r>
              <a:t>For the blackhole, against Airehrour and colleagues: the attacker is on the forwarding path, it receives and then drops, it stays protocol-compliant, and delivery collapses while the node stays reachable. All four are met. The one we don't meet is attracting traffic with a false route, for the reason on the previous slide.</a:t>
            </a:r>
          </a:p>
          <a:p/>
          <a:p>
            <a:r>
              <a:t>For the wormhole, against Hu, Perrig and Johnson: two colluding endpoints, an out-of-band channel, packets captured at one end and replayed at the other, and no keys or hosts compromised. All met. The one we don't meet is creating a false neighbour.</a:t>
            </a:r>
          </a:p>
          <a:p/>
          <a:p>
            <a:r>
              <a:t>We list the failed criteria on purpose, because they follow directly from emulating at the application layer.</a:t>
            </a:r>
          </a:p>
          <a:p/>
          <a:p>
            <a:r>
              <a:t>The evidence is at the bottom. In the G402 linear stationary run, the attacker forwarded 1 of 1,077 probes, and all six victims fell from a PDR of 1.000 to 0.000. In all nine linear wormhole runs, the root logged Node B's probes twice in 179 to 180 attack windows each, and never in baseline or cooldown.</a:t>
            </a:r>
          </a:p>
          <a:p/>
          <a:p>
            <a:r>
              <a:t>IF ASKED / PREP:</a:t>
            </a:r>
          </a:p>
          <a:p>
            <a:r>
              <a:t>- These are Tables 4.4 and 4.5 in the paper.</a:t>
            </a:r>
          </a:p>
          <a:p/>
          <a:p>
            <a:r>
              <a:t>Original note: Tables 4.4 and 4.5. We list the criteria that fail as well — the route-attraction and false-neighbour parts — because they follow from the application-layer emulation.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2  ·  about 0:50  ·  slide 14 of 33</a:t>
            </a:r>
          </a:p>
          <a:p/>
          <a:p>
            <a:r>
              <a:t>We run each attack on four topologies. These are the blackhole layouts: star, tree, linear chain and partial mesh.</a:t>
            </a:r>
          </a:p>
          <a:p/>
          <a:p>
            <a:r>
              <a:t>The layouts come from where we place the boards plus the ESP-IDF topology option. The mesh still builds its own tree; we don't hard-code it. In the star, the attacker is the hub and the root sits one hop behind it, so every other node depends on the attacker. The attacker's depth and the number of victims vary by run, so the drawings show one example layout.</a:t>
            </a:r>
          </a:p>
          <a:p/>
          <a:p>
            <a:r>
              <a:t>One finding to flag early: the partial mesh behaved as a plain tree in all nine runs. No node was seen under a second parent during the attack.</a:t>
            </a:r>
          </a:p>
          <a:p/>
          <a:p>
            <a:r>
              <a:t>IF ASKED / PREP:</a:t>
            </a:r>
          </a:p>
          <a:p>
            <a:r>
              <a:t>- Figures 4.17, 4.19, 4.21 and 4.23 in the paper.</a:t>
            </a:r>
          </a:p>
          <a:p>
            <a:r>
              <a:t>- "Did you tune ESP-MESH's parent switching?" Only for tree runs from Oct. 19 evening on (D-26: wait 3x longer on a weak parent before re-parenting). Of the processed tree runs, only G402 burst used it; the other seven ran stock ESP-MESH. D-26's effect is unproven (one run, and the earlier tree runs already had almost no parent switches during the attack). Say exactly that, and don't claim D-26 made the trees stable.</a:t>
            </a:r>
          </a:p>
          <a:p/>
          <a:p>
            <a:r>
              <a:t>Original note: Figures 4.17, 4.19, 4.21, 4.23. Mention that the partial mesh behaved as a plain tree in all nine runs — no node was seen under a second parent during the attack.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2  ·  about 0:50  ·  slide 15 of 33</a:t>
            </a:r>
          </a:p>
          <a:p/>
          <a:p>
            <a:r>
              <a:t>Here are the same four topologies for the wormhole.</a:t>
            </a:r>
          </a:p>
          <a:p/>
          <a:p>
            <a:r>
              <a:t>The tunnel only means something if it skips hops, so Node A must sit shallower than Node B. That's a problem in a flat star, because both ends are at hop 1 and nothing is skipped. Our proposal is to make end A the hub, with the root behind it, and we're asking our adviser to confirm that design.</a:t>
            </a:r>
          </a:p>
          <a:p/>
          <a:p>
            <a:r>
              <a:t>We tried the first hub-star runs on October 20. They failed because the hub board browned out, which is a power problem, not a design problem. So far, all nine processed wormhole runs are on the linear chain.</a:t>
            </a:r>
          </a:p>
          <a:p/>
          <a:p>
            <a:r>
              <a:t>[Presenter 3] will take it from here with the sites and how the data is processed.</a:t>
            </a:r>
          </a:p>
          <a:p/>
          <a:p>
            <a:r>
              <a:t>IF ASKED / PREP:</a:t>
            </a:r>
          </a:p>
          <a:p>
            <a:r>
              <a:t>- Hub-star is design decision D-28, still open with the adviser. Figures 4.16, 4.18, 4.20, 4.22.</a:t>
            </a:r>
          </a:p>
          <a:p/>
          <a:p>
            <a:r>
              <a:t>Original note: Figures 4.16, 4.18, 4.20, 4.22. The star wormhole is the open design question: D-28 hub-star. First hub-star attempts on Oct. 20 failed because the hub board browned out — hardware, not design.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3  ·  about 1:15  ·  slide 16 of 33</a:t>
            </a:r>
          </a:p>
          <a:p/>
          <a:p>
            <a:r>
              <a:t>Thank you. We collect at three sites, chosen for their different Wi-Fi interference. G402 in GCCS is our controlled classroom. The DLSU Library is a small area of a busy library with heavy Wi-Fi. And the Yuchengco Building is an area within that building.</a:t>
            </a:r>
          </a:p>
          <a:p/>
          <a:p>
            <a:r>
              <a:t>We also run three traffic scenarios. Stationary sends a probe every second and is our reference. In burst, one child sends 300 probes back to back, about 100 a second, 60 seconds into the attack window. Highload has every child probe every 250 milliseconds. The scenarios exist so that traffic volume alone can't give away an attack. A model shouldn't be able to learn "more packets means attack."</a:t>
            </a:r>
          </a:p>
          <a:p/>
          <a:p>
            <a:r>
              <a:t>The full design is 4 topologies, times 2 attacks, times 3 sites, times 3 scenarios, which is 72 attack runs. Add 9 matched benign runs, one per scenario at every site, for 81 in total.</a:t>
            </a:r>
          </a:p>
          <a:p/>
          <a:p>
            <a:r>
              <a:t>Each cell is run once, so the three sites act as our repeats. That's a limitation we state: we can't separate site effects from run-to-run noise.</a:t>
            </a:r>
          </a:p>
          <a:p/>
          <a:p>
            <a:r>
              <a:t>IF ASKED / PREP:</a:t>
            </a:r>
          </a:p>
          <a:p>
            <a:r>
              <a:t>- Why not repeat each cell? Time: each run needs 8 boards set up, flashed, captured and imported. The sites serve as the repeats, and the limitation is stated in the paper.</a:t>
            </a:r>
          </a:p>
          <a:p>
            <a:r>
              <a:t>- "How heavy is the Library's Wi-Fi?" Answer only with what the team actually measured. If nothing was measured, say plainly that the site labels are qualitative descriptions.</a:t>
            </a:r>
          </a:p>
          <a:p/>
          <a:p>
            <a:r>
              <a:t>Original note: The design matrix. Scenarios exist so traffic volume alone cannot reveal an attack. Single run per cell is a limitation we state: site and run-to-run noise cannot be separated.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3  ·  about 1:10  ·  slide 17 of 33</a:t>
            </a:r>
          </a:p>
          <a:p/>
          <a:p>
            <a:r>
              <a:t>Here's what each board records, by layer.</a:t>
            </a:r>
          </a:p>
          <a:p/>
          <a:p>
            <a:r>
              <a:t>PHY: RSSI to the parent, 10 times a second. The radio is fixed at 20 megahertz, called HT20, so the sniffer can decode the frames.</a:t>
            </a:r>
          </a:p>
          <a:p/>
          <a:p>
            <a:r>
              <a:t>MAC: here we're careful. ESP-IDF doesn't expose a per-link retry counter, so the real MAC retry rate comes from the sniffer, using the Retry bit in each 802.11 frame. The firmware's own retry and transmit counters are application-level. We keep them in the dataset but don't analyse them.</a:t>
            </a:r>
          </a:p>
          <a:p/>
          <a:p>
            <a:r>
              <a:t>Network: each node's layer or hop count and its parent MAC, plus probes sent, received, forwarded and dropped. The root also logs every probe arrival.</a:t>
            </a:r>
          </a:p>
          <a:p/>
          <a:p>
            <a:r>
              <a:t>Tunnel: frames written by B, and frames received and re-injected by A. These exist in wormhole runs only.</a:t>
            </a:r>
          </a:p>
          <a:p/>
          <a:p>
            <a:r>
              <a:t>Storage is flash plus a microSD mirror, synced every five seconds. Nothing is streamed over the mesh during a run, so again, the attack can't destroy its own evidence. And none of the 435 campus capture files is empty.</a:t>
            </a:r>
          </a:p>
          <a:p/>
          <a:p>
            <a:r>
              <a:t>IF ASKED / PREP:</a:t>
            </a:r>
          </a:p>
          <a:p>
            <a:r>
              <a:t>- Tables 4.8 to 4.12. App counters are kept but not analysed: design decision D-15.</a:t>
            </a:r>
          </a:p>
          <a:p>
            <a:r>
              <a:t>- If asked whether every SD copy is complete: before the Oct. 20 firmware, a transient card error could lose a board's card copy without warning. That's why the board's flash log is kept as well, and the newer firmware counts any missed rows.</a:t>
            </a:r>
          </a:p>
          <a:p/>
          <a:p>
            <a:r>
              <a:t>Original note: Tables 4.8 to 4.12. Be precise about MAC: ESP-IDF exposes no per-link retry counter, so real MAC retries come only from the sniffer.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3  ·  about 1:00  ·  slide 18 of 33</a:t>
            </a:r>
          </a:p>
          <a:p/>
          <a:p>
            <a:r>
              <a:t>Next, how raw rows become one-second windows, in five steps.</a:t>
            </a:r>
          </a:p>
          <a:p/>
          <a:p>
            <a:r>
              <a:t>Align: the boards share no clock, and their clocks differ by minutes, so each node is aligned to its own exit from phase 0.</a:t>
            </a:r>
          </a:p>
          <a:p/>
          <a:p>
            <a:r>
              <a:t>Window: non-overlapping one-second windows on a 10-hertz grid. If a window has fewer than 8 of its 10 samples, we discard it.</a:t>
            </a:r>
          </a:p>
          <a:p/>
          <a:p>
            <a:r>
              <a:t>Fill: small gaps of one or two samples inside a kept window are filled in.</a:t>
            </a:r>
          </a:p>
          <a:p/>
          <a:p>
            <a:r>
              <a:t>Count: cumulative counters are turned into per-window differences.</a:t>
            </a:r>
          </a:p>
          <a:p/>
          <a:p>
            <a:r>
              <a:t>Join: PDR is computed by joining the root's arrivals to each node on the probe sequence number. Never on time, because of that clock drift.</a:t>
            </a:r>
          </a:p>
          <a:p/>
          <a:p>
            <a:r>
              <a:t>The result is that one row equals one node for one second. We keep node-level rows on purpose, because they show the local effect: the attacker's forwarding falls while the nodes behind it lose delivery. A network-wide average would hide both.</a:t>
            </a:r>
          </a:p>
          <a:p/>
          <a:p>
            <a:r>
              <a:t>IF ASKED / PREP:</a:t>
            </a:r>
          </a:p>
          <a:p>
            <a:r>
              <a:t>- Section 4.2.4.1. Gap filling is design decision D-9.</a:t>
            </a:r>
          </a:p>
          <a:p/>
          <a:p>
            <a:r>
              <a:t>Original note: Section 4.2.4.1. The sequence-number join matters: clocks drift by minutes between boards.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3  ·  about 0:50  ·  slide 19 of 33</a:t>
            </a:r>
          </a:p>
          <a:p/>
          <a:p>
            <a:r>
              <a:t>From those windows we compute features, grouped by what they measure. Each group maps back to a Chapter 3 relationship.</a:t>
            </a:r>
          </a:p>
          <a:p/>
          <a:p>
            <a:r>
              <a:t>Forwarding: ForwardingRatio, IngressEgressDelta and ConsistencyScore. These test "received roughly equals forwarded."</a:t>
            </a:r>
          </a:p>
          <a:p/>
          <a:p>
            <a:r>
              <a:t>Delivery: PDR per child per window. It's left blank when nothing was sent, rather than recorded as zero.</a:t>
            </a:r>
          </a:p>
          <a:p/>
          <a:p>
            <a:r>
              <a:t>Topology: ParentSwitchRate, HopChangeCount and HopStabilityDuration. These test whether the tree stays consistent.</a:t>
            </a:r>
          </a:p>
          <a:p/>
          <a:p>
            <a:r>
              <a:t>Physical: RSSI mean, variance and stability.</a:t>
            </a:r>
          </a:p>
          <a:p/>
          <a:p>
            <a:r>
              <a:t>Cross-layer: RSSI_Hop_Diff and LatencyHopRatio. These test "delay follows hops," and whether signal strength agrees with depth.</a:t>
            </a:r>
          </a:p>
          <a:p/>
          <a:p>
            <a:r>
              <a:t>Tunnel: TunnelIntensity, TunnelBytes, TunnelLatency and DuplicateRate. These test "one copy per probe."</a:t>
            </a:r>
          </a:p>
          <a:p/>
          <a:p>
            <a:r>
              <a:t>The app-level retry rate stays as a dataset column only. The MAC retry rate comes from the sniffer.</a:t>
            </a:r>
          </a:p>
          <a:p/>
          <a:p>
            <a:r>
              <a:t>IF ASKED / PREP:</a:t>
            </a:r>
          </a:p>
          <a:p>
            <a:r>
              <a:t>- Table 4.17 in the paper.</a:t>
            </a:r>
          </a:p>
          <a:p/>
          <a:p>
            <a:r>
              <a:t>Original note: Table 4.17. Each group maps to a Chapter 3 relationship. RetryRate (app counters) is a dataset column only; MacRetryRate comes from the sniffer.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3  ·  about 1:05  ·  slide 20 of 33</a:t>
            </a:r>
          </a:p>
          <a:p/>
          <a:p>
            <a:r>
              <a:t>The analysis has two stages.</a:t>
            </a:r>
          </a:p>
          <a:p/>
          <a:p>
            <a:r>
              <a:t>First, exploratory data analysis. We look at the distributions of ForwardingRatio and RSSI_Hop_Diff by phase and by node role; time series of PDR, ForwardingRatio and root arrivals over each run; Pearson and Spearman correlations for all data, baseline only and attack only; and PCA and t-SNE on z-scored features, clipped at plus or minus five. This stage is descriptive only. We make no detection claims.</a:t>
            </a:r>
          </a:p>
          <a:p/>
          <a:p>
            <a:r>
              <a:t>Second, clustering, which is planned and not yet run. DBSCAN is the primary method, with K-Means, Ward hierarchical, Gaussian mixture and spectral clustering alongside it. We run full and reduced feature sets, with seeds 42, 7 and 123. Quality is measured internally with silhouette and Davies–Bouldin.</a:t>
            </a:r>
          </a:p>
          <a:p/>
          <a:p>
            <a:r>
              <a:t>The labels are used only afterwards, to compute purity and the adjusted Rand index. Labels never guide the clustering. And if the wormhole windows don't separate, we report that as a finding. Clustering runs once collection ends.</a:t>
            </a:r>
          </a:p>
          <a:p/>
          <a:p>
            <a:r>
              <a:t>IF ASKED / PREP:</a:t>
            </a:r>
          </a:p>
          <a:p>
            <a:r>
              <a:t>- Why DBSCAN as primary? It needs no preset number of clusters and marks outliers as noise, which suits unknown attack structure.</a:t>
            </a:r>
          </a:p>
          <a:p>
            <a:r>
              <a:t>- If asked for clustering results or code: there are none yet. The EDA outputs exist for every run; the clustering runs on the pooled table after collection ends (slide 32). Do not imply any clustering has been done.</a:t>
            </a:r>
          </a:p>
          <a:p/>
          <a:p>
            <a:r>
              <a:t>Original note: Labels never guide the clustering; they are used only to interpret clusters afterwards. Clustering runs once collection ends.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3  ·  about 1:20  ·  slide 21 of 33</a:t>
            </a:r>
          </a:p>
          <a:p/>
          <a:p>
            <a:r>
              <a:t>Every run is validated four ways before it enters the dataset.</a:t>
            </a:r>
          </a:p>
          <a:p/>
          <a:p>
            <a:r>
              <a:t>One, a 3-sigma test, following Zhukabayeva and colleagues. The attack phase is grouped into blocks of five one-second windows, and each block must lie beyond three baseline standard deviations from the baseline mean. If a feature's baseline is itself broken, for example a delivery rate far below what a healthy ESP32 mesh achieves, that feature is excluded rather than scored.</a:t>
            </a:r>
          </a:p>
          <a:p/>
          <a:p>
            <a:r>
              <a:t>Two, a setup check: what the topology was during the attack, where the attacker sat, and whether the victims were alive but cut off. For the wormhole, it checks that B was deeper than A and that the wire actually carried the probes.</a:t>
            </a:r>
          </a:p>
          <a:p/>
          <a:p>
            <a:r>
              <a:t>Three, comparison with published studies: Airehrour, Khan, Zhukabayeva and Ramírez Gómez. We compare direction and rough size. That shows consistency, not proof.</a:t>
            </a:r>
          </a:p>
          <a:p/>
          <a:p>
            <a:r>
              <a:t>Four, a leakage audit: can one feature alone separate attack from normal? If it can, we report it rather than hide it.</a:t>
            </a:r>
          </a:p>
          <a:p/>
          <a:p>
            <a:r>
              <a:t>Each run comes out PASS, FAIL or INCONCLUSIVE. A run that fails the setup check is "not confirmed," no matter how clear its statistics look.</a:t>
            </a:r>
          </a:p>
          <a:p/>
          <a:p>
            <a:r>
              <a:t>IF ASKED / PREP:</a:t>
            </a:r>
          </a:p>
          <a:p>
            <a:r>
              <a:t>- Section 4.1.3.</a:t>
            </a:r>
          </a:p>
          <a:p>
            <a:r>
              <a:t>- Why blocks of 5? At about one probe per second, a ratio over one window is a yes/no draw, which inflates the variance. Five windows matches the thesis's Table 4.10 window.</a:t>
            </a:r>
          </a:p>
          <a:p>
            <a:r>
              <a:t>- "With sd = 0, isn't any tiny change a pass?" No. The verifier also requires a minimum absolute change, 0.10 for PDR and ForwardingRatio, so one lost probe can never count as an attack.</a:t>
            </a:r>
          </a:p>
          <a:p/>
          <a:p>
            <a:r>
              <a:t>Original note: Section 4.1.3. A run that fails the setup check is "not confirmed" however clear the statistics look. Outcome per run: PASS, FAIL or INCONCLUSIVE.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3  ·  about 0:15  ·  slide 22 of 33</a:t>
            </a:r>
          </a:p>
          <a:p/>
          <a:p>
            <a:r>
              <a:t>Now the results so far: run status, the verified attacks, our first EDA, and how our numbers compare with published work. Everything here is provisional until all 81 runs are in.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3  ·  about 1:00  ·  slide 23 of 33</a:t>
            </a:r>
          </a:p>
          <a:p/>
          <a:p>
            <a:r>
              <a:t>Here's the campaign as of October 20. The chart shows attack runs per topology, out of 18 planned for each, and what is not yet processed.</a:t>
            </a:r>
          </a:p>
          <a:p/>
          <a:p>
            <a:r>
              <a:t>44 of 72 attack runs are processed: 35 blackhole and 9 wormhole. Blackhole is complete on linear, star and partial mesh, and 8 of 9 on tree. Wormhole is done on the linear chain at all three sites and all three scenarios. Star, tree and partial mesh wormhole still need captures. We have 0 of the 9 benign runs, and those are next.</a:t>
            </a:r>
          </a:p>
          <a:p/>
          <a:p>
            <a:r>
              <a:t>Five captures are held out: one tree blackhole at G402 under highload, because one board has no data; a tree wormhole at the DLSU Library, where four boards had under 95 percent coverage; and three wormhole runs not yet analysed. That leaves 37 runs.</a:t>
            </a:r>
          </a:p>
          <a:p/>
          <a:p>
            <a:r>
              <a:t>[Presenter 4] will now present the verified results.</a:t>
            </a:r>
          </a:p>
          <a:p/>
          <a:p>
            <a:r>
              <a:t>Original note: Blackhole is complete except one held-out tree run. Wormhole is done on the linear chain at all sites and scenarios; star, tree and partial still need captures. Benign runs are next.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4  ·  about 1:15  ·  slide 24 of 33</a:t>
            </a:r>
          </a:p>
          <a:p/>
          <a:p>
            <a:r>
              <a:t>Thank you. We have analysed 46 runs, and 44 of them pass the verifier.</a:t>
            </a:r>
          </a:p>
          <a:p/>
          <a:p>
            <a:r>
              <a:t>35 of 35 blackhole runs pass: the signature, the setup and the data completeness. 9 of 9 wormhole runs pass on the linear chain. And there were zero parent switches or hop changes inside any wormhole attack window.</a:t>
            </a:r>
          </a:p>
          <a:p/>
          <a:p>
            <a:r>
              <a:t>In more detail: for the blackhole, the attacker forwards at most 4 probes in any run, which is at most 0.1 percent, and the victims lose delivery while bystanders keep theirs. For the wormhole, the wire delivered 99 to 101 percent of Node B's frames, and the root logged B's probes twice in 179 to 180 attack windows per run, and never outside the attack.</a:t>
            </a:r>
          </a:p>
          <a:p/>
          <a:p>
            <a:r>
              <a:t>In all nine partial mesh runs, each node stayed under one parent during the attack, so those runs behave as trees. The other two analysed runs were rated INCONCLUSIVE and are held out. We don't count them, and nothing in the processed set relies on them.</a:t>
            </a:r>
          </a:p>
          <a:p/>
          <a:p>
            <a:r>
              <a:t>These numbers come from our verifier, run on all campus runs on October 20.</a:t>
            </a:r>
          </a:p>
          <a:p/>
          <a:p>
            <a:r>
              <a:t>IF ASKED / PREP:</a:t>
            </a:r>
          </a:p>
          <a:p>
            <a:r>
              <a:t>- Which 2 are INCONCLUSIVE: blackhole tree/G402/highload (one board, B768, has no data) and wormhole tree/DLSU_Library/stationary (four boards under 95% coverage). Both are scheduled for recapture.</a:t>
            </a:r>
          </a:p>
          <a:p>
            <a:r>
              <a:t>- "101%?" The frame counts are summed per board over that board's own attack windows, and each board is aligned separately. A difference of about 4 frames out of 720 sits at the phase edges. Say that it has not been traced further, rather than guessing.</a:t>
            </a:r>
          </a:p>
          <a:p>
            <a:r>
              <a:t>- Partial/Yuchengco/stationary passed on ForwardingRatio alone. Its PDR was excluded as a broken baseline: one victim sat at 0.81 and one bystander at 0.78 before the attack. That is the rule from slide 21 working as designed.</a:t>
            </a:r>
          </a:p>
          <a:p>
            <a:r>
              <a:t>- Source: tools/verify_attack.py, re-run on every campus run Oct. 20.</a:t>
            </a:r>
          </a:p>
          <a:p/>
          <a:p>
            <a:r>
              <a:t>Original note: Numbers from tools/verify_attack.py run on all campus runs on Oct. 20, 2026 (verification #71).</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4  ·  about 0:50  ·  slide 25 of 33</a:t>
            </a:r>
          </a:p>
          <a:p/>
          <a:p>
            <a:r>
              <a:t>Here's one blackhole run in detail: G402, linear chain, stationary traffic. The root, then the attacker, then six victims in a chain behind it.</a:t>
            </a:r>
          </a:p>
          <a:p/>
          <a:p>
            <a:r>
              <a:t>The chart shows two values per phase. The attacker's ForwardingRatio is 1 in baseline, drops to 0.001 during the attack, and returns to 1 in cooldown. The victims' PDR goes from 1.000 to 0.000, and recovers to 0.999 in cooldown.</a:t>
            </a:r>
          </a:p>
          <a:p/>
          <a:p>
            <a:r>
              <a:t>In numbers: the attacker received 1,077 probes during the attack and forwarded exactly one. The baseline never varied, so its standard deviation was zero, which puts this change beyond any sigma threshold.</a:t>
            </a:r>
          </a:p>
          <a:p/>
          <a:p>
            <a:r>
              <a:t>The neighbours confirm it independently: the attacker's children handed it probes that its parent never received.</a:t>
            </a:r>
          </a:p>
          <a:p/>
          <a:p>
            <a:r>
              <a:t>IF ASKED / PREP:</a:t>
            </a:r>
          </a:p>
          <a:p>
            <a:r>
              <a:t>- Cooldown PDR 0.999 comes from the cooldown windows of the same feature table.</a:t>
            </a:r>
          </a:p>
          <a:p/>
          <a:p>
            <a:r>
              <a:t>Original note: Verifier output, verification #71. Cooldown PDR 0.999 is from the cooldown windows of the same feature table.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4  ·  about 1:05  ·  slide 26 of 33</a:t>
            </a:r>
          </a:p>
          <a:p/>
          <a:p>
            <a:r>
              <a:t>For the wormhole, the signature is the second copy. This table covers all nine linear chain runs. The third column is how many frames went from B to A over the wire. The fourth is how many attack windows had duplicates at the root.</a:t>
            </a:r>
          </a:p>
          <a:p/>
          <a:p>
            <a:r>
              <a:t>Take the DLSU Library stationary run: the root saw both copies in 180 attack windows, about 3.6 milliseconds apart, and no duplicates in baseline or cooldown. Highload sends four probes a second, which is why those rows show about 720 frames instead of 180.</a:t>
            </a:r>
          </a:p>
          <a:p/>
          <a:p>
            <a:r>
              <a:t>Both primary signatures rise from zero. DuplicateRate goes from 0 to 1. TunnelIntensity, the tunnel frames per second, goes from 0 to 1, or to 4 under highload. TunnelLatency we report but don't test, because there's no tunnel in the baseline to compare it against. Across the nine runs, the two copies arrive about 4 to 30 milliseconds apart on average.</a:t>
            </a:r>
          </a:p>
          <a:p/>
          <a:p>
            <a:r>
              <a:t>IF ASKED / PREP:</a:t>
            </a:r>
          </a:p>
          <a:p>
            <a:r>
              <a:t>- Know this before the defense: in 4 of the 9 runs (G402 burst, Yuchengco stationary and highload, DLSU highload), plain children also have "duplicate" entries early in the baseline. They sit 150 to 370 seconds apart, so they are not the tunnel. Most likely the root's arrival log repeated probes from an earlier boot; this is still being traced. The verifier scores Node B only, so no verdict depends on them. The raw verifier prints 193 windows for G402 burst because it counts these too; Node B's own count is 180, which is what the table shows.</a:t>
            </a:r>
          </a:p>
          <a:p>
            <a:r>
              <a:t>- Wire delivery figures come from the verifier's UART check.</a:t>
            </a:r>
          </a:p>
          <a:p/>
          <a:p>
            <a:r>
              <a:t>Original note: Wire delivery from the verifier's UART check. Highload sends 4 probes a second, so ~720 frames.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4  ·  about 0:35  ·  slide 27 of 33</a:t>
            </a:r>
          </a:p>
          <a:p/>
          <a:p>
            <a:r>
              <a:t>This is our first EDA view. On the left is PCA and on the right is t-SNE, for the G402 linear stationary blackhole run, using z-scored features. Red points are attack windows, blue is baseline, orange is cooldown.</a:t>
            </a:r>
          </a:p>
          <a:p/>
          <a:p>
            <a:r>
              <a:t>The attack windows sit clearly apart from the rest. But we want to be careful with the wording: this describes a picture of one run. It is not a detection result. The pooled clustering across all runs is what will test it.</a:t>
            </a:r>
          </a:p>
          <a:p/>
          <a:p>
            <a:r>
              <a:t>Original note: Per-cell EDA output from the analysis pipeline. Stress the wording: a description, not a classifier.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4  ·  about 1:00  ·  slide 28 of 33</a:t>
            </a:r>
          </a:p>
          <a:p/>
          <a:p>
            <a:r>
              <a:t>This slide answers a concern from the Thesis 2 panel: could one feature decide everything? We tested that with a leakage audit.</a:t>
            </a:r>
          </a:p>
          <a:p/>
          <a:p>
            <a:r>
              <a:t>For each feature, we take a single threshold per run and measure how accurately it separates attack from normal. The chart shows the mean over all 35 blackhole runs. The reference is the majority-class rate, about 0.70. That's what you'd get by always guessing the larger class.</a:t>
            </a:r>
          </a:p>
          <a:p/>
          <a:p>
            <a:r>
              <a:t>PDR averages 0.872 and LatencyHopRatio 0.860, with ConsistencyScore and ForwardingRatio at 0.848. In 12 runs each, 9 star and 3 linear, PDR and LatencyHopRatio reach 0.95 or more. That's expected: a blackhole drops everything, so the collapse is separable by construction. The RSSI and hop features stay at the majority rate.</a:t>
            </a:r>
          </a:p>
          <a:p/>
          <a:p>
            <a:r>
              <a:t>So yes, in some runs one feature does decide it, and we say so. The pooled audit over all runs follows once collection ends.</a:t>
            </a:r>
          </a:p>
          <a:p/>
          <a:p>
            <a:r>
              <a:t>IF ASKED / PREP:</a:t>
            </a:r>
          </a:p>
          <a:p>
            <a:r>
              <a:t>- Table 4.21, provisional. The chart was recomputed Oct. 20 from the current per-run leakage_audit.csv files (35 runs). The paper's older Oct. 15 table said 34 runs, PDR 0.863; same conclusion.</a:t>
            </a:r>
          </a:p>
          <a:p>
            <a:r>
              <a:t>- "And the wormhole?" Its tunnel features alone separate attack from normal at about 0.99. That is also by construction, since they are zero whenever there is no tunnel. Say so if asked.</a:t>
            </a:r>
          </a:p>
          <a:p/>
          <a:p>
            <a:r>
              <a:t>Original note: Table 4.21, provisional. This answers the Thesis 2 panel concern that one feature might decide everything: it does in some runs, and we say so.</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4  ·  about 1:10  ·  slide 29 of 33</a:t>
            </a:r>
          </a:p>
          <a:p/>
          <a:p>
            <a:r>
              <a:t>Here's how our numbers compare with published work.</a:t>
            </a:r>
          </a:p>
          <a:p/>
          <a:p>
            <a:r>
              <a:t>Loss under an unmitigated blackhole: Airehrour reports 60 to 75 percent. We see 100 percent, with six victims going from 1.000 to 0.000. That's above their range, because every routed probe is lost.</a:t>
            </a:r>
          </a:p>
          <a:p/>
          <a:p>
            <a:r>
              <a:t>Healthy delivery on the same ESP32 platform: Khan reports above 97 percent. Our baseline PDR is 1.000 at G402 and 0.998 on average across all victims, so at or above the benchmark. Note that ours is per one-second window, while Khan's comes from a five-day stability test.</a:t>
            </a:r>
          </a:p>
          <a:p/>
          <a:p>
            <a:r>
              <a:t>Routing instability under attack: Airehrour sees 16 to 246 rank changes. We see almost no parent switches. That differs because suppression doesn't change routes.</a:t>
            </a:r>
          </a:p>
          <a:p/>
          <a:p>
            <a:r>
              <a:t>The wormhole effect: Zhukabayeva reports hop count dropping from 4 to 3 and delay rising about 40 percent. We see duplicate arrivals but no hop change. So it partly matches: we reproduce the copy, not the shortcut.</a:t>
            </a:r>
          </a:p>
          <a:p/>
          <a:p>
            <a:r>
              <a:t>Platforms, scales and protocols differ, so this comparison is about direction and rough size, not equal values.</a:t>
            </a:r>
          </a:p>
          <a:p/>
          <a:p>
            <a:r>
              <a:t>IF ASKED / PREP:</a:t>
            </a:r>
          </a:p>
          <a:p>
            <a:r>
              <a:t>- Table 4.23, corrected Oct. 20 (an earlier 76% figure came from an old capture). Do not quote 76%.</a:t>
            </a:r>
          </a:p>
          <a:p>
            <a:r>
              <a:t>- Khan's exact claim is above 97% at every node except one (an outdoor node). The 0.998 average hides a few weaker baselines; the lowest run averaged 0.81 (partial/Yuchengco/stationary). Don't claim every run was at 1.000.</a:t>
            </a:r>
          </a:p>
          <a:p>
            <a:r>
              <a:t>- If asked about the delay direction: Zhukabayeva's tunnel was GSM/GPRS, ours is a short UART wire, so the delay change is not expected to match.</a:t>
            </a:r>
          </a:p>
          <a:p/>
          <a:p>
            <a:r>
              <a:t>Original note: Table 4.23, corrected on Oct. 20 (the earlier 76% figure was from an old capture). Our baseline PDR is per one-second window; Khan's comes from a five-day stability test.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4  ·  about 1:10  ·  slide 30 of 33</a:t>
            </a:r>
          </a:p>
          <a:p/>
          <a:p>
            <a:r>
              <a:t>We also report predictions we tested and did not see.</a:t>
            </a:r>
          </a:p>
          <a:p/>
          <a:p>
            <a:r>
              <a:t>First, we expected blackhole victims to retransmit more. We didn't see that, because the attacker still acknowledges every frame at the link layer, so the victims have no reason to retry. The sniffer showed no consistent rise in the runs it covered. We're recomputing the exact count, which I'll explain in a moment. And the app-level counters stayed essentially flat across all 35 runs.</a:t>
            </a:r>
          </a:p>
          <a:p/>
          <a:p>
            <a:r>
              <a:t>Second, we expected the wormhole to distort the topology. It didn't: there was no parent switch or hop change in any attack window, because the mesh never routes over the wire. The tunnel reproduces the duplicate-delivery signature without the topological one.</a:t>
            </a:r>
          </a:p>
          <a:p/>
          <a:p>
            <a:r>
              <a:t>Why keep these? Tables 3.4 and 3.5 were written before any capture, so reporting what didn't happen is part of the result. And to be upfront: the sniffer count is being recomputed, because a re-analysis dropped the sniffer column and we're merging the captures back in.</a:t>
            </a:r>
          </a:p>
          <a:p/>
          <a:p>
            <a:r>
              <a:t>IF ASKED / PREP:</a:t>
            </a:r>
          </a:p>
          <a:p>
            <a:r>
              <a:t>- Section 4.1.3.4. Do NOT quote "8 of 22": the current tables can't reproduce it. Only 3 runs still have the sniffer column; it comes back when analyze.ps1 is re-run with the PCAPs (checklist B-mrr).</a:t>
            </a:r>
          </a:p>
          <a:p>
            <a:r>
              <a:t>- App counters: the attack-phase retry rate was above baseline in just 1 of 35 runs, by a negligible amount (pooled mean 0.0000 vs 0.0003).</a:t>
            </a:r>
          </a:p>
          <a:p/>
          <a:p>
            <a:r>
              <a:t>Original note: Section 4.1.3.4. Be upfront: the sniffer figure is from the Oct. 19 tables and must be recomputed once the PCAPs are merged back (checklist B-mrr).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4  ·  about 0:50  ·  slide 31 of 33</a:t>
            </a:r>
          </a:p>
          <a:p/>
          <a:p>
            <a:r>
              <a:t>These are the limits we state in the paper.</a:t>
            </a:r>
          </a:p>
          <a:p/>
          <a:p>
            <a:r>
              <a:t>Emulated attacks: no route attraction in the blackhole and no false neighbour in the wormhole.</a:t>
            </a:r>
          </a:p>
          <a:p/>
          <a:p>
            <a:r>
              <a:t>One run per cell: the sites act as repeats, so site and run noise can't be separated.</a:t>
            </a:r>
          </a:p>
          <a:p/>
          <a:p>
            <a:r>
              <a:t>Fixed schedule: the attack starts at the same time in every run, so we keep time position out of the model inputs. Otherwise a model could just learn the clock.</a:t>
            </a:r>
          </a:p>
          <a:p/>
          <a:p>
            <a:r>
              <a:t>Partial mesh equals tree: no node used a second parent in nine runs.</a:t>
            </a:r>
          </a:p>
          <a:p/>
          <a:p>
            <a:r>
              <a:t>Small testbed: eight boards indoors, not a large or outdoor network.</a:t>
            </a:r>
          </a:p>
          <a:p/>
          <a:p>
            <a:r>
              <a:t>And two open checks: a test of the SD card sync under a mid-run reset, and the star wormhole design.</a:t>
            </a:r>
          </a:p>
          <a:p/>
          <a:p>
            <a:r>
              <a:t>IF ASKED / PREP:</a:t>
            </a:r>
          </a:p>
          <a:p>
            <a:r>
              <a:t>- Sections 1.4.1 and 4.1.3.5. Open checks are D-13 (SD fsync reset test) and D-28 (hub-star wormhole).</a:t>
            </a:r>
          </a:p>
          <a:p>
            <a:r>
              <a:t>- If asked about board resets: four boards hit the same firmware crash (inside the ESP-IDF ipc_task), and one board, 1C38, browns out on weak power. Both are mitigated; the crash root cause is not proven yet. Runs that lost data are the held-out ones, not the 44.</a:t>
            </a:r>
          </a:p>
          <a:p/>
          <a:p>
            <a:r>
              <a:t>Original note: Section 1.4.1 and 4.1.3.5. Naming limits first takes the sting out of panel questions.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4  ·  about 0:45  ·  slide 32 of 33</a:t>
            </a:r>
          </a:p>
          <a:p/>
          <a:p>
            <a:r>
              <a:t>Here's what's left before the final paper, in four steps.</a:t>
            </a:r>
          </a:p>
          <a:p/>
          <a:p>
            <a:r>
              <a:t>Capture: 37 runs, which are the wormhole on star, tree and partial mesh, plus all 9 benign runs.</a:t>
            </a:r>
          </a:p>
          <a:p/>
          <a:p>
            <a:r>
              <a:t>Re-analyse: merge the sniffer captures back in and recompute the MAC retry results.</a:t>
            </a:r>
          </a:p>
          <a:p/>
          <a:p>
            <a:r>
              <a:t>Cluster: run the five algorithms on the pooled table and report purity and adjusted Rand index.</a:t>
            </a:r>
          </a:p>
          <a:p/>
          <a:p>
            <a:r>
              <a:t>Write: Chapter 5, from the final tables only, with the pooled leakage audit and every placeholder cleared.</a:t>
            </a:r>
          </a:p>
          <a:p/>
          <a:p>
            <a:r>
              <a:t>Two decisions to note. We've dropped the jitter scenario, as a team decision on October 20. And the one open design question for our adviser is the hub-star wormhole.</a:t>
            </a:r>
          </a:p>
          <a:p/>
          <a:p>
            <a:r>
              <a:t>Original note: Chapter 5 is written only from the final tables. The jitter scenario is out (team decision, Oct. 20); the remaining open design question for the adviser is the hub-star wormhole (D-28).</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4  ·  about 0:25  ·  slide 33 of 33</a:t>
            </a:r>
          </a:p>
          <a:p/>
          <a:p>
            <a:r>
              <a:t>To close: our contribution is a labelled, cross-layer dataset from a real ESP32 mesh. So far that's 44 verified attack runs at three sites: the blackhole on all four topologies, and the wormhole on the linear chain, with the other three wormhole topologies still to capture. Every run is checked before it enters the dataset.</a:t>
            </a:r>
          </a:p>
          <a:p/>
          <a:p>
            <a:r>
              <a:t>Thank you. We're happy to take your questions.</a:t>
            </a:r>
          </a:p>
          <a:p/>
          <a:p>
            <a:r>
              <a:t>Original note: Close on the contribution and open the floor.</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73736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3" name="Text 0"/>
          <p:cNvSpPr/>
          <p:nvPr>
            <p:ph idx="101" type="body" hasCustomPrompt="1"/>
          </p:nvPr>
        </p:nvSpPr>
        <p:spPr>
          <a:xfrm>
            <a:off x="731520" y="3794760"/>
            <a:ext cx="10698480" cy="21945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103120" y="2331720"/>
            <a:ext cx="9326880" cy="109728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3" name="Text 0"/>
          <p:cNvSpPr/>
          <p:nvPr>
            <p:ph idx="101" type="body" hasCustomPrompt="1"/>
          </p:nvPr>
        </p:nvSpPr>
        <p:spPr>
          <a:xfrm>
            <a:off x="2103120" y="3474720"/>
            <a:ext cx="9326880" cy="14630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000" b="1" dirty="0">
                <a:solidFill>
                  <a:schemeClr val="tx2"/>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548640" y="6382512"/>
            <a:ext cx="9601200" cy="292608"/>
          </a:xfrm>
          <a:prstGeom prst="rect">
            <a:avLst/>
          </a:prstGeom>
          <a:noFill/>
          <a:ln/>
        </p:spPr>
        <p:txBody>
          <a:bodyPr wrap="square" lIns="0" tIns="0" rIns="0" bIns="0" rtlCol="0" anchor="ctr"/>
          <a:lstStyle/>
          <a:p>
            <a:pPr indent="0" marL="0">
              <a:buNone/>
            </a:pPr>
            <a:r>
              <a:rPr lang="en-US" sz="1000" dirty="0">
                <a:solidFill>
                  <a:schemeClr val="accent5"/>
                </a:solidFill>
              </a:rPr>
              <a:t>NIS16 · Cross-Layer Dataset of an ESP32 ESP-WIFI-MESH Network · Thesis 3</a:t>
            </a:r>
            <a:endParaRPr lang="en-US" sz="10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737360"/>
          </a:xfrm>
          <a:prstGeom prst="rect">
            <a:avLst/>
          </a:prstGeom>
          <a:noFill/>
          <a:ln/>
        </p:spPr>
        <p:txBody>
          <a:bodyPr wrap="square" rtlCol="0" anchor="b"/>
          <a:lstStyle/>
          <a:p>
            <a:pPr algn="l" indent="0" marL="0">
              <a:buNone/>
            </a:pPr>
            <a:r>
              <a:rPr lang="en-US" sz="4000" b="1" dirty="0">
                <a:solidFill>
                  <a:schemeClr val="bg1"/>
                </a:solidFill>
                <a:latin typeface="Arial" pitchFamily="34" charset="0"/>
                <a:ea typeface="Arial" pitchFamily="34" charset="-122"/>
                <a:cs typeface="Arial" pitchFamily="34" charset="-120"/>
              </a:rPr>
              <a:t>Cross-Layer Dataset Design and Exploratory Analysis of an ESP32-Based ESP-WIFI-MESH Network</a:t>
            </a:r>
            <a:endParaRPr lang="en-US" sz="4000" dirty="0"/>
          </a:p>
        </p:txBody>
      </p:sp>
      <p:sp>
        <p:nvSpPr>
          <p:cNvPr id="3" name="Text 0"/>
          <p:cNvSpPr/>
          <p:nvPr>
            <p:ph idx="101" type="body" hasCustomPrompt="1"/>
          </p:nvPr>
        </p:nvSpPr>
        <p:spPr>
          <a:xfrm>
            <a:off x="731520" y="3794760"/>
            <a:ext cx="10698480" cy="2194560"/>
          </a:xfrm>
          <a:prstGeom prst="rect">
            <a:avLst/>
          </a:prstGeom>
          <a:noFill/>
          <a:ln/>
        </p:spPr>
        <p:txBody>
          <a:bodyPr wrap="square" rtlCol="0" anchor="t"/>
          <a:lstStyle/>
          <a:p>
            <a:pPr indent="0" marL="0">
              <a:buNone/>
            </a:pPr>
            <a:r>
              <a:rPr lang="en-US" sz="1800" b="1" dirty="0">
                <a:solidFill>
                  <a:schemeClr val="bg2"/>
                </a:solidFill>
              </a:rPr>
              <a:t>Thesis 3 defense · NIS16</a:t>
            </a:r>
            <a:endParaRPr lang="en-US" sz="1800" dirty="0"/>
          </a:p>
          <a:p>
            <a:pPr indent="0" marL="0">
              <a:buNone/>
            </a:pPr>
            <a:r>
              <a:rPr lang="en-US" sz="1800" dirty="0">
                <a:solidFill>
                  <a:schemeClr val="bg2"/>
                </a:solidFill>
              </a:rPr>
              <a:t>Calpoporo, Jose Angelo C. · Carlos, Miguel Sebastian C. · Ong, Kyle Edward M. · Reinante, Christian Victor G.</a:t>
            </a:r>
            <a:endParaRPr lang="en-US" sz="1800" dirty="0"/>
          </a:p>
          <a:p>
            <a:pPr indent="0" marL="0">
              <a:buNone/>
            </a:pPr>
            <a:r>
              <a:rPr lang="en-US" sz="1800" dirty="0">
                <a:solidFill>
                  <a:schemeClr val="bg2"/>
                </a:solidFill>
              </a:rPr>
              <a:t>Adviser: Mr. Gregory G. Cu · College of Computer Studies, De La Salle University</a:t>
            </a:r>
            <a:endParaRPr lang="en-US" sz="1800" dirty="0"/>
          </a:p>
          <a:p>
            <a:pPr indent="0" marL="0">
              <a:buNone/>
            </a:pPr>
            <a:r>
              <a:rPr lang="en-US" sz="1800" dirty="0">
                <a:solidFill>
                  <a:schemeClr val="bg2"/>
                </a:solidFill>
              </a:rPr>
              <a:t>October 24,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Nine months in four steps</a:t>
            </a:r>
            <a:endParaRPr lang="en-US" sz="3000" dirty="0"/>
          </a:p>
        </p:txBody>
      </p:sp>
      <p:sp>
        <p:nvSpPr>
          <p:cNvPr id="3" name="Shape 1"/>
          <p:cNvSpPr/>
          <p:nvPr/>
        </p:nvSpPr>
        <p:spPr>
          <a:xfrm>
            <a:off x="1463040" y="1600200"/>
            <a:ext cx="777240" cy="777240"/>
          </a:xfrm>
          <a:prstGeom prst="ellipse">
            <a:avLst/>
          </a:prstGeom>
          <a:solidFill>
            <a:schemeClr val="accent1"/>
          </a:solidFill>
          <a:ln w="12700">
            <a:solidFill>
              <a:schemeClr val="accent1"/>
            </a:solidFill>
            <a:prstDash val="solid"/>
          </a:ln>
        </p:spPr>
        <p:txBody>
          <a:bodyPr/>
          <a:p/>
        </p:txBody>
      </p:sp>
      <p:sp>
        <p:nvSpPr>
          <p:cNvPr id="4" name="Text 2"/>
          <p:cNvSpPr txBox="1"/>
          <p:nvPr/>
        </p:nvSpPr>
        <p:spPr>
          <a:xfrm>
            <a:off x="1463040" y="1600200"/>
            <a:ext cx="777240" cy="77724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5" name="Shape 3"/>
          <p:cNvSpPr/>
          <p:nvPr/>
        </p:nvSpPr>
        <p:spPr>
          <a:xfrm>
            <a:off x="2331720" y="1988820"/>
            <a:ext cx="1920240" cy="0"/>
          </a:xfrm>
          <a:prstGeom prst="line">
            <a:avLst/>
          </a:prstGeom>
          <a:noFill/>
          <a:ln w="19050">
            <a:solidFill>
              <a:schemeClr val="accent5"/>
            </a:solidFill>
            <a:prstDash val="solid"/>
            <a:tailEnd type="triangle"/>
          </a:ln>
        </p:spPr>
        <p:txBody>
          <a:bodyPr/>
          <a:p/>
        </p:txBody>
      </p:sp>
      <p:sp>
        <p:nvSpPr>
          <p:cNvPr id="6" name="Text 4"/>
          <p:cNvSpPr txBox="1"/>
          <p:nvPr/>
        </p:nvSpPr>
        <p:spPr>
          <a:xfrm>
            <a:off x="548640" y="2560320"/>
            <a:ext cx="2606040" cy="457200"/>
          </a:xfrm>
          <a:prstGeom prst="rect">
            <a:avLst/>
          </a:prstGeom>
          <a:noFill/>
          <a:ln/>
        </p:spPr>
        <p:txBody>
          <a:bodyPr wrap="square" lIns="635" tIns="635" rIns="635" bIns="635" rtlCol="0" anchor="t"/>
          <a:lstStyle/>
          <a:p>
            <a:pPr algn="ctr" indent="0" marL="0">
              <a:buNone/>
            </a:pPr>
            <a:r>
              <a:rPr lang="en-US" sz="2000" b="1" dirty="0">
                <a:solidFill>
                  <a:schemeClr val="tx2"/>
                </a:solidFill>
              </a:rPr>
              <a:t>Thesis 1</a:t>
            </a:r>
            <a:endParaRPr lang="en-US" sz="2000" dirty="0"/>
          </a:p>
        </p:txBody>
      </p:sp>
      <p:sp>
        <p:nvSpPr>
          <p:cNvPr id="7" name="Text 5"/>
          <p:cNvSpPr txBox="1"/>
          <p:nvPr/>
        </p:nvSpPr>
        <p:spPr>
          <a:xfrm>
            <a:off x="548640" y="3063240"/>
            <a:ext cx="2606040" cy="1371600"/>
          </a:xfrm>
          <a:prstGeom prst="rect">
            <a:avLst/>
          </a:prstGeom>
          <a:noFill/>
          <a:ln/>
        </p:spPr>
        <p:txBody>
          <a:bodyPr wrap="square" lIns="635" tIns="635" rIns="635" bIns="635" rtlCol="0" anchor="t"/>
          <a:lstStyle/>
          <a:p>
            <a:pPr algn="ctr" indent="0" marL="0">
              <a:buNone/>
            </a:pPr>
            <a:r>
              <a:rPr lang="en-US" sz="1500" dirty="0">
                <a:solidFill>
                  <a:schemeClr val="tx1"/>
                </a:solidFill>
              </a:rPr>
              <a:t>Proposal: the gap, the objectives, the planned testbed and features</a:t>
            </a:r>
            <a:endParaRPr lang="en-US" sz="1500" dirty="0"/>
          </a:p>
        </p:txBody>
      </p:sp>
      <p:sp>
        <p:nvSpPr>
          <p:cNvPr id="8" name="Shape 6"/>
          <p:cNvSpPr/>
          <p:nvPr/>
        </p:nvSpPr>
        <p:spPr>
          <a:xfrm>
            <a:off x="4297680" y="1600200"/>
            <a:ext cx="777240" cy="777240"/>
          </a:xfrm>
          <a:prstGeom prst="ellipse">
            <a:avLst/>
          </a:prstGeom>
          <a:solidFill>
            <a:schemeClr val="accent1"/>
          </a:solidFill>
          <a:ln w="12700">
            <a:solidFill>
              <a:schemeClr val="accent1"/>
            </a:solidFill>
            <a:prstDash val="solid"/>
          </a:ln>
        </p:spPr>
        <p:txBody>
          <a:bodyPr/>
          <a:p/>
        </p:txBody>
      </p:sp>
      <p:sp>
        <p:nvSpPr>
          <p:cNvPr id="9" name="Text 7"/>
          <p:cNvSpPr txBox="1"/>
          <p:nvPr/>
        </p:nvSpPr>
        <p:spPr>
          <a:xfrm>
            <a:off x="4297680" y="1600200"/>
            <a:ext cx="777240" cy="77724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0" name="Shape 8"/>
          <p:cNvSpPr/>
          <p:nvPr/>
        </p:nvSpPr>
        <p:spPr>
          <a:xfrm>
            <a:off x="5166360" y="1988820"/>
            <a:ext cx="1920240" cy="0"/>
          </a:xfrm>
          <a:prstGeom prst="line">
            <a:avLst/>
          </a:prstGeom>
          <a:noFill/>
          <a:ln w="19050">
            <a:solidFill>
              <a:schemeClr val="accent5"/>
            </a:solidFill>
            <a:prstDash val="solid"/>
            <a:tailEnd type="triangle"/>
          </a:ln>
        </p:spPr>
        <p:txBody>
          <a:bodyPr/>
          <a:p/>
        </p:txBody>
      </p:sp>
      <p:sp>
        <p:nvSpPr>
          <p:cNvPr id="11" name="Text 9"/>
          <p:cNvSpPr txBox="1"/>
          <p:nvPr/>
        </p:nvSpPr>
        <p:spPr>
          <a:xfrm>
            <a:off x="3383280" y="2560320"/>
            <a:ext cx="2606040" cy="457200"/>
          </a:xfrm>
          <a:prstGeom prst="rect">
            <a:avLst/>
          </a:prstGeom>
          <a:noFill/>
          <a:ln/>
        </p:spPr>
        <p:txBody>
          <a:bodyPr wrap="square" lIns="635" tIns="635" rIns="635" bIns="635" rtlCol="0" anchor="t"/>
          <a:lstStyle/>
          <a:p>
            <a:pPr algn="ctr" indent="0" marL="0">
              <a:buNone/>
            </a:pPr>
            <a:r>
              <a:rPr lang="en-US" sz="2000" b="1" dirty="0">
                <a:solidFill>
                  <a:schemeClr val="tx2"/>
                </a:solidFill>
              </a:rPr>
              <a:t>Thesis 2</a:t>
            </a:r>
            <a:endParaRPr lang="en-US" sz="2000" dirty="0"/>
          </a:p>
        </p:txBody>
      </p:sp>
      <p:sp>
        <p:nvSpPr>
          <p:cNvPr id="12" name="Text 10"/>
          <p:cNvSpPr txBox="1"/>
          <p:nvPr/>
        </p:nvSpPr>
        <p:spPr>
          <a:xfrm>
            <a:off x="3383280" y="3063240"/>
            <a:ext cx="2606040" cy="1371600"/>
          </a:xfrm>
          <a:prstGeom prst="rect">
            <a:avLst/>
          </a:prstGeom>
          <a:noFill/>
          <a:ln/>
        </p:spPr>
        <p:txBody>
          <a:bodyPr wrap="square" lIns="635" tIns="635" rIns="635" bIns="635" rtlCol="0" anchor="t"/>
          <a:lstStyle/>
          <a:p>
            <a:pPr algn="ctr" indent="0" marL="0">
              <a:buNone/>
            </a:pPr>
            <a:r>
              <a:rPr lang="en-US" sz="1500" dirty="0">
                <a:solidFill>
                  <a:schemeClr val="tx1"/>
                </a:solidFill>
              </a:rPr>
              <a:t>Approved design paper (March 15, 2026); panel comments listed for Thesis 3</a:t>
            </a:r>
            <a:endParaRPr lang="en-US" sz="1500" dirty="0"/>
          </a:p>
        </p:txBody>
      </p:sp>
      <p:sp>
        <p:nvSpPr>
          <p:cNvPr id="13" name="Shape 11"/>
          <p:cNvSpPr/>
          <p:nvPr/>
        </p:nvSpPr>
        <p:spPr>
          <a:xfrm>
            <a:off x="7132320" y="1600200"/>
            <a:ext cx="777240" cy="777240"/>
          </a:xfrm>
          <a:prstGeom prst="ellipse">
            <a:avLst/>
          </a:prstGeom>
          <a:solidFill>
            <a:schemeClr val="accent1"/>
          </a:solidFill>
          <a:ln w="12700">
            <a:solidFill>
              <a:schemeClr val="accent1"/>
            </a:solidFill>
            <a:prstDash val="solid"/>
          </a:ln>
        </p:spPr>
        <p:txBody>
          <a:bodyPr/>
          <a:p/>
        </p:txBody>
      </p:sp>
      <p:sp>
        <p:nvSpPr>
          <p:cNvPr id="14" name="Text 12"/>
          <p:cNvSpPr txBox="1"/>
          <p:nvPr/>
        </p:nvSpPr>
        <p:spPr>
          <a:xfrm>
            <a:off x="7132320" y="1600200"/>
            <a:ext cx="777240" cy="77724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5" name="Shape 13"/>
          <p:cNvSpPr/>
          <p:nvPr/>
        </p:nvSpPr>
        <p:spPr>
          <a:xfrm>
            <a:off x="8001000" y="1988820"/>
            <a:ext cx="1920240" cy="0"/>
          </a:xfrm>
          <a:prstGeom prst="line">
            <a:avLst/>
          </a:prstGeom>
          <a:noFill/>
          <a:ln w="19050">
            <a:solidFill>
              <a:schemeClr val="accent5"/>
            </a:solidFill>
            <a:prstDash val="solid"/>
            <a:tailEnd type="triangle"/>
          </a:ln>
        </p:spPr>
        <p:txBody>
          <a:bodyPr/>
          <a:p/>
        </p:txBody>
      </p:sp>
      <p:sp>
        <p:nvSpPr>
          <p:cNvPr id="16" name="Text 14"/>
          <p:cNvSpPr txBox="1"/>
          <p:nvPr/>
        </p:nvSpPr>
        <p:spPr>
          <a:xfrm>
            <a:off x="6217920" y="2560320"/>
            <a:ext cx="2606040" cy="457200"/>
          </a:xfrm>
          <a:prstGeom prst="rect">
            <a:avLst/>
          </a:prstGeom>
          <a:noFill/>
          <a:ln/>
        </p:spPr>
        <p:txBody>
          <a:bodyPr wrap="square" lIns="635" tIns="635" rIns="635" bIns="635" rtlCol="0" anchor="t"/>
          <a:lstStyle/>
          <a:p>
            <a:pPr algn="ctr" indent="0" marL="0">
              <a:buNone/>
            </a:pPr>
            <a:r>
              <a:rPr lang="en-US" sz="2000" b="1" dirty="0">
                <a:solidFill>
                  <a:schemeClr val="tx2"/>
                </a:solidFill>
              </a:rPr>
              <a:t>Build</a:t>
            </a:r>
            <a:endParaRPr lang="en-US" sz="2000" dirty="0"/>
          </a:p>
        </p:txBody>
      </p:sp>
      <p:sp>
        <p:nvSpPr>
          <p:cNvPr id="17" name="Text 15"/>
          <p:cNvSpPr txBox="1"/>
          <p:nvPr/>
        </p:nvSpPr>
        <p:spPr>
          <a:xfrm>
            <a:off x="6217920" y="3063240"/>
            <a:ext cx="2606040" cy="1371600"/>
          </a:xfrm>
          <a:prstGeom prst="rect">
            <a:avLst/>
          </a:prstGeom>
          <a:noFill/>
          <a:ln/>
        </p:spPr>
        <p:txBody>
          <a:bodyPr wrap="square" lIns="635" tIns="635" rIns="635" bIns="635" rtlCol="0" anchor="t"/>
          <a:lstStyle/>
          <a:p>
            <a:pPr algn="ctr" indent="0" marL="0">
              <a:buNone/>
            </a:pPr>
            <a:r>
              <a:rPr lang="en-US" sz="1500" dirty="0">
                <a:solidFill>
                  <a:schemeClr val="tx1"/>
                </a:solidFill>
              </a:rPr>
              <a:t>Firmware for both attacks, microSD logging, 20 MHz radio, verifier and analysis pipeline</a:t>
            </a:r>
            <a:endParaRPr lang="en-US" sz="1500" dirty="0"/>
          </a:p>
        </p:txBody>
      </p:sp>
      <p:sp>
        <p:nvSpPr>
          <p:cNvPr id="18" name="Shape 16"/>
          <p:cNvSpPr/>
          <p:nvPr/>
        </p:nvSpPr>
        <p:spPr>
          <a:xfrm>
            <a:off x="9966960" y="1600200"/>
            <a:ext cx="777240" cy="777240"/>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9966960" y="1600200"/>
            <a:ext cx="777240" cy="77724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0" name="Text 18"/>
          <p:cNvSpPr txBox="1"/>
          <p:nvPr/>
        </p:nvSpPr>
        <p:spPr>
          <a:xfrm>
            <a:off x="9052560" y="2560320"/>
            <a:ext cx="2606040" cy="457200"/>
          </a:xfrm>
          <a:prstGeom prst="rect">
            <a:avLst/>
          </a:prstGeom>
          <a:noFill/>
          <a:ln/>
        </p:spPr>
        <p:txBody>
          <a:bodyPr wrap="square" lIns="635" tIns="635" rIns="635" bIns="635" rtlCol="0" anchor="t"/>
          <a:lstStyle/>
          <a:p>
            <a:pPr algn="ctr" indent="0" marL="0">
              <a:buNone/>
            </a:pPr>
            <a:r>
              <a:rPr lang="en-US" sz="2000" b="1" dirty="0">
                <a:solidFill>
                  <a:schemeClr val="tx2"/>
                </a:solidFill>
              </a:rPr>
              <a:t>Thesis 3</a:t>
            </a:r>
            <a:endParaRPr lang="en-US" sz="2000" dirty="0"/>
          </a:p>
        </p:txBody>
      </p:sp>
      <p:sp>
        <p:nvSpPr>
          <p:cNvPr id="21" name="Text 19"/>
          <p:cNvSpPr txBox="1"/>
          <p:nvPr/>
        </p:nvSpPr>
        <p:spPr>
          <a:xfrm>
            <a:off x="9052560" y="3063240"/>
            <a:ext cx="2606040" cy="1371600"/>
          </a:xfrm>
          <a:prstGeom prst="rect">
            <a:avLst/>
          </a:prstGeom>
          <a:noFill/>
          <a:ln/>
        </p:spPr>
        <p:txBody>
          <a:bodyPr wrap="square" lIns="635" tIns="635" rIns="635" bIns="635" rtlCol="0" anchor="t"/>
          <a:lstStyle/>
          <a:p>
            <a:pPr algn="ctr" indent="0" marL="0">
              <a:buNone/>
            </a:pPr>
            <a:r>
              <a:rPr lang="en-US" sz="1500" dirty="0">
                <a:solidFill>
                  <a:schemeClr val="tx1"/>
                </a:solidFill>
              </a:rPr>
              <a:t>Data campaign at three DLSU sites (Sept. 30 – now) and this final paper</a:t>
            </a:r>
            <a:endParaRPr lang="en-US" sz="1500" dirty="0"/>
          </a:p>
        </p:txBody>
      </p:sp>
      <p:sp>
        <p:nvSpPr>
          <p:cNvPr id="22" name="Shape 20"/>
          <p:cNvSpPr/>
          <p:nvPr/>
        </p:nvSpPr>
        <p:spPr>
          <a:xfrm>
            <a:off x="548640" y="4754880"/>
            <a:ext cx="11064240" cy="1280160"/>
          </a:xfrm>
          <a:prstGeom prst="roundRect">
            <a:avLst>
              <a:gd name="adj" fmla="val 5714"/>
            </a:avLst>
          </a:prstGeom>
          <a:solidFill>
            <a:schemeClr val="bg2"/>
          </a:solidFill>
          <a:ln w="9525">
            <a:solidFill>
              <a:schemeClr val="bg2"/>
            </a:solidFill>
            <a:prstDash val="solid"/>
          </a:ln>
        </p:spPr>
        <p:txBody>
          <a:bodyPr/>
          <a:p/>
        </p:txBody>
      </p:sp>
      <p:sp>
        <p:nvSpPr>
          <p:cNvPr id="23" name="Text 21"/>
          <p:cNvSpPr txBox="1"/>
          <p:nvPr/>
        </p:nvSpPr>
        <p:spPr>
          <a:xfrm>
            <a:off x="777240" y="4892040"/>
            <a:ext cx="10607040" cy="1005840"/>
          </a:xfrm>
          <a:prstGeom prst="rect">
            <a:avLst/>
          </a:prstGeom>
          <a:noFill/>
          <a:ln/>
        </p:spPr>
        <p:txBody>
          <a:bodyPr wrap="square" lIns="635" tIns="635" rIns="635" bIns="635" rtlCol="0" anchor="ctr"/>
          <a:lstStyle/>
          <a:p>
            <a:pPr indent="0" marL="0">
              <a:buNone/>
            </a:pPr>
            <a:r>
              <a:rPr lang="en-US" sz="1600" b="1" dirty="0">
                <a:solidFill>
                  <a:schemeClr val="tx2"/>
                </a:solidFill>
              </a:rPr>
              <a:t>What changed since Thesis 2: </a:t>
            </a:r>
            <a:pPr indent="0" marL="0">
              <a:buNone/>
            </a:pPr>
            <a:r>
              <a:rPr lang="en-US" sz="1600" dirty="0">
                <a:solidFill>
                  <a:schemeClr val="tx1"/>
                </a:solidFill>
              </a:rPr>
              <a:t>8 boards per run (root + 7 children), three campus sites, three traffic scenarios, a microSD mirror on every board, an independent sniffer, and a 3-sigma verifier that checks every run before it enters the dataset.</a:t>
            </a:r>
            <a:endParaRPr lang="en-US" sz="16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2103120" y="2331720"/>
            <a:ext cx="9326880" cy="1097280"/>
          </a:xfrm>
          <a:prstGeom prst="rect">
            <a:avLst/>
          </a:prstGeom>
          <a:noFill/>
          <a:ln/>
        </p:spPr>
        <p:txBody>
          <a:bodyPr wrap="square" rtlCol="0" anchor="ctr"/>
          <a:lstStyle/>
          <a:p>
            <a:pPr algn="l" indent="0" marL="0">
              <a:buNone/>
            </a:pPr>
            <a:r>
              <a:rPr lang="en-US" sz="4000" b="1" dirty="0">
                <a:solidFill>
                  <a:schemeClr val="bg1"/>
                </a:solidFill>
                <a:latin typeface="Arial" pitchFamily="34" charset="0"/>
                <a:ea typeface="Arial" pitchFamily="34" charset="-122"/>
                <a:cs typeface="Arial" pitchFamily="34" charset="-120"/>
              </a:rPr>
              <a:t>Recap of Chapters 1 to 3</a:t>
            </a:r>
            <a:endParaRPr lang="en-US" sz="4000" dirty="0"/>
          </a:p>
        </p:txBody>
      </p:sp>
      <p:sp>
        <p:nvSpPr>
          <p:cNvPr id="3" name="Text 0"/>
          <p:cNvSpPr/>
          <p:nvPr>
            <p:ph idx="101" type="body" hasCustomPrompt="1"/>
          </p:nvPr>
        </p:nvSpPr>
        <p:spPr>
          <a:xfrm>
            <a:off x="2103120" y="3474720"/>
            <a:ext cx="9326880" cy="1463040"/>
          </a:xfrm>
          <a:prstGeom prst="rect">
            <a:avLst/>
          </a:prstGeom>
          <a:noFill/>
          <a:ln/>
        </p:spPr>
        <p:txBody>
          <a:bodyPr wrap="square" rtlCol="0" anchor="t"/>
          <a:lstStyle/>
          <a:p>
            <a:pPr indent="0" marL="0">
              <a:buNone/>
            </a:pPr>
            <a:r>
              <a:rPr lang="en-US" sz="1800" dirty="0">
                <a:solidFill>
                  <a:schemeClr val="bg2"/>
                </a:solidFill>
              </a:rPr>
              <a:t>Problem, objectives, literature and the theory the dataset rests on — in four slides</a:t>
            </a:r>
            <a:endParaRPr lang="en-US" sz="1800" dirty="0"/>
          </a:p>
        </p:txBody>
      </p:sp>
      <p:sp>
        <p:nvSpPr>
          <p:cNvPr id="4" name="Shape 2"/>
          <p:cNvSpPr/>
          <p:nvPr/>
        </p:nvSpPr>
        <p:spPr>
          <a:xfrm>
            <a:off x="822960" y="2514600"/>
            <a:ext cx="868680" cy="868680"/>
          </a:xfrm>
          <a:prstGeom prst="ellipse">
            <a:avLst/>
          </a:prstGeom>
          <a:solidFill>
            <a:schemeClr val="accent2"/>
          </a:solidFill>
          <a:ln w="12700">
            <a:solidFill>
              <a:schemeClr val="accent2"/>
            </a:solidFill>
            <a:prstDash val="solid"/>
          </a:ln>
        </p:spPr>
      </p:sp>
      <p:sp>
        <p:nvSpPr>
          <p:cNvPr id="5" name="Text 3"/>
          <p:cNvSpPr txBox="1"/>
          <p:nvPr/>
        </p:nvSpPr>
        <p:spPr>
          <a:xfrm>
            <a:off x="822960" y="2514600"/>
            <a:ext cx="868680" cy="868680"/>
          </a:xfrm>
          <a:prstGeom prst="rect">
            <a:avLst/>
          </a:prstGeom>
          <a:noFill/>
          <a:ln/>
        </p:spPr>
        <p:txBody>
          <a:bodyPr wrap="square" lIns="0" tIns="0" rIns="0" bIns="0" rtlCol="0" anchor="ctr"/>
          <a:lstStyle/>
          <a:p>
            <a:pPr algn="ctr" indent="0" marL="0">
              <a:buNone/>
            </a:pPr>
            <a:r>
              <a:rPr lang="en-US" sz="1800" b="1" dirty="0">
                <a:solidFill>
                  <a:schemeClr val="bg1"/>
                </a:solidFill>
              </a:rPr>
              <a:t>1-3</a:t>
            </a:r>
            <a:endParaRPr lang="en-US" sz="18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The problem: no real ESP32 mesh attack data</a:t>
            </a:r>
            <a:endParaRPr lang="en-US" sz="3000" dirty="0"/>
          </a:p>
        </p:txBody>
      </p:sp>
      <p:sp>
        <p:nvSpPr>
          <p:cNvPr id="3" name="Text 1"/>
          <p:cNvSpPr txBox="1"/>
          <p:nvPr/>
        </p:nvSpPr>
        <p:spPr>
          <a:xfrm>
            <a:off x="548640" y="1234440"/>
            <a:ext cx="11064240" cy="731520"/>
          </a:xfrm>
          <a:prstGeom prst="rect">
            <a:avLst/>
          </a:prstGeom>
          <a:noFill/>
          <a:ln/>
        </p:spPr>
        <p:txBody>
          <a:bodyPr wrap="square" lIns="635" tIns="635" rIns="635" bIns="635" rtlCol="0" anchor="t"/>
          <a:lstStyle/>
          <a:p>
            <a:pPr indent="0" marL="0">
              <a:buNone/>
            </a:pPr>
            <a:r>
              <a:rPr lang="en-US" sz="2000" b="1" dirty="0">
                <a:solidFill>
                  <a:schemeClr val="tx2"/>
                </a:solidFill>
              </a:rPr>
              <a:t>ESP32 mesh networks are cheap and used in IoT monitoring, but attack research on them is done in simulation.</a:t>
            </a:r>
            <a:endParaRPr lang="en-US" sz="2000" dirty="0"/>
          </a:p>
        </p:txBody>
      </p:sp>
      <p:sp>
        <p:nvSpPr>
          <p:cNvPr id="4" name="Shape 2"/>
          <p:cNvSpPr/>
          <p:nvPr/>
        </p:nvSpPr>
        <p:spPr>
          <a:xfrm>
            <a:off x="548640" y="2148840"/>
            <a:ext cx="3520440" cy="2514600"/>
          </a:xfrm>
          <a:prstGeom prst="roundRect">
            <a:avLst>
              <a:gd name="adj" fmla="val 2909"/>
            </a:avLst>
          </a:prstGeom>
          <a:solidFill>
            <a:schemeClr val="bg2"/>
          </a:solidFill>
          <a:ln w="9525">
            <a:solidFill>
              <a:schemeClr val="bg2"/>
            </a:solidFill>
            <a:prstDash val="solid"/>
          </a:ln>
        </p:spPr>
      </p:sp>
      <p:sp>
        <p:nvSpPr>
          <p:cNvPr id="5" name="Shape 3"/>
          <p:cNvSpPr/>
          <p:nvPr/>
        </p:nvSpPr>
        <p:spPr>
          <a:xfrm>
            <a:off x="777240" y="2377440"/>
            <a:ext cx="502920" cy="502920"/>
          </a:xfrm>
          <a:prstGeom prst="ellipse">
            <a:avLst/>
          </a:prstGeom>
          <a:solidFill>
            <a:schemeClr val="accent1"/>
          </a:solidFill>
          <a:ln w="12700">
            <a:solidFill>
              <a:schemeClr val="accent1"/>
            </a:solidFill>
            <a:prstDash val="solid"/>
          </a:ln>
        </p:spPr>
      </p:sp>
      <p:sp>
        <p:nvSpPr>
          <p:cNvPr id="6" name="Text 4"/>
          <p:cNvSpPr txBox="1"/>
          <p:nvPr/>
        </p:nvSpPr>
        <p:spPr>
          <a:xfrm>
            <a:off x="777240" y="23774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417320" y="2350008"/>
            <a:ext cx="2514600" cy="566928"/>
          </a:xfrm>
          <a:prstGeom prst="rect">
            <a:avLst/>
          </a:prstGeom>
          <a:noFill/>
          <a:ln/>
        </p:spPr>
        <p:txBody>
          <a:bodyPr wrap="square" lIns="635" tIns="635" rIns="635" bIns="635" rtlCol="0" anchor="ctr"/>
          <a:lstStyle/>
          <a:p>
            <a:pPr indent="0" marL="0">
              <a:buNone/>
            </a:pPr>
            <a:r>
              <a:rPr lang="en-US" sz="1700" b="1" dirty="0">
                <a:solidFill>
                  <a:schemeClr val="tx2"/>
                </a:solidFill>
              </a:rPr>
              <a:t>Simulated data</a:t>
            </a:r>
            <a:endParaRPr lang="en-US" sz="1700" dirty="0"/>
          </a:p>
        </p:txBody>
      </p:sp>
      <p:sp>
        <p:nvSpPr>
          <p:cNvPr id="8" name="Text 6"/>
          <p:cNvSpPr txBox="1"/>
          <p:nvPr/>
        </p:nvSpPr>
        <p:spPr>
          <a:xfrm>
            <a:off x="822960" y="3017520"/>
            <a:ext cx="3017520" cy="1508760"/>
          </a:xfrm>
          <a:prstGeom prst="rect">
            <a:avLst/>
          </a:prstGeom>
          <a:noFill/>
          <a:ln/>
        </p:spPr>
        <p:txBody>
          <a:bodyPr wrap="square" lIns="635" tIns="635" rIns="635" bIns="635" rtlCol="0" anchor="t"/>
          <a:lstStyle/>
          <a:p>
            <a:pPr indent="0" marL="0">
              <a:buNone/>
            </a:pPr>
            <a:r>
              <a:rPr lang="en-US" sz="1600" dirty="0">
                <a:solidFill>
                  <a:schemeClr val="tx1"/>
                </a:solidFill>
              </a:rPr>
              <a:t>Most IDS datasets come from simulators or IP networks (KDD, NSL-KDD, UNR-IDD), not from mesh hardware.</a:t>
            </a:r>
            <a:endParaRPr lang="en-US" sz="1600" dirty="0"/>
          </a:p>
        </p:txBody>
      </p:sp>
      <p:sp>
        <p:nvSpPr>
          <p:cNvPr id="9" name="Shape 7"/>
          <p:cNvSpPr/>
          <p:nvPr/>
        </p:nvSpPr>
        <p:spPr>
          <a:xfrm>
            <a:off x="4297680" y="2148840"/>
            <a:ext cx="3520440" cy="2514600"/>
          </a:xfrm>
          <a:prstGeom prst="roundRect">
            <a:avLst>
              <a:gd name="adj" fmla="val 2909"/>
            </a:avLst>
          </a:prstGeom>
          <a:solidFill>
            <a:schemeClr val="bg2"/>
          </a:solidFill>
          <a:ln w="9525">
            <a:solidFill>
              <a:schemeClr val="bg2"/>
            </a:solidFill>
            <a:prstDash val="solid"/>
          </a:ln>
        </p:spPr>
      </p:sp>
      <p:sp>
        <p:nvSpPr>
          <p:cNvPr id="10" name="Shape 8"/>
          <p:cNvSpPr/>
          <p:nvPr/>
        </p:nvSpPr>
        <p:spPr>
          <a:xfrm>
            <a:off x="4526280" y="2377440"/>
            <a:ext cx="502920" cy="502920"/>
          </a:xfrm>
          <a:prstGeom prst="ellipse">
            <a:avLst/>
          </a:prstGeom>
          <a:solidFill>
            <a:schemeClr val="accent6"/>
          </a:solidFill>
          <a:ln w="12700">
            <a:solidFill>
              <a:schemeClr val="accent6"/>
            </a:solidFill>
            <a:prstDash val="solid"/>
          </a:ln>
        </p:spPr>
      </p:sp>
      <p:sp>
        <p:nvSpPr>
          <p:cNvPr id="11" name="Text 9"/>
          <p:cNvSpPr txBox="1"/>
          <p:nvPr/>
        </p:nvSpPr>
        <p:spPr>
          <a:xfrm>
            <a:off x="4526280" y="23774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5166360" y="2350008"/>
            <a:ext cx="2514600" cy="566928"/>
          </a:xfrm>
          <a:prstGeom prst="rect">
            <a:avLst/>
          </a:prstGeom>
          <a:noFill/>
          <a:ln/>
        </p:spPr>
        <p:txBody>
          <a:bodyPr wrap="square" lIns="635" tIns="635" rIns="635" bIns="635" rtlCol="0" anchor="ctr"/>
          <a:lstStyle/>
          <a:p>
            <a:pPr indent="0" marL="0">
              <a:buNone/>
            </a:pPr>
            <a:r>
              <a:rPr lang="en-US" sz="1700" b="1" dirty="0">
                <a:solidFill>
                  <a:schemeClr val="tx2"/>
                </a:solidFill>
              </a:rPr>
              <a:t>Missing layers</a:t>
            </a:r>
            <a:endParaRPr lang="en-US" sz="1700" dirty="0"/>
          </a:p>
        </p:txBody>
      </p:sp>
      <p:sp>
        <p:nvSpPr>
          <p:cNvPr id="13" name="Text 11"/>
          <p:cNvSpPr txBox="1"/>
          <p:nvPr/>
        </p:nvSpPr>
        <p:spPr>
          <a:xfrm>
            <a:off x="4572000" y="3017520"/>
            <a:ext cx="3017520" cy="1508760"/>
          </a:xfrm>
          <a:prstGeom prst="rect">
            <a:avLst/>
          </a:prstGeom>
          <a:noFill/>
          <a:ln/>
        </p:spPr>
        <p:txBody>
          <a:bodyPr wrap="square" lIns="635" tIns="635" rIns="635" bIns="635" rtlCol="0" anchor="t"/>
          <a:lstStyle/>
          <a:p>
            <a:pPr indent="0" marL="0">
              <a:buNone/>
            </a:pPr>
            <a:r>
              <a:rPr lang="en-US" sz="1600" dirty="0">
                <a:solidFill>
                  <a:schemeClr val="tx1"/>
                </a:solidFill>
              </a:rPr>
              <a:t>Packet or flow datasets do not hold the PHY, MAC and network signals of a microcontroller mesh together.</a:t>
            </a:r>
            <a:endParaRPr lang="en-US" sz="1600" dirty="0"/>
          </a:p>
        </p:txBody>
      </p:sp>
      <p:sp>
        <p:nvSpPr>
          <p:cNvPr id="14" name="Shape 12"/>
          <p:cNvSpPr/>
          <p:nvPr/>
        </p:nvSpPr>
        <p:spPr>
          <a:xfrm>
            <a:off x="8046720" y="2148840"/>
            <a:ext cx="3520440" cy="2514600"/>
          </a:xfrm>
          <a:prstGeom prst="roundRect">
            <a:avLst>
              <a:gd name="adj" fmla="val 2909"/>
            </a:avLst>
          </a:prstGeom>
          <a:solidFill>
            <a:schemeClr val="bg2"/>
          </a:solidFill>
          <a:ln w="9525">
            <a:solidFill>
              <a:schemeClr val="bg2"/>
            </a:solidFill>
            <a:prstDash val="solid"/>
          </a:ln>
        </p:spPr>
      </p:sp>
      <p:sp>
        <p:nvSpPr>
          <p:cNvPr id="15" name="Shape 13"/>
          <p:cNvSpPr/>
          <p:nvPr/>
        </p:nvSpPr>
        <p:spPr>
          <a:xfrm>
            <a:off x="8275320" y="2377440"/>
            <a:ext cx="502920" cy="502920"/>
          </a:xfrm>
          <a:prstGeom prst="ellipse">
            <a:avLst/>
          </a:prstGeom>
          <a:solidFill>
            <a:schemeClr val="accent3"/>
          </a:solidFill>
          <a:ln w="12700">
            <a:solidFill>
              <a:schemeClr val="accent3"/>
            </a:solidFill>
            <a:prstDash val="solid"/>
          </a:ln>
        </p:spPr>
      </p:sp>
      <p:sp>
        <p:nvSpPr>
          <p:cNvPr id="16" name="Text 14"/>
          <p:cNvSpPr txBox="1"/>
          <p:nvPr/>
        </p:nvSpPr>
        <p:spPr>
          <a:xfrm>
            <a:off x="8275320" y="23774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8915400" y="2350008"/>
            <a:ext cx="2514600" cy="566928"/>
          </a:xfrm>
          <a:prstGeom prst="rect">
            <a:avLst/>
          </a:prstGeom>
          <a:noFill/>
          <a:ln/>
        </p:spPr>
        <p:txBody>
          <a:bodyPr wrap="square" lIns="635" tIns="635" rIns="635" bIns="635" rtlCol="0" anchor="ctr"/>
          <a:lstStyle/>
          <a:p>
            <a:pPr indent="0" marL="0">
              <a:buNone/>
            </a:pPr>
            <a:r>
              <a:rPr lang="en-US" sz="1700" b="1" dirty="0">
                <a:solidFill>
                  <a:schemeClr val="tx2"/>
                </a:solidFill>
              </a:rPr>
              <a:t>Real attacks</a:t>
            </a:r>
            <a:endParaRPr lang="en-US" sz="1700" dirty="0"/>
          </a:p>
        </p:txBody>
      </p:sp>
      <p:sp>
        <p:nvSpPr>
          <p:cNvPr id="18" name="Text 16"/>
          <p:cNvSpPr txBox="1"/>
          <p:nvPr/>
        </p:nvSpPr>
        <p:spPr>
          <a:xfrm>
            <a:off x="8321040" y="3017520"/>
            <a:ext cx="3017520" cy="1508760"/>
          </a:xfrm>
          <a:prstGeom prst="rect">
            <a:avLst/>
          </a:prstGeom>
          <a:noFill/>
          <a:ln/>
        </p:spPr>
        <p:txBody>
          <a:bodyPr wrap="square" lIns="635" tIns="635" rIns="635" bIns="635" rtlCol="0" anchor="t"/>
          <a:lstStyle/>
          <a:p>
            <a:pPr indent="0" marL="0">
              <a:buNone/>
            </a:pPr>
            <a:r>
              <a:rPr lang="en-US" sz="1600" dirty="0">
                <a:solidFill>
                  <a:schemeClr val="tx1"/>
                </a:solidFill>
              </a:rPr>
              <a:t>Blackhole and wormhole attacks are well studied in theory; how they look on real ESP32 boards is not documented.</a:t>
            </a:r>
            <a:endParaRPr lang="en-US" sz="1600" dirty="0"/>
          </a:p>
        </p:txBody>
      </p:sp>
      <p:sp>
        <p:nvSpPr>
          <p:cNvPr id="19" name="Shape 17"/>
          <p:cNvSpPr/>
          <p:nvPr/>
        </p:nvSpPr>
        <p:spPr>
          <a:xfrm>
            <a:off x="548640" y="4892040"/>
            <a:ext cx="11064240" cy="1188720"/>
          </a:xfrm>
          <a:prstGeom prst="roundRect">
            <a:avLst>
              <a:gd name="adj" fmla="val 6154"/>
            </a:avLst>
          </a:prstGeom>
          <a:solidFill>
            <a:schemeClr val="bg1"/>
          </a:solidFill>
          <a:ln w="9525">
            <a:solidFill>
              <a:schemeClr val="accent1"/>
            </a:solidFill>
            <a:prstDash val="solid"/>
          </a:ln>
        </p:spPr>
      </p:sp>
      <p:sp>
        <p:nvSpPr>
          <p:cNvPr id="20" name="Text 18"/>
          <p:cNvSpPr txBox="1"/>
          <p:nvPr/>
        </p:nvSpPr>
        <p:spPr>
          <a:xfrm>
            <a:off x="777240" y="4983480"/>
            <a:ext cx="10607040" cy="1005840"/>
          </a:xfrm>
          <a:prstGeom prst="rect">
            <a:avLst/>
          </a:prstGeom>
          <a:noFill/>
          <a:ln/>
        </p:spPr>
        <p:txBody>
          <a:bodyPr wrap="square" lIns="635" tIns="635" rIns="635" bIns="635" rtlCol="0" anchor="ctr"/>
          <a:lstStyle/>
          <a:p>
            <a:pPr indent="0" marL="0">
              <a:buNone/>
            </a:pPr>
            <a:r>
              <a:rPr lang="en-US" sz="1700" b="1" dirty="0">
                <a:solidFill>
                  <a:schemeClr val="accent1"/>
                </a:solidFill>
              </a:rPr>
              <a:t>Gap this study fills: </a:t>
            </a:r>
            <a:pPr indent="0" marL="0">
              <a:buNone/>
            </a:pPr>
            <a:r>
              <a:rPr lang="en-US" sz="1700" dirty="0">
                <a:solidFill>
                  <a:schemeClr val="tx1"/>
                </a:solidFill>
              </a:rPr>
              <a:t>a hardware-derived, labelled, cross-layer dataset from a real ESP-WIFI-MESH network under normal operation and two controlled attacks.</a:t>
            </a:r>
            <a:endParaRPr lang="en-US" sz="17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Objectives and scope</a:t>
            </a:r>
            <a:endParaRPr lang="en-US" sz="3000" dirty="0"/>
          </a:p>
        </p:txBody>
      </p:sp>
      <p:sp>
        <p:nvSpPr>
          <p:cNvPr id="3" name="Shape 1"/>
          <p:cNvSpPr/>
          <p:nvPr/>
        </p:nvSpPr>
        <p:spPr>
          <a:xfrm>
            <a:off x="548640" y="1234440"/>
            <a:ext cx="5486400" cy="4846320"/>
          </a:xfrm>
          <a:prstGeom prst="roundRect">
            <a:avLst>
              <a:gd name="adj" fmla="val 1509"/>
            </a:avLst>
          </a:prstGeom>
          <a:solidFill>
            <a:schemeClr val="bg2"/>
          </a:solidFill>
          <a:ln w="9525">
            <a:solidFill>
              <a:schemeClr val="bg2"/>
            </a:solidFill>
            <a:prstDash val="solid"/>
          </a:ln>
        </p:spPr>
      </p:sp>
      <p:sp>
        <p:nvSpPr>
          <p:cNvPr id="4" name="Text 2"/>
          <p:cNvSpPr txBox="1"/>
          <p:nvPr/>
        </p:nvSpPr>
        <p:spPr>
          <a:xfrm>
            <a:off x="777240" y="1371600"/>
            <a:ext cx="5029200" cy="411480"/>
          </a:xfrm>
          <a:prstGeom prst="rect">
            <a:avLst/>
          </a:prstGeom>
          <a:noFill/>
          <a:ln/>
        </p:spPr>
        <p:txBody>
          <a:bodyPr wrap="square" lIns="635" tIns="635" rIns="635" bIns="635" rtlCol="0" anchor="t"/>
          <a:lstStyle/>
          <a:p>
            <a:pPr indent="0" marL="0">
              <a:buNone/>
            </a:pPr>
            <a:r>
              <a:rPr lang="en-US" sz="1800" b="1" dirty="0">
                <a:solidFill>
                  <a:schemeClr val="accent1"/>
                </a:solidFill>
              </a:rPr>
              <a:t>General objective</a:t>
            </a:r>
            <a:endParaRPr lang="en-US" sz="1800" dirty="0"/>
          </a:p>
        </p:txBody>
      </p:sp>
      <p:sp>
        <p:nvSpPr>
          <p:cNvPr id="5" name="Text 3"/>
          <p:cNvSpPr txBox="1"/>
          <p:nvPr/>
        </p:nvSpPr>
        <p:spPr>
          <a:xfrm>
            <a:off x="777240" y="1783080"/>
            <a:ext cx="5029200" cy="1097280"/>
          </a:xfrm>
          <a:prstGeom prst="rect">
            <a:avLst/>
          </a:prstGeom>
          <a:noFill/>
          <a:ln/>
        </p:spPr>
        <p:txBody>
          <a:bodyPr wrap="square" lIns="635" tIns="635" rIns="635" bIns="635" rtlCol="0" anchor="t"/>
          <a:lstStyle/>
          <a:p>
            <a:pPr indent="0" marL="0">
              <a:buNone/>
            </a:pPr>
            <a:r>
              <a:rPr lang="en-US" sz="1500" dirty="0">
                <a:solidFill>
                  <a:schemeClr val="tx1"/>
                </a:solidFill>
              </a:rPr>
              <a:t>Design, generate and analyse a cross-layer dataset from an ESP32 mesh to explore how normal operation differs from controlled attacks.</a:t>
            </a:r>
            <a:endParaRPr lang="en-US" sz="1500" dirty="0"/>
          </a:p>
        </p:txBody>
      </p:sp>
      <p:sp>
        <p:nvSpPr>
          <p:cNvPr id="6" name="Text 4"/>
          <p:cNvSpPr txBox="1"/>
          <p:nvPr/>
        </p:nvSpPr>
        <p:spPr>
          <a:xfrm>
            <a:off x="777240" y="2880360"/>
            <a:ext cx="5029200" cy="411480"/>
          </a:xfrm>
          <a:prstGeom prst="rect">
            <a:avLst/>
          </a:prstGeom>
          <a:noFill/>
          <a:ln/>
        </p:spPr>
        <p:txBody>
          <a:bodyPr wrap="square" lIns="635" tIns="635" rIns="635" bIns="635" rtlCol="0" anchor="t"/>
          <a:lstStyle/>
          <a:p>
            <a:pPr indent="0" marL="0">
              <a:buNone/>
            </a:pPr>
            <a:r>
              <a:rPr lang="en-US" sz="1800" b="1" dirty="0">
                <a:solidFill>
                  <a:schemeClr val="accent1"/>
                </a:solidFill>
              </a:rPr>
              <a:t>Specific objectives</a:t>
            </a:r>
            <a:endParaRPr lang="en-US" sz="1800" dirty="0"/>
          </a:p>
        </p:txBody>
      </p:sp>
      <p:sp>
        <p:nvSpPr>
          <p:cNvPr id="7" name="Shape 5"/>
          <p:cNvSpPr/>
          <p:nvPr/>
        </p:nvSpPr>
        <p:spPr>
          <a:xfrm>
            <a:off x="822960" y="3383280"/>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822960" y="33832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7"/>
          <p:cNvSpPr txBox="1"/>
          <p:nvPr/>
        </p:nvSpPr>
        <p:spPr>
          <a:xfrm>
            <a:off x="1417320" y="3337560"/>
            <a:ext cx="4434840" cy="594360"/>
          </a:xfrm>
          <a:prstGeom prst="rect">
            <a:avLst/>
          </a:prstGeom>
          <a:noFill/>
          <a:ln/>
        </p:spPr>
        <p:txBody>
          <a:bodyPr wrap="square" lIns="635" tIns="635" rIns="635" bIns="635" rtlCol="0" anchor="ctr"/>
          <a:lstStyle/>
          <a:p>
            <a:pPr indent="0" marL="0">
              <a:buNone/>
            </a:pPr>
            <a:r>
              <a:rPr lang="en-US" sz="1500" dirty="0">
                <a:solidFill>
                  <a:schemeClr val="tx1"/>
                </a:solidFill>
              </a:rPr>
              <a:t>Build an ESP32 mesh testbed with normal and attack traffic</a:t>
            </a:r>
            <a:endParaRPr lang="en-US" sz="1500" dirty="0"/>
          </a:p>
        </p:txBody>
      </p:sp>
      <p:sp>
        <p:nvSpPr>
          <p:cNvPr id="10" name="Shape 8"/>
          <p:cNvSpPr/>
          <p:nvPr/>
        </p:nvSpPr>
        <p:spPr>
          <a:xfrm>
            <a:off x="822960" y="4251960"/>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822960" y="42519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1417320" y="4206240"/>
            <a:ext cx="4434840" cy="594360"/>
          </a:xfrm>
          <a:prstGeom prst="rect">
            <a:avLst/>
          </a:prstGeom>
          <a:noFill/>
          <a:ln/>
        </p:spPr>
        <p:txBody>
          <a:bodyPr wrap="square" lIns="635" tIns="635" rIns="635" bIns="635" rtlCol="0" anchor="ctr"/>
          <a:lstStyle/>
          <a:p>
            <a:pPr indent="0" marL="0">
              <a:buNone/>
            </a:pPr>
            <a:r>
              <a:rPr lang="en-US" sz="1500" dirty="0">
                <a:solidFill>
                  <a:schemeClr val="tx1"/>
                </a:solidFill>
              </a:rPr>
              <a:t>Collect PHY, MAC and network features into a labelled dataset</a:t>
            </a:r>
            <a:endParaRPr lang="en-US" sz="1500" dirty="0"/>
          </a:p>
        </p:txBody>
      </p:sp>
      <p:sp>
        <p:nvSpPr>
          <p:cNvPr id="13" name="Shape 11"/>
          <p:cNvSpPr/>
          <p:nvPr/>
        </p:nvSpPr>
        <p:spPr>
          <a:xfrm>
            <a:off x="822960" y="5120640"/>
            <a:ext cx="457200" cy="457200"/>
          </a:xfrm>
          <a:prstGeom prst="ellipse">
            <a:avLst/>
          </a:prstGeom>
          <a:solidFill>
            <a:schemeClr val="accent1"/>
          </a:solidFill>
          <a:ln w="12700">
            <a:solidFill>
              <a:schemeClr val="accent1"/>
            </a:solidFill>
            <a:prstDash val="solid"/>
          </a:ln>
        </p:spPr>
      </p:sp>
      <p:sp>
        <p:nvSpPr>
          <p:cNvPr id="14" name="Text 12"/>
          <p:cNvSpPr txBox="1"/>
          <p:nvPr/>
        </p:nvSpPr>
        <p:spPr>
          <a:xfrm>
            <a:off x="822960" y="51206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3"/>
          <p:cNvSpPr txBox="1"/>
          <p:nvPr/>
        </p:nvSpPr>
        <p:spPr>
          <a:xfrm>
            <a:off x="1417320" y="5074920"/>
            <a:ext cx="4434840" cy="594360"/>
          </a:xfrm>
          <a:prstGeom prst="rect">
            <a:avLst/>
          </a:prstGeom>
          <a:noFill/>
          <a:ln/>
        </p:spPr>
        <p:txBody>
          <a:bodyPr wrap="square" lIns="635" tIns="635" rIns="635" bIns="635" rtlCol="0" anchor="ctr"/>
          <a:lstStyle/>
          <a:p>
            <a:pPr indent="0" marL="0">
              <a:buNone/>
            </a:pPr>
            <a:r>
              <a:rPr lang="en-US" sz="1500" dirty="0">
                <a:solidFill>
                  <a:schemeClr val="tx1"/>
                </a:solidFill>
              </a:rPr>
              <a:t>Check the dataset with EDA and unsupervised clustering</a:t>
            </a:r>
            <a:endParaRPr lang="en-US" sz="1500" dirty="0"/>
          </a:p>
        </p:txBody>
      </p:sp>
      <p:sp>
        <p:nvSpPr>
          <p:cNvPr id="16" name="Text 14"/>
          <p:cNvSpPr txBox="1"/>
          <p:nvPr/>
        </p:nvSpPr>
        <p:spPr>
          <a:xfrm>
            <a:off x="6400800" y="1234440"/>
            <a:ext cx="5212080" cy="411480"/>
          </a:xfrm>
          <a:prstGeom prst="rect">
            <a:avLst/>
          </a:prstGeom>
          <a:noFill/>
          <a:ln/>
        </p:spPr>
        <p:txBody>
          <a:bodyPr wrap="square" lIns="635" tIns="635" rIns="635" bIns="635" rtlCol="0" anchor="t"/>
          <a:lstStyle/>
          <a:p>
            <a:pPr indent="0" marL="0">
              <a:buNone/>
            </a:pPr>
            <a:r>
              <a:rPr lang="en-US" sz="1800" b="1" dirty="0">
                <a:solidFill>
                  <a:schemeClr val="tx2"/>
                </a:solidFill>
              </a:rPr>
              <a:t>Scope</a:t>
            </a:r>
            <a:endParaRPr lang="en-US" sz="1800" dirty="0"/>
          </a:p>
        </p:txBody>
      </p:sp>
      <p:sp>
        <p:nvSpPr>
          <p:cNvPr id="17" name="Text 15"/>
          <p:cNvSpPr txBox="1"/>
          <p:nvPr/>
        </p:nvSpPr>
        <p:spPr>
          <a:xfrm>
            <a:off x="6400800" y="1737360"/>
            <a:ext cx="5212080" cy="420624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chemeClr val="tx1"/>
                </a:solidFill>
              </a:rPr>
              <a:t>Two attacks: blackhole (forwarding suppression) and wormhole (out-of-band tunnel), emulated at the application layer</a:t>
            </a:r>
            <a:endParaRPr lang="en-US" sz="1600" dirty="0"/>
          </a:p>
          <a:p>
            <a:pPr marL="342900" indent="-342900">
              <a:spcAft>
                <a:spcPts val="600"/>
              </a:spcAft>
              <a:buSzPct val="100000"/>
              <a:buChar char="•"/>
            </a:pPr>
            <a:r>
              <a:rPr lang="en-US" sz="1600" dirty="0">
                <a:solidFill>
                  <a:schemeClr val="tx1"/>
                </a:solidFill>
              </a:rPr>
              <a:t>8 ESP32 boards per run: one root and seven children</a:t>
            </a:r>
            <a:endParaRPr lang="en-US" sz="1600" dirty="0"/>
          </a:p>
          <a:p>
            <a:pPr marL="342900" indent="-342900">
              <a:spcAft>
                <a:spcPts val="600"/>
              </a:spcAft>
              <a:buSzPct val="100000"/>
              <a:buChar char="•"/>
            </a:pPr>
            <a:r>
              <a:rPr lang="en-US" sz="1600" dirty="0">
                <a:solidFill>
                  <a:schemeClr val="tx1"/>
                </a:solidFill>
              </a:rPr>
              <a:t>Three indoor DLSU sites on an isolated mesh</a:t>
            </a:r>
            <a:endParaRPr lang="en-US" sz="1600" dirty="0"/>
          </a:p>
          <a:p>
            <a:pPr marL="342900" indent="-342900">
              <a:spcAft>
                <a:spcPts val="600"/>
              </a:spcAft>
              <a:buSzPct val="100000"/>
              <a:buChar char="•"/>
            </a:pPr>
            <a:r>
              <a:rPr lang="en-US" sz="1600" dirty="0">
                <a:solidFill>
                  <a:schemeClr val="tx1"/>
                </a:solidFill>
              </a:rPr>
              <a:t>A dataset and its exploratory analysis — not an intrusion detection system</a:t>
            </a:r>
            <a:endParaRPr lang="en-US" sz="16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What the literature told us (Chapter 2)</a:t>
            </a:r>
            <a:endParaRPr lang="en-US" sz="3000" dirty="0"/>
          </a:p>
        </p:txBody>
      </p:sp>
      <p:sp>
        <p:nvSpPr>
          <p:cNvPr id="3" name="Shape 1"/>
          <p:cNvSpPr/>
          <p:nvPr/>
        </p:nvSpPr>
        <p:spPr>
          <a:xfrm>
            <a:off x="548640" y="1280160"/>
            <a:ext cx="5440680" cy="2240280"/>
          </a:xfrm>
          <a:prstGeom prst="roundRect">
            <a:avLst>
              <a:gd name="adj" fmla="val 3265"/>
            </a:avLst>
          </a:prstGeom>
          <a:solidFill>
            <a:schemeClr val="bg2"/>
          </a:solidFill>
          <a:ln w="9525">
            <a:solidFill>
              <a:schemeClr val="bg2"/>
            </a:solidFill>
            <a:prstDash val="solid"/>
          </a:ln>
        </p:spPr>
      </p:sp>
      <p:sp>
        <p:nvSpPr>
          <p:cNvPr id="4" name="Shape 2"/>
          <p:cNvSpPr/>
          <p:nvPr/>
        </p:nvSpPr>
        <p:spPr>
          <a:xfrm>
            <a:off x="777240" y="1508760"/>
            <a:ext cx="502920" cy="502920"/>
          </a:xfrm>
          <a:prstGeom prst="ellipse">
            <a:avLst/>
          </a:prstGeom>
          <a:solidFill>
            <a:schemeClr val="accent6"/>
          </a:solidFill>
          <a:ln w="12700">
            <a:solidFill>
              <a:schemeClr val="accent6"/>
            </a:solidFill>
            <a:prstDash val="solid"/>
          </a:ln>
        </p:spPr>
      </p:sp>
      <p:sp>
        <p:nvSpPr>
          <p:cNvPr id="5" name="Text 3"/>
          <p:cNvSpPr txBox="1"/>
          <p:nvPr/>
        </p:nvSpPr>
        <p:spPr>
          <a:xfrm>
            <a:off x="777240" y="15087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417320" y="1481328"/>
            <a:ext cx="4434840" cy="566928"/>
          </a:xfrm>
          <a:prstGeom prst="rect">
            <a:avLst/>
          </a:prstGeom>
          <a:noFill/>
          <a:ln/>
        </p:spPr>
        <p:txBody>
          <a:bodyPr wrap="square" lIns="635" tIns="635" rIns="635" bIns="635" rtlCol="0" anchor="ctr"/>
          <a:lstStyle/>
          <a:p>
            <a:pPr indent="0" marL="0">
              <a:buNone/>
            </a:pPr>
            <a:r>
              <a:rPr lang="en-US" sz="1700" b="1" dirty="0">
                <a:solidFill>
                  <a:schemeClr val="tx2"/>
                </a:solidFill>
              </a:rPr>
              <a:t>Attacks</a:t>
            </a:r>
            <a:endParaRPr lang="en-US" sz="1700" dirty="0"/>
          </a:p>
        </p:txBody>
      </p:sp>
      <p:sp>
        <p:nvSpPr>
          <p:cNvPr id="7" name="Text 5"/>
          <p:cNvSpPr txBox="1"/>
          <p:nvPr/>
        </p:nvSpPr>
        <p:spPr>
          <a:xfrm>
            <a:off x="822960" y="2148840"/>
            <a:ext cx="4937760" cy="1234440"/>
          </a:xfrm>
          <a:prstGeom prst="rect">
            <a:avLst/>
          </a:prstGeom>
          <a:noFill/>
          <a:ln/>
        </p:spPr>
        <p:txBody>
          <a:bodyPr wrap="square" lIns="635" tIns="635" rIns="635" bIns="635" rtlCol="0" anchor="t"/>
          <a:lstStyle/>
          <a:p>
            <a:pPr indent="0" marL="0">
              <a:buNone/>
            </a:pPr>
            <a:r>
              <a:rPr lang="en-US" sz="1600" dirty="0">
                <a:solidFill>
                  <a:schemeClr val="tx1"/>
                </a:solidFill>
              </a:rPr>
              <a:t>Blackhole and wormhole detection is mature in simulation (e.g. Bhatti: 98–99% in ns-2), weaker on real systems.</a:t>
            </a:r>
            <a:endParaRPr lang="en-US" sz="1600" dirty="0"/>
          </a:p>
        </p:txBody>
      </p:sp>
      <p:sp>
        <p:nvSpPr>
          <p:cNvPr id="8" name="Shape 6"/>
          <p:cNvSpPr/>
          <p:nvPr/>
        </p:nvSpPr>
        <p:spPr>
          <a:xfrm>
            <a:off x="6172200" y="1280160"/>
            <a:ext cx="5440680" cy="2240280"/>
          </a:xfrm>
          <a:prstGeom prst="roundRect">
            <a:avLst>
              <a:gd name="adj" fmla="val 3265"/>
            </a:avLst>
          </a:prstGeom>
          <a:solidFill>
            <a:schemeClr val="bg2"/>
          </a:solidFill>
          <a:ln w="9525">
            <a:solidFill>
              <a:schemeClr val="bg2"/>
            </a:solidFill>
            <a:prstDash val="solid"/>
          </a:ln>
        </p:spPr>
      </p:sp>
      <p:sp>
        <p:nvSpPr>
          <p:cNvPr id="9" name="Shape 7"/>
          <p:cNvSpPr/>
          <p:nvPr/>
        </p:nvSpPr>
        <p:spPr>
          <a:xfrm>
            <a:off x="6400800" y="1508760"/>
            <a:ext cx="502920" cy="502920"/>
          </a:xfrm>
          <a:prstGeom prst="ellipse">
            <a:avLst/>
          </a:prstGeom>
          <a:solidFill>
            <a:schemeClr val="accent6"/>
          </a:solidFill>
          <a:ln w="12700">
            <a:solidFill>
              <a:schemeClr val="accent6"/>
            </a:solidFill>
            <a:prstDash val="solid"/>
          </a:ln>
        </p:spPr>
      </p:sp>
      <p:sp>
        <p:nvSpPr>
          <p:cNvPr id="10" name="Text 8"/>
          <p:cNvSpPr txBox="1"/>
          <p:nvPr/>
        </p:nvSpPr>
        <p:spPr>
          <a:xfrm>
            <a:off x="6400800" y="15087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7040880" y="1481328"/>
            <a:ext cx="4434840" cy="566928"/>
          </a:xfrm>
          <a:prstGeom prst="rect">
            <a:avLst/>
          </a:prstGeom>
          <a:noFill/>
          <a:ln/>
        </p:spPr>
        <p:txBody>
          <a:bodyPr wrap="square" lIns="635" tIns="635" rIns="635" bIns="635" rtlCol="0" anchor="ctr"/>
          <a:lstStyle/>
          <a:p>
            <a:pPr indent="0" marL="0">
              <a:buNone/>
            </a:pPr>
            <a:r>
              <a:rPr lang="en-US" sz="1700" b="1" dirty="0">
                <a:solidFill>
                  <a:schemeClr val="tx2"/>
                </a:solidFill>
              </a:rPr>
              <a:t>Datasets</a:t>
            </a:r>
            <a:endParaRPr lang="en-US" sz="1700" dirty="0"/>
          </a:p>
        </p:txBody>
      </p:sp>
      <p:sp>
        <p:nvSpPr>
          <p:cNvPr id="12" name="Text 10"/>
          <p:cNvSpPr txBox="1"/>
          <p:nvPr/>
        </p:nvSpPr>
        <p:spPr>
          <a:xfrm>
            <a:off x="6446520" y="2148840"/>
            <a:ext cx="4937760" cy="1234440"/>
          </a:xfrm>
          <a:prstGeom prst="rect">
            <a:avLst/>
          </a:prstGeom>
          <a:noFill/>
          <a:ln/>
        </p:spPr>
        <p:txBody>
          <a:bodyPr wrap="square" lIns="635" tIns="635" rIns="635" bIns="635" rtlCol="0" anchor="t"/>
          <a:lstStyle/>
          <a:p>
            <a:pPr indent="0" marL="0">
              <a:buNone/>
            </a:pPr>
            <a:r>
              <a:rPr lang="en-US" sz="1600" dirty="0">
                <a:solidFill>
                  <a:schemeClr val="tx1"/>
                </a:solidFill>
              </a:rPr>
              <a:t>Existing datasets lack ESP-WIFI-MESH behaviour, cross-layer metrics, real-hardware attacks and several topologies.</a:t>
            </a:r>
            <a:endParaRPr lang="en-US" sz="1600" dirty="0"/>
          </a:p>
        </p:txBody>
      </p:sp>
      <p:sp>
        <p:nvSpPr>
          <p:cNvPr id="13" name="Shape 11"/>
          <p:cNvSpPr/>
          <p:nvPr/>
        </p:nvSpPr>
        <p:spPr>
          <a:xfrm>
            <a:off x="548640" y="3749040"/>
            <a:ext cx="5440680" cy="2240280"/>
          </a:xfrm>
          <a:prstGeom prst="roundRect">
            <a:avLst>
              <a:gd name="adj" fmla="val 3265"/>
            </a:avLst>
          </a:prstGeom>
          <a:solidFill>
            <a:schemeClr val="bg2"/>
          </a:solidFill>
          <a:ln w="9525">
            <a:solidFill>
              <a:schemeClr val="bg2"/>
            </a:solidFill>
            <a:prstDash val="solid"/>
          </a:ln>
        </p:spPr>
      </p:sp>
      <p:sp>
        <p:nvSpPr>
          <p:cNvPr id="14" name="Shape 12"/>
          <p:cNvSpPr/>
          <p:nvPr/>
        </p:nvSpPr>
        <p:spPr>
          <a:xfrm>
            <a:off x="777240" y="3977640"/>
            <a:ext cx="502920" cy="502920"/>
          </a:xfrm>
          <a:prstGeom prst="ellipse">
            <a:avLst/>
          </a:prstGeom>
          <a:solidFill>
            <a:schemeClr val="accent6"/>
          </a:solidFill>
          <a:ln w="12700">
            <a:solidFill>
              <a:schemeClr val="accent6"/>
            </a:solidFill>
            <a:prstDash val="solid"/>
          </a:ln>
        </p:spPr>
      </p:sp>
      <p:sp>
        <p:nvSpPr>
          <p:cNvPr id="15" name="Text 13"/>
          <p:cNvSpPr txBox="1"/>
          <p:nvPr/>
        </p:nvSpPr>
        <p:spPr>
          <a:xfrm>
            <a:off x="777240" y="3977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1417320" y="3950208"/>
            <a:ext cx="4434840" cy="566928"/>
          </a:xfrm>
          <a:prstGeom prst="rect">
            <a:avLst/>
          </a:prstGeom>
          <a:noFill/>
          <a:ln/>
        </p:spPr>
        <p:txBody>
          <a:bodyPr wrap="square" lIns="635" tIns="635" rIns="635" bIns="635" rtlCol="0" anchor="ctr"/>
          <a:lstStyle/>
          <a:p>
            <a:pPr indent="0" marL="0">
              <a:buNone/>
            </a:pPr>
            <a:r>
              <a:rPr lang="en-US" sz="1700" b="1" dirty="0">
                <a:solidFill>
                  <a:schemeClr val="tx2"/>
                </a:solidFill>
              </a:rPr>
              <a:t>Platform</a:t>
            </a:r>
            <a:endParaRPr lang="en-US" sz="1700" dirty="0"/>
          </a:p>
        </p:txBody>
      </p:sp>
      <p:sp>
        <p:nvSpPr>
          <p:cNvPr id="17" name="Text 15"/>
          <p:cNvSpPr txBox="1"/>
          <p:nvPr/>
        </p:nvSpPr>
        <p:spPr>
          <a:xfrm>
            <a:off x="822960" y="4617720"/>
            <a:ext cx="4937760" cy="1234440"/>
          </a:xfrm>
          <a:prstGeom prst="rect">
            <a:avLst/>
          </a:prstGeom>
          <a:noFill/>
          <a:ln/>
        </p:spPr>
        <p:txBody>
          <a:bodyPr wrap="square" lIns="635" tIns="635" rIns="635" bIns="635" rtlCol="0" anchor="t"/>
          <a:lstStyle/>
          <a:p>
            <a:pPr indent="0" marL="0">
              <a:buNone/>
            </a:pPr>
            <a:r>
              <a:rPr lang="en-US" sz="1600" dirty="0">
                <a:solidFill>
                  <a:schemeClr val="tx1"/>
                </a:solidFill>
              </a:rPr>
              <a:t>ESP32 mesh is proven in the field: Khan et al. report delivery above 97% on a campus deployment.</a:t>
            </a:r>
            <a:endParaRPr lang="en-US" sz="1600" dirty="0"/>
          </a:p>
        </p:txBody>
      </p:sp>
      <p:sp>
        <p:nvSpPr>
          <p:cNvPr id="18" name="Shape 16"/>
          <p:cNvSpPr/>
          <p:nvPr/>
        </p:nvSpPr>
        <p:spPr>
          <a:xfrm>
            <a:off x="6172200" y="3749040"/>
            <a:ext cx="5440680" cy="2240280"/>
          </a:xfrm>
          <a:prstGeom prst="roundRect">
            <a:avLst>
              <a:gd name="adj" fmla="val 3265"/>
            </a:avLst>
          </a:prstGeom>
          <a:solidFill>
            <a:schemeClr val="bg2"/>
          </a:solidFill>
          <a:ln w="9525">
            <a:solidFill>
              <a:schemeClr val="bg2"/>
            </a:solidFill>
            <a:prstDash val="solid"/>
          </a:ln>
        </p:spPr>
      </p:sp>
      <p:sp>
        <p:nvSpPr>
          <p:cNvPr id="19" name="Shape 17"/>
          <p:cNvSpPr/>
          <p:nvPr/>
        </p:nvSpPr>
        <p:spPr>
          <a:xfrm>
            <a:off x="6400800" y="3977640"/>
            <a:ext cx="502920" cy="502920"/>
          </a:xfrm>
          <a:prstGeom prst="ellipse">
            <a:avLst/>
          </a:prstGeom>
          <a:solidFill>
            <a:schemeClr val="accent6"/>
          </a:solidFill>
          <a:ln w="12700">
            <a:solidFill>
              <a:schemeClr val="accent6"/>
            </a:solidFill>
            <a:prstDash val="solid"/>
          </a:ln>
        </p:spPr>
      </p:sp>
      <p:sp>
        <p:nvSpPr>
          <p:cNvPr id="20" name="Text 18"/>
          <p:cNvSpPr txBox="1"/>
          <p:nvPr/>
        </p:nvSpPr>
        <p:spPr>
          <a:xfrm>
            <a:off x="6400800" y="3977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7040880" y="3950208"/>
            <a:ext cx="4434840" cy="566928"/>
          </a:xfrm>
          <a:prstGeom prst="rect">
            <a:avLst/>
          </a:prstGeom>
          <a:noFill/>
          <a:ln/>
        </p:spPr>
        <p:txBody>
          <a:bodyPr wrap="square" lIns="635" tIns="635" rIns="635" bIns="635" rtlCol="0" anchor="ctr"/>
          <a:lstStyle/>
          <a:p>
            <a:pPr indent="0" marL="0">
              <a:buNone/>
            </a:pPr>
            <a:r>
              <a:rPr lang="en-US" sz="1700" b="1" dirty="0">
                <a:solidFill>
                  <a:schemeClr val="tx2"/>
                </a:solidFill>
              </a:rPr>
              <a:t>Method</a:t>
            </a:r>
            <a:endParaRPr lang="en-US" sz="1700" dirty="0"/>
          </a:p>
        </p:txBody>
      </p:sp>
      <p:sp>
        <p:nvSpPr>
          <p:cNvPr id="22" name="Text 20"/>
          <p:cNvSpPr txBox="1"/>
          <p:nvPr/>
        </p:nvSpPr>
        <p:spPr>
          <a:xfrm>
            <a:off x="6446520" y="4617720"/>
            <a:ext cx="4937760" cy="1234440"/>
          </a:xfrm>
          <a:prstGeom prst="rect">
            <a:avLst/>
          </a:prstGeom>
          <a:noFill/>
          <a:ln/>
        </p:spPr>
        <p:txBody>
          <a:bodyPr wrap="square" lIns="635" tIns="635" rIns="635" bIns="635" rtlCol="0" anchor="t"/>
          <a:lstStyle/>
          <a:p>
            <a:pPr indent="0" marL="0">
              <a:buNone/>
            </a:pPr>
            <a:r>
              <a:rPr lang="en-US" sz="1600" dirty="0">
                <a:solidFill>
                  <a:schemeClr val="tx1"/>
                </a:solidFill>
              </a:rPr>
              <a:t>Labelled attack data is scarce in IoT, which motivates EDA and unsupervised clustering.</a:t>
            </a:r>
            <a:endParaRPr lang="en-US" sz="16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The idea behind the dataset (Chapter 3)</a:t>
            </a:r>
            <a:endParaRPr lang="en-US" sz="3000" dirty="0"/>
          </a:p>
        </p:txBody>
      </p:sp>
      <p:sp>
        <p:nvSpPr>
          <p:cNvPr id="3" name="Text 1"/>
          <p:cNvSpPr txBox="1"/>
          <p:nvPr/>
        </p:nvSpPr>
        <p:spPr>
          <a:xfrm>
            <a:off x="548640" y="1188720"/>
            <a:ext cx="11064240" cy="731520"/>
          </a:xfrm>
          <a:prstGeom prst="rect">
            <a:avLst/>
          </a:prstGeom>
          <a:noFill/>
          <a:ln/>
        </p:spPr>
        <p:txBody>
          <a:bodyPr wrap="square" lIns="635" tIns="635" rIns="635" bIns="635" rtlCol="0" anchor="t"/>
          <a:lstStyle/>
          <a:p>
            <a:pPr indent="0" marL="0">
              <a:buNone/>
            </a:pPr>
            <a:r>
              <a:rPr lang="en-US" sz="1800" b="1" dirty="0">
                <a:solidFill>
                  <a:schemeClr val="tx2"/>
                </a:solidFill>
              </a:rPr>
              <a:t>Normal mesh traffic keeps a set of cross-layer relationships. An attack breaks some of them, and the features measure the break.</a:t>
            </a:r>
            <a:endParaRPr lang="en-US" sz="1800" dirty="0"/>
          </a:p>
        </p:txBody>
      </p:sp>
      <p:sp>
        <p:nvSpPr>
          <p:cNvPr id="4" name="Text 2"/>
          <p:cNvSpPr txBox="1"/>
          <p:nvPr/>
        </p:nvSpPr>
        <p:spPr>
          <a:xfrm>
            <a:off x="548640" y="2057400"/>
            <a:ext cx="3108960" cy="365760"/>
          </a:xfrm>
          <a:prstGeom prst="rect">
            <a:avLst/>
          </a:prstGeom>
          <a:noFill/>
          <a:ln/>
        </p:spPr>
        <p:txBody>
          <a:bodyPr wrap="square" lIns="635" tIns="635" rIns="635" bIns="635" rtlCol="0" anchor="t"/>
          <a:lstStyle/>
          <a:p>
            <a:pPr indent="0" marL="0">
              <a:buNone/>
            </a:pPr>
            <a:r>
              <a:rPr lang="en-US" sz="1400" b="1" dirty="0">
                <a:solidFill>
                  <a:schemeClr val="accent5"/>
                </a:solidFill>
              </a:rPr>
              <a:t>Relationship</a:t>
            </a:r>
            <a:endParaRPr lang="en-US" sz="1400" dirty="0"/>
          </a:p>
        </p:txBody>
      </p:sp>
      <p:sp>
        <p:nvSpPr>
          <p:cNvPr id="5" name="Text 3"/>
          <p:cNvSpPr txBox="1"/>
          <p:nvPr/>
        </p:nvSpPr>
        <p:spPr>
          <a:xfrm>
            <a:off x="3840480" y="2057400"/>
            <a:ext cx="3657600" cy="365760"/>
          </a:xfrm>
          <a:prstGeom prst="rect">
            <a:avLst/>
          </a:prstGeom>
          <a:noFill/>
          <a:ln/>
        </p:spPr>
        <p:txBody>
          <a:bodyPr wrap="square" lIns="635" tIns="635" rIns="635" bIns="635" rtlCol="0" anchor="t"/>
          <a:lstStyle/>
          <a:p>
            <a:pPr indent="0" marL="0">
              <a:buNone/>
            </a:pPr>
            <a:r>
              <a:rPr lang="en-US" sz="1400" b="1" dirty="0">
                <a:solidFill>
                  <a:schemeClr val="accent5"/>
                </a:solidFill>
              </a:rPr>
              <a:t>Under normal operation</a:t>
            </a:r>
            <a:endParaRPr lang="en-US" sz="1400" dirty="0"/>
          </a:p>
        </p:txBody>
      </p:sp>
      <p:sp>
        <p:nvSpPr>
          <p:cNvPr id="6" name="Text 4"/>
          <p:cNvSpPr txBox="1"/>
          <p:nvPr/>
        </p:nvSpPr>
        <p:spPr>
          <a:xfrm>
            <a:off x="7863840" y="2057400"/>
            <a:ext cx="3749040" cy="365760"/>
          </a:xfrm>
          <a:prstGeom prst="rect">
            <a:avLst/>
          </a:prstGeom>
          <a:noFill/>
          <a:ln/>
        </p:spPr>
        <p:txBody>
          <a:bodyPr wrap="square" lIns="635" tIns="635" rIns="635" bIns="635" rtlCol="0" anchor="t"/>
          <a:lstStyle/>
          <a:p>
            <a:pPr indent="0" marL="0">
              <a:buNone/>
            </a:pPr>
            <a:r>
              <a:rPr lang="en-US" sz="1400" b="1" dirty="0">
                <a:solidFill>
                  <a:schemeClr val="accent5"/>
                </a:solidFill>
              </a:rPr>
              <a:t>When it breaks</a:t>
            </a:r>
            <a:endParaRPr lang="en-US" sz="1400" dirty="0"/>
          </a:p>
        </p:txBody>
      </p:sp>
      <p:sp>
        <p:nvSpPr>
          <p:cNvPr id="7" name="Shape 5"/>
          <p:cNvSpPr/>
          <p:nvPr/>
        </p:nvSpPr>
        <p:spPr>
          <a:xfrm>
            <a:off x="548640" y="2468880"/>
            <a:ext cx="11064240" cy="777240"/>
          </a:xfrm>
          <a:prstGeom prst="roundRect">
            <a:avLst>
              <a:gd name="adj" fmla="val 9412"/>
            </a:avLst>
          </a:prstGeom>
          <a:solidFill>
            <a:schemeClr val="bg2"/>
          </a:solidFill>
          <a:ln w="9525">
            <a:solidFill>
              <a:schemeClr val="bg2"/>
            </a:solidFill>
            <a:prstDash val="solid"/>
          </a:ln>
        </p:spPr>
      </p:sp>
      <p:sp>
        <p:nvSpPr>
          <p:cNvPr id="8" name="Shape 6"/>
          <p:cNvSpPr/>
          <p:nvPr/>
        </p:nvSpPr>
        <p:spPr>
          <a:xfrm>
            <a:off x="685800" y="2651760"/>
            <a:ext cx="411480" cy="411480"/>
          </a:xfrm>
          <a:prstGeom prst="ellipse">
            <a:avLst/>
          </a:prstGeom>
          <a:solidFill>
            <a:schemeClr val="accent3"/>
          </a:solidFill>
          <a:ln w="12700">
            <a:solidFill>
              <a:schemeClr val="accent3"/>
            </a:solidFill>
            <a:prstDash val="solid"/>
          </a:ln>
        </p:spPr>
      </p:sp>
      <p:sp>
        <p:nvSpPr>
          <p:cNvPr id="9" name="Text 7"/>
          <p:cNvSpPr txBox="1"/>
          <p:nvPr/>
        </p:nvSpPr>
        <p:spPr>
          <a:xfrm>
            <a:off x="685800" y="2651760"/>
            <a:ext cx="411480" cy="411480"/>
          </a:xfrm>
          <a:prstGeom prst="rect">
            <a:avLst/>
          </a:prstGeom>
          <a:noFill/>
          <a:ln/>
        </p:spPr>
        <p:txBody>
          <a:bodyPr wrap="square" lIns="0" tIns="0" rIns="0" bIns="0" rtlCol="0" anchor="ctr"/>
          <a:lstStyle/>
          <a:p>
            <a:pPr algn="ctr" indent="0" marL="0">
              <a:buNone/>
            </a:pPr>
            <a:endParaRPr lang="en-US" sz="1600" dirty="0"/>
          </a:p>
        </p:txBody>
      </p:sp>
      <p:sp>
        <p:nvSpPr>
          <p:cNvPr id="10" name="Text 8"/>
          <p:cNvSpPr txBox="1"/>
          <p:nvPr/>
        </p:nvSpPr>
        <p:spPr>
          <a:xfrm>
            <a:off x="1234440" y="2468880"/>
            <a:ext cx="2514600" cy="777240"/>
          </a:xfrm>
          <a:prstGeom prst="rect">
            <a:avLst/>
          </a:prstGeom>
          <a:noFill/>
          <a:ln/>
        </p:spPr>
        <p:txBody>
          <a:bodyPr wrap="square" lIns="635" tIns="635" rIns="635" bIns="635" rtlCol="0" anchor="ctr"/>
          <a:lstStyle/>
          <a:p>
            <a:pPr indent="0" marL="0">
              <a:buNone/>
            </a:pPr>
            <a:r>
              <a:rPr lang="en-US" sz="1600" b="1" dirty="0">
                <a:solidFill>
                  <a:schemeClr val="tx2"/>
                </a:solidFill>
              </a:rPr>
              <a:t>Received ≈ forwarded</a:t>
            </a:r>
            <a:endParaRPr lang="en-US" sz="1600" dirty="0"/>
          </a:p>
        </p:txBody>
      </p:sp>
      <p:sp>
        <p:nvSpPr>
          <p:cNvPr id="11" name="Text 9"/>
          <p:cNvSpPr txBox="1"/>
          <p:nvPr/>
        </p:nvSpPr>
        <p:spPr>
          <a:xfrm>
            <a:off x="3840480" y="2468880"/>
            <a:ext cx="3840480" cy="777240"/>
          </a:xfrm>
          <a:prstGeom prst="rect">
            <a:avLst/>
          </a:prstGeom>
          <a:noFill/>
          <a:ln/>
        </p:spPr>
        <p:txBody>
          <a:bodyPr wrap="square" lIns="635" tIns="635" rIns="635" bIns="635" rtlCol="0" anchor="ctr"/>
          <a:lstStyle/>
          <a:p>
            <a:pPr indent="0" marL="0">
              <a:buNone/>
            </a:pPr>
            <a:r>
              <a:rPr lang="en-US" sz="1500" dirty="0">
                <a:solidFill>
                  <a:schemeClr val="tx1"/>
                </a:solidFill>
              </a:rPr>
              <a:t>Every relay passes on what it gets</a:t>
            </a:r>
            <a:endParaRPr lang="en-US" sz="1500" dirty="0"/>
          </a:p>
        </p:txBody>
      </p:sp>
      <p:sp>
        <p:nvSpPr>
          <p:cNvPr id="12" name="Text 10"/>
          <p:cNvSpPr txBox="1"/>
          <p:nvPr/>
        </p:nvSpPr>
        <p:spPr>
          <a:xfrm>
            <a:off x="7863840" y="2468880"/>
            <a:ext cx="3657600" cy="777240"/>
          </a:xfrm>
          <a:prstGeom prst="rect">
            <a:avLst/>
          </a:prstGeom>
          <a:noFill/>
          <a:ln/>
        </p:spPr>
        <p:txBody>
          <a:bodyPr wrap="square" lIns="635" tIns="635" rIns="635" bIns="635" rtlCol="0" anchor="ctr"/>
          <a:lstStyle/>
          <a:p>
            <a:pPr indent="0" marL="0">
              <a:buNone/>
            </a:pPr>
            <a:r>
              <a:rPr lang="en-US" sz="1500" b="1" dirty="0">
                <a:solidFill>
                  <a:schemeClr val="accent3"/>
                </a:solidFill>
              </a:rPr>
              <a:t>Blackhole: received ≫ forwarded</a:t>
            </a:r>
            <a:endParaRPr lang="en-US" sz="1500" dirty="0"/>
          </a:p>
        </p:txBody>
      </p:sp>
      <p:sp>
        <p:nvSpPr>
          <p:cNvPr id="13" name="Shape 11"/>
          <p:cNvSpPr/>
          <p:nvPr/>
        </p:nvSpPr>
        <p:spPr>
          <a:xfrm>
            <a:off x="548640" y="3383280"/>
            <a:ext cx="11064240" cy="777240"/>
          </a:xfrm>
          <a:prstGeom prst="roundRect">
            <a:avLst>
              <a:gd name="adj" fmla="val 9412"/>
            </a:avLst>
          </a:prstGeom>
          <a:solidFill>
            <a:schemeClr val="bg2"/>
          </a:solidFill>
          <a:ln w="9525">
            <a:solidFill>
              <a:schemeClr val="bg2"/>
            </a:solidFill>
            <a:prstDash val="solid"/>
          </a:ln>
        </p:spPr>
      </p:sp>
      <p:sp>
        <p:nvSpPr>
          <p:cNvPr id="14" name="Shape 12"/>
          <p:cNvSpPr/>
          <p:nvPr/>
        </p:nvSpPr>
        <p:spPr>
          <a:xfrm>
            <a:off x="685800" y="3566160"/>
            <a:ext cx="411480" cy="411480"/>
          </a:xfrm>
          <a:prstGeom prst="ellipse">
            <a:avLst/>
          </a:prstGeom>
          <a:solidFill>
            <a:schemeClr val="accent2"/>
          </a:solidFill>
          <a:ln w="12700">
            <a:solidFill>
              <a:schemeClr val="accent2"/>
            </a:solidFill>
            <a:prstDash val="solid"/>
          </a:ln>
        </p:spPr>
      </p:sp>
      <p:sp>
        <p:nvSpPr>
          <p:cNvPr id="15" name="Text 13"/>
          <p:cNvSpPr txBox="1"/>
          <p:nvPr/>
        </p:nvSpPr>
        <p:spPr>
          <a:xfrm>
            <a:off x="685800" y="3566160"/>
            <a:ext cx="411480" cy="411480"/>
          </a:xfrm>
          <a:prstGeom prst="rect">
            <a:avLst/>
          </a:prstGeom>
          <a:noFill/>
          <a:ln/>
        </p:spPr>
        <p:txBody>
          <a:bodyPr wrap="square" lIns="0" tIns="0" rIns="0" bIns="0" rtlCol="0" anchor="ctr"/>
          <a:lstStyle/>
          <a:p>
            <a:pPr algn="ctr" indent="0" marL="0">
              <a:buNone/>
            </a:pPr>
            <a:endParaRPr lang="en-US" sz="1600" dirty="0"/>
          </a:p>
        </p:txBody>
      </p:sp>
      <p:sp>
        <p:nvSpPr>
          <p:cNvPr id="16" name="Text 14"/>
          <p:cNvSpPr txBox="1"/>
          <p:nvPr/>
        </p:nvSpPr>
        <p:spPr>
          <a:xfrm>
            <a:off x="1234440" y="3383280"/>
            <a:ext cx="2514600" cy="777240"/>
          </a:xfrm>
          <a:prstGeom prst="rect">
            <a:avLst/>
          </a:prstGeom>
          <a:noFill/>
          <a:ln/>
        </p:spPr>
        <p:txBody>
          <a:bodyPr wrap="square" lIns="635" tIns="635" rIns="635" bIns="635" rtlCol="0" anchor="ctr"/>
          <a:lstStyle/>
          <a:p>
            <a:pPr indent="0" marL="0">
              <a:buNone/>
            </a:pPr>
            <a:r>
              <a:rPr lang="en-US" sz="1600" b="1" dirty="0">
                <a:solidFill>
                  <a:schemeClr val="tx2"/>
                </a:solidFill>
              </a:rPr>
              <a:t>One copy per probe</a:t>
            </a:r>
            <a:endParaRPr lang="en-US" sz="1600" dirty="0"/>
          </a:p>
        </p:txBody>
      </p:sp>
      <p:sp>
        <p:nvSpPr>
          <p:cNvPr id="17" name="Text 15"/>
          <p:cNvSpPr txBox="1"/>
          <p:nvPr/>
        </p:nvSpPr>
        <p:spPr>
          <a:xfrm>
            <a:off x="3840480" y="3383280"/>
            <a:ext cx="3840480" cy="777240"/>
          </a:xfrm>
          <a:prstGeom prst="rect">
            <a:avLst/>
          </a:prstGeom>
          <a:noFill/>
          <a:ln/>
        </p:spPr>
        <p:txBody>
          <a:bodyPr wrap="square" lIns="635" tIns="635" rIns="635" bIns="635" rtlCol="0" anchor="ctr"/>
          <a:lstStyle/>
          <a:p>
            <a:pPr indent="0" marL="0">
              <a:buNone/>
            </a:pPr>
            <a:r>
              <a:rPr lang="en-US" sz="1500" dirty="0">
                <a:solidFill>
                  <a:schemeClr val="tx1"/>
                </a:solidFill>
              </a:rPr>
              <a:t>Each probe reaches the root once, by one path</a:t>
            </a:r>
            <a:endParaRPr lang="en-US" sz="1500" dirty="0"/>
          </a:p>
        </p:txBody>
      </p:sp>
      <p:sp>
        <p:nvSpPr>
          <p:cNvPr id="18" name="Text 16"/>
          <p:cNvSpPr txBox="1"/>
          <p:nvPr/>
        </p:nvSpPr>
        <p:spPr>
          <a:xfrm>
            <a:off x="7863840" y="3383280"/>
            <a:ext cx="3657600" cy="777240"/>
          </a:xfrm>
          <a:prstGeom prst="rect">
            <a:avLst/>
          </a:prstGeom>
          <a:noFill/>
          <a:ln/>
        </p:spPr>
        <p:txBody>
          <a:bodyPr wrap="square" lIns="635" tIns="635" rIns="635" bIns="635" rtlCol="0" anchor="ctr"/>
          <a:lstStyle/>
          <a:p>
            <a:pPr indent="0" marL="0">
              <a:buNone/>
            </a:pPr>
            <a:r>
              <a:rPr lang="en-US" sz="1500" b="1" dirty="0">
                <a:solidFill>
                  <a:schemeClr val="accent2"/>
                </a:solidFill>
              </a:rPr>
              <a:t>Wormhole: a second copy through the tunnel</a:t>
            </a:r>
            <a:endParaRPr lang="en-US" sz="1500" dirty="0"/>
          </a:p>
        </p:txBody>
      </p:sp>
      <p:sp>
        <p:nvSpPr>
          <p:cNvPr id="19" name="Shape 17"/>
          <p:cNvSpPr/>
          <p:nvPr/>
        </p:nvSpPr>
        <p:spPr>
          <a:xfrm>
            <a:off x="548640" y="4297680"/>
            <a:ext cx="11064240" cy="777240"/>
          </a:xfrm>
          <a:prstGeom prst="roundRect">
            <a:avLst>
              <a:gd name="adj" fmla="val 9412"/>
            </a:avLst>
          </a:prstGeom>
          <a:solidFill>
            <a:schemeClr val="bg2"/>
          </a:solidFill>
          <a:ln w="9525">
            <a:solidFill>
              <a:schemeClr val="bg2"/>
            </a:solidFill>
            <a:prstDash val="solid"/>
          </a:ln>
        </p:spPr>
      </p:sp>
      <p:sp>
        <p:nvSpPr>
          <p:cNvPr id="20" name="Shape 18"/>
          <p:cNvSpPr/>
          <p:nvPr/>
        </p:nvSpPr>
        <p:spPr>
          <a:xfrm>
            <a:off x="685800" y="4480560"/>
            <a:ext cx="411480" cy="411480"/>
          </a:xfrm>
          <a:prstGeom prst="ellipse">
            <a:avLst/>
          </a:prstGeom>
          <a:solidFill>
            <a:schemeClr val="accent2"/>
          </a:solidFill>
          <a:ln w="12700">
            <a:solidFill>
              <a:schemeClr val="accent2"/>
            </a:solidFill>
            <a:prstDash val="solid"/>
          </a:ln>
        </p:spPr>
      </p:sp>
      <p:sp>
        <p:nvSpPr>
          <p:cNvPr id="21" name="Text 19"/>
          <p:cNvSpPr txBox="1"/>
          <p:nvPr/>
        </p:nvSpPr>
        <p:spPr>
          <a:xfrm>
            <a:off x="685800" y="4480560"/>
            <a:ext cx="411480" cy="411480"/>
          </a:xfrm>
          <a:prstGeom prst="rect">
            <a:avLst/>
          </a:prstGeom>
          <a:noFill/>
          <a:ln/>
        </p:spPr>
        <p:txBody>
          <a:bodyPr wrap="square" lIns="0" tIns="0" rIns="0" bIns="0" rtlCol="0" anchor="ctr"/>
          <a:lstStyle/>
          <a:p>
            <a:pPr algn="ctr" indent="0" marL="0">
              <a:buNone/>
            </a:pPr>
            <a:endParaRPr lang="en-US" sz="1600" dirty="0"/>
          </a:p>
        </p:txBody>
      </p:sp>
      <p:sp>
        <p:nvSpPr>
          <p:cNvPr id="22" name="Text 20"/>
          <p:cNvSpPr txBox="1"/>
          <p:nvPr/>
        </p:nvSpPr>
        <p:spPr>
          <a:xfrm>
            <a:off x="1234440" y="4297680"/>
            <a:ext cx="2514600" cy="777240"/>
          </a:xfrm>
          <a:prstGeom prst="rect">
            <a:avLst/>
          </a:prstGeom>
          <a:noFill/>
          <a:ln/>
        </p:spPr>
        <p:txBody>
          <a:bodyPr wrap="square" lIns="635" tIns="635" rIns="635" bIns="635" rtlCol="0" anchor="ctr"/>
          <a:lstStyle/>
          <a:p>
            <a:pPr indent="0" marL="0">
              <a:buNone/>
            </a:pPr>
            <a:r>
              <a:rPr lang="en-US" sz="1600" b="1" dirty="0">
                <a:solidFill>
                  <a:schemeClr val="tx2"/>
                </a:solidFill>
              </a:rPr>
              <a:t>Delay follows hops</a:t>
            </a:r>
            <a:endParaRPr lang="en-US" sz="1600" dirty="0"/>
          </a:p>
        </p:txBody>
      </p:sp>
      <p:sp>
        <p:nvSpPr>
          <p:cNvPr id="23" name="Text 21"/>
          <p:cNvSpPr txBox="1"/>
          <p:nvPr/>
        </p:nvSpPr>
        <p:spPr>
          <a:xfrm>
            <a:off x="3840480" y="4297680"/>
            <a:ext cx="3840480" cy="777240"/>
          </a:xfrm>
          <a:prstGeom prst="rect">
            <a:avLst/>
          </a:prstGeom>
          <a:noFill/>
          <a:ln/>
        </p:spPr>
        <p:txBody>
          <a:bodyPr wrap="square" lIns="635" tIns="635" rIns="635" bIns="635" rtlCol="0" anchor="ctr"/>
          <a:lstStyle/>
          <a:p>
            <a:pPr indent="0" marL="0">
              <a:buNone/>
            </a:pPr>
            <a:r>
              <a:rPr lang="en-US" sz="1500" dirty="0">
                <a:solidFill>
                  <a:schemeClr val="tx1"/>
                </a:solidFill>
              </a:rPr>
              <a:t>Deeper nodes take longer to reach the root</a:t>
            </a:r>
            <a:endParaRPr lang="en-US" sz="1500" dirty="0"/>
          </a:p>
        </p:txBody>
      </p:sp>
      <p:sp>
        <p:nvSpPr>
          <p:cNvPr id="24" name="Text 22"/>
          <p:cNvSpPr txBox="1"/>
          <p:nvPr/>
        </p:nvSpPr>
        <p:spPr>
          <a:xfrm>
            <a:off x="7863840" y="4297680"/>
            <a:ext cx="3657600" cy="777240"/>
          </a:xfrm>
          <a:prstGeom prst="rect">
            <a:avLst/>
          </a:prstGeom>
          <a:noFill/>
          <a:ln/>
        </p:spPr>
        <p:txBody>
          <a:bodyPr wrap="square" lIns="635" tIns="635" rIns="635" bIns="635" rtlCol="0" anchor="ctr"/>
          <a:lstStyle/>
          <a:p>
            <a:pPr indent="0" marL="0">
              <a:buNone/>
            </a:pPr>
            <a:r>
              <a:rPr lang="en-US" sz="1500" b="1" dirty="0">
                <a:solidFill>
                  <a:schemeClr val="accent2"/>
                </a:solidFill>
              </a:rPr>
              <a:t>Wormhole: a shortcut breaks the pattern</a:t>
            </a:r>
            <a:endParaRPr lang="en-US" sz="1500" dirty="0"/>
          </a:p>
        </p:txBody>
      </p:sp>
      <p:sp>
        <p:nvSpPr>
          <p:cNvPr id="25" name="Shape 23"/>
          <p:cNvSpPr/>
          <p:nvPr/>
        </p:nvSpPr>
        <p:spPr>
          <a:xfrm>
            <a:off x="548640" y="5212080"/>
            <a:ext cx="11064240" cy="777240"/>
          </a:xfrm>
          <a:prstGeom prst="roundRect">
            <a:avLst>
              <a:gd name="adj" fmla="val 9412"/>
            </a:avLst>
          </a:prstGeom>
          <a:solidFill>
            <a:schemeClr val="bg2"/>
          </a:solidFill>
          <a:ln w="9525">
            <a:solidFill>
              <a:schemeClr val="bg2"/>
            </a:solidFill>
            <a:prstDash val="solid"/>
          </a:ln>
        </p:spPr>
      </p:sp>
      <p:sp>
        <p:nvSpPr>
          <p:cNvPr id="26" name="Shape 24"/>
          <p:cNvSpPr/>
          <p:nvPr/>
        </p:nvSpPr>
        <p:spPr>
          <a:xfrm>
            <a:off x="685800" y="5394960"/>
            <a:ext cx="411480" cy="411480"/>
          </a:xfrm>
          <a:prstGeom prst="ellipse">
            <a:avLst/>
          </a:prstGeom>
          <a:solidFill>
            <a:schemeClr val="accent5"/>
          </a:solidFill>
          <a:ln w="12700">
            <a:solidFill>
              <a:schemeClr val="accent5"/>
            </a:solidFill>
            <a:prstDash val="solid"/>
          </a:ln>
        </p:spPr>
      </p:sp>
      <p:sp>
        <p:nvSpPr>
          <p:cNvPr id="27" name="Text 25"/>
          <p:cNvSpPr txBox="1"/>
          <p:nvPr/>
        </p:nvSpPr>
        <p:spPr>
          <a:xfrm>
            <a:off x="685800" y="5394960"/>
            <a:ext cx="411480" cy="411480"/>
          </a:xfrm>
          <a:prstGeom prst="rect">
            <a:avLst/>
          </a:prstGeom>
          <a:noFill/>
          <a:ln/>
        </p:spPr>
        <p:txBody>
          <a:bodyPr wrap="square" lIns="0" tIns="0" rIns="0" bIns="0" rtlCol="0" anchor="ctr"/>
          <a:lstStyle/>
          <a:p>
            <a:pPr algn="ctr" indent="0" marL="0">
              <a:buNone/>
            </a:pPr>
            <a:endParaRPr lang="en-US" sz="1600" dirty="0"/>
          </a:p>
        </p:txBody>
      </p:sp>
      <p:sp>
        <p:nvSpPr>
          <p:cNvPr id="28" name="Text 26"/>
          <p:cNvSpPr txBox="1"/>
          <p:nvPr/>
        </p:nvSpPr>
        <p:spPr>
          <a:xfrm>
            <a:off x="1234440" y="5212080"/>
            <a:ext cx="2514600" cy="777240"/>
          </a:xfrm>
          <a:prstGeom prst="rect">
            <a:avLst/>
          </a:prstGeom>
          <a:noFill/>
          <a:ln/>
        </p:spPr>
        <p:txBody>
          <a:bodyPr wrap="square" lIns="635" tIns="635" rIns="635" bIns="635" rtlCol="0" anchor="ctr"/>
          <a:lstStyle/>
          <a:p>
            <a:pPr indent="0" marL="0">
              <a:buNone/>
            </a:pPr>
            <a:r>
              <a:rPr lang="en-US" sz="1600" b="1" dirty="0">
                <a:solidFill>
                  <a:schemeClr val="tx2"/>
                </a:solidFill>
              </a:rPr>
              <a:t>Parent layer &lt; child layer</a:t>
            </a:r>
            <a:endParaRPr lang="en-US" sz="1600" dirty="0"/>
          </a:p>
        </p:txBody>
      </p:sp>
      <p:sp>
        <p:nvSpPr>
          <p:cNvPr id="29" name="Text 27"/>
          <p:cNvSpPr txBox="1"/>
          <p:nvPr/>
        </p:nvSpPr>
        <p:spPr>
          <a:xfrm>
            <a:off x="3840480" y="5212080"/>
            <a:ext cx="3840480" cy="777240"/>
          </a:xfrm>
          <a:prstGeom prst="rect">
            <a:avLst/>
          </a:prstGeom>
          <a:noFill/>
          <a:ln/>
        </p:spPr>
        <p:txBody>
          <a:bodyPr wrap="square" lIns="635" tIns="635" rIns="635" bIns="635" rtlCol="0" anchor="ctr"/>
          <a:lstStyle/>
          <a:p>
            <a:pPr indent="0" marL="0">
              <a:buNone/>
            </a:pPr>
            <a:r>
              <a:rPr lang="en-US" sz="1500" dirty="0">
                <a:solidFill>
                  <a:schemeClr val="tx1"/>
                </a:solidFill>
              </a:rPr>
              <a:t>The tree stays consistent</a:t>
            </a:r>
            <a:endParaRPr lang="en-US" sz="1500" dirty="0"/>
          </a:p>
        </p:txBody>
      </p:sp>
      <p:sp>
        <p:nvSpPr>
          <p:cNvPr id="30" name="Text 28"/>
          <p:cNvSpPr txBox="1"/>
          <p:nvPr/>
        </p:nvSpPr>
        <p:spPr>
          <a:xfrm>
            <a:off x="7863840" y="5212080"/>
            <a:ext cx="3657600" cy="777240"/>
          </a:xfrm>
          <a:prstGeom prst="rect">
            <a:avLst/>
          </a:prstGeom>
          <a:noFill/>
          <a:ln/>
        </p:spPr>
        <p:txBody>
          <a:bodyPr wrap="square" lIns="635" tIns="635" rIns="635" bIns="635" rtlCol="0" anchor="ctr"/>
          <a:lstStyle/>
          <a:p>
            <a:pPr indent="0" marL="0">
              <a:buNone/>
            </a:pPr>
            <a:r>
              <a:rPr lang="en-US" sz="1500" dirty="0">
                <a:solidFill>
                  <a:schemeClr val="tx1"/>
                </a:solidFill>
              </a:rPr>
              <a:t>Watched: not expected to change here</a:t>
            </a:r>
            <a:endParaRPr lang="en-US" sz="15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2103120" y="2331720"/>
            <a:ext cx="9326880" cy="1097280"/>
          </a:xfrm>
          <a:prstGeom prst="rect">
            <a:avLst/>
          </a:prstGeom>
          <a:noFill/>
          <a:ln/>
        </p:spPr>
        <p:txBody>
          <a:bodyPr wrap="square" rtlCol="0" anchor="ctr"/>
          <a:lstStyle/>
          <a:p>
            <a:pPr algn="l" indent="0" marL="0">
              <a:buNone/>
            </a:pPr>
            <a:r>
              <a:rPr lang="en-US" sz="4000" b="1" dirty="0">
                <a:solidFill>
                  <a:schemeClr val="bg1"/>
                </a:solidFill>
                <a:latin typeface="Arial" pitchFamily="34" charset="0"/>
                <a:ea typeface="Arial" pitchFamily="34" charset="-122"/>
                <a:cs typeface="Arial" pitchFamily="34" charset="-120"/>
              </a:rPr>
              <a:t>Chapter 4: Research Design</a:t>
            </a:r>
            <a:endParaRPr lang="en-US" sz="4000" dirty="0"/>
          </a:p>
        </p:txBody>
      </p:sp>
      <p:sp>
        <p:nvSpPr>
          <p:cNvPr id="3" name="Text 0"/>
          <p:cNvSpPr/>
          <p:nvPr>
            <p:ph idx="101" type="body" hasCustomPrompt="1"/>
          </p:nvPr>
        </p:nvSpPr>
        <p:spPr>
          <a:xfrm>
            <a:off x="2103120" y="3474720"/>
            <a:ext cx="9326880" cy="1463040"/>
          </a:xfrm>
          <a:prstGeom prst="rect">
            <a:avLst/>
          </a:prstGeom>
          <a:noFill/>
          <a:ln/>
        </p:spPr>
        <p:txBody>
          <a:bodyPr wrap="square" rtlCol="0" anchor="t"/>
          <a:lstStyle/>
          <a:p>
            <a:pPr indent="0" marL="0">
              <a:buNone/>
            </a:pPr>
            <a:r>
              <a:rPr lang="en-US" sz="1800" dirty="0">
                <a:solidFill>
                  <a:schemeClr val="bg2"/>
                </a:solidFill>
              </a:rPr>
              <a:t>How the testbed runs, how both attacks are built, how data is collected, turned into features and checked</a:t>
            </a:r>
            <a:endParaRPr lang="en-US" sz="1800" dirty="0"/>
          </a:p>
        </p:txBody>
      </p:sp>
      <p:sp>
        <p:nvSpPr>
          <p:cNvPr id="4" name="Shape 2"/>
          <p:cNvSpPr/>
          <p:nvPr/>
        </p:nvSpPr>
        <p:spPr>
          <a:xfrm>
            <a:off x="822960" y="2514600"/>
            <a:ext cx="868680" cy="868680"/>
          </a:xfrm>
          <a:prstGeom prst="ellipse">
            <a:avLst/>
          </a:prstGeom>
          <a:solidFill>
            <a:schemeClr val="accent2"/>
          </a:solidFill>
          <a:ln w="12700">
            <a:solidFill>
              <a:schemeClr val="accent2"/>
            </a:solidFill>
            <a:prstDash val="solid"/>
          </a:ln>
        </p:spPr>
      </p:sp>
      <p:sp>
        <p:nvSpPr>
          <p:cNvPr id="5" name="Text 3"/>
          <p:cNvSpPr txBox="1"/>
          <p:nvPr/>
        </p:nvSpPr>
        <p:spPr>
          <a:xfrm>
            <a:off x="822960" y="2514600"/>
            <a:ext cx="868680" cy="86868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From boards to dataset</a:t>
            </a:r>
            <a:endParaRPr lang="en-US" sz="3000" dirty="0"/>
          </a:p>
        </p:txBody>
      </p:sp>
      <p:pic>
        <p:nvPicPr>
          <p:cNvPr id="3" name="Image 0" descr="C:\Users\Basti\AppData\Local\Temp\claude\s--My-Work-Business-Claude-AI-OS\0ab24a58-0f30-461e-a540-2897b1eafd74\scratchpad\deck\img\image36.png">    </p:cNvPr>
          <p:cNvPicPr>
            <a:picLocks noChangeAspect="1"/>
          </p:cNvPicPr>
          <p:nvPr/>
        </p:nvPicPr>
        <p:blipFill>
          <a:blip r:embed="rId1"/>
          <a:stretch>
            <a:fillRect/>
          </a:stretch>
        </p:blipFill>
        <p:spPr>
          <a:xfrm>
            <a:off x="548640" y="1250316"/>
            <a:ext cx="6400800" cy="2985768"/>
          </a:xfrm>
          <a:prstGeom prst="rect">
            <a:avLst/>
          </a:prstGeom>
        </p:spPr>
      </p:pic>
      <p:sp>
        <p:nvSpPr>
          <p:cNvPr id="4" name="Text 1"/>
          <p:cNvSpPr txBox="1"/>
          <p:nvPr/>
        </p:nvSpPr>
        <p:spPr>
          <a:xfrm>
            <a:off x="548640" y="4297680"/>
            <a:ext cx="6400800" cy="320040"/>
          </a:xfrm>
          <a:prstGeom prst="rect">
            <a:avLst/>
          </a:prstGeom>
          <a:noFill/>
          <a:ln/>
        </p:spPr>
        <p:txBody>
          <a:bodyPr wrap="square" lIns="635" tIns="635" rIns="635" bIns="635" rtlCol="0" anchor="t"/>
          <a:lstStyle/>
          <a:p>
            <a:pPr algn="ctr" indent="0" marL="0">
              <a:buNone/>
            </a:pPr>
            <a:r>
              <a:rPr lang="en-US" sz="1100" dirty="0">
                <a:solidFill>
                  <a:schemeClr val="accent5"/>
                </a:solidFill>
              </a:rPr>
              <a:t>Figure 4.1 Architecture Design</a:t>
            </a:r>
            <a:endParaRPr lang="en-US" sz="1100" dirty="0"/>
          </a:p>
        </p:txBody>
      </p:sp>
      <p:sp>
        <p:nvSpPr>
          <p:cNvPr id="5" name="Shape 2"/>
          <p:cNvSpPr/>
          <p:nvPr/>
        </p:nvSpPr>
        <p:spPr>
          <a:xfrm>
            <a:off x="7315200" y="1280160"/>
            <a:ext cx="457200" cy="45720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315200" y="12801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909560" y="1216152"/>
            <a:ext cx="3749040" cy="685800"/>
          </a:xfrm>
          <a:prstGeom prst="rect">
            <a:avLst/>
          </a:prstGeom>
          <a:noFill/>
          <a:ln/>
        </p:spPr>
        <p:txBody>
          <a:bodyPr wrap="square" lIns="635" tIns="635" rIns="635" bIns="635" rtlCol="0" anchor="ctr"/>
          <a:lstStyle/>
          <a:p>
            <a:pPr indent="0" marL="0">
              <a:buNone/>
            </a:pPr>
            <a:r>
              <a:rPr lang="en-US" sz="1500" dirty="0">
                <a:solidFill>
                  <a:schemeClr val="tx1"/>
                </a:solidFill>
              </a:rPr>
              <a:t>Each board logs at 10 Hz to flash and a microSD card</a:t>
            </a:r>
            <a:endParaRPr lang="en-US" sz="1500" dirty="0"/>
          </a:p>
        </p:txBody>
      </p:sp>
      <p:sp>
        <p:nvSpPr>
          <p:cNvPr id="8" name="Shape 5"/>
          <p:cNvSpPr/>
          <p:nvPr/>
        </p:nvSpPr>
        <p:spPr>
          <a:xfrm>
            <a:off x="7315200" y="2176272"/>
            <a:ext cx="457200" cy="457200"/>
          </a:xfrm>
          <a:prstGeom prst="ellipse">
            <a:avLst/>
          </a:prstGeom>
          <a:solidFill>
            <a:schemeClr val="accent1"/>
          </a:solidFill>
          <a:ln w="12700">
            <a:solidFill>
              <a:schemeClr val="accent1"/>
            </a:solidFill>
            <a:prstDash val="solid"/>
          </a:ln>
        </p:spPr>
        <p:txBody>
          <a:bodyPr/>
          <a:p/>
        </p:txBody>
      </p:sp>
      <p:sp>
        <p:nvSpPr>
          <p:cNvPr id="9" name="Text 6"/>
          <p:cNvSpPr txBox="1"/>
          <p:nvPr/>
        </p:nvSpPr>
        <p:spPr>
          <a:xfrm>
            <a:off x="7315200" y="21762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7909560" y="2112264"/>
            <a:ext cx="3749040" cy="685800"/>
          </a:xfrm>
          <a:prstGeom prst="rect">
            <a:avLst/>
          </a:prstGeom>
          <a:noFill/>
          <a:ln/>
        </p:spPr>
        <p:txBody>
          <a:bodyPr wrap="square" lIns="635" tIns="635" rIns="635" bIns="635" rtlCol="0" anchor="ctr"/>
          <a:lstStyle/>
          <a:p>
            <a:pPr indent="0" marL="0">
              <a:buNone/>
            </a:pPr>
            <a:r>
              <a:rPr lang="en-US" sz="1500" dirty="0">
                <a:solidFill>
                  <a:schemeClr val="tx1"/>
                </a:solidFill>
              </a:rPr>
              <a:t>Logs are imported after the run (card reader or USB)</a:t>
            </a:r>
            <a:endParaRPr lang="en-US" sz="1500" dirty="0"/>
          </a:p>
        </p:txBody>
      </p:sp>
      <p:sp>
        <p:nvSpPr>
          <p:cNvPr id="11" name="Shape 8"/>
          <p:cNvSpPr/>
          <p:nvPr/>
        </p:nvSpPr>
        <p:spPr>
          <a:xfrm>
            <a:off x="7315200" y="3072384"/>
            <a:ext cx="457200" cy="457200"/>
          </a:xfrm>
          <a:prstGeom prst="ellipse">
            <a:avLst/>
          </a:prstGeom>
          <a:solidFill>
            <a:schemeClr val="accent1"/>
          </a:solidFill>
          <a:ln w="12700">
            <a:solidFill>
              <a:schemeClr val="accent1"/>
            </a:solidFill>
            <a:prstDash val="solid"/>
          </a:ln>
        </p:spPr>
        <p:txBody>
          <a:bodyPr/>
          <a:p/>
        </p:txBody>
      </p:sp>
      <p:sp>
        <p:nvSpPr>
          <p:cNvPr id="12" name="Text 9"/>
          <p:cNvSpPr txBox="1"/>
          <p:nvPr/>
        </p:nvSpPr>
        <p:spPr>
          <a:xfrm>
            <a:off x="7315200" y="307238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0"/>
          <p:cNvSpPr txBox="1"/>
          <p:nvPr/>
        </p:nvSpPr>
        <p:spPr>
          <a:xfrm>
            <a:off x="7909560" y="3008376"/>
            <a:ext cx="3749040" cy="685800"/>
          </a:xfrm>
          <a:prstGeom prst="rect">
            <a:avLst/>
          </a:prstGeom>
          <a:noFill/>
          <a:ln/>
        </p:spPr>
        <p:txBody>
          <a:bodyPr wrap="square" lIns="635" tIns="635" rIns="635" bIns="635" rtlCol="0" anchor="ctr"/>
          <a:lstStyle/>
          <a:p>
            <a:pPr indent="0" marL="0">
              <a:buNone/>
            </a:pPr>
            <a:r>
              <a:rPr lang="en-US" sz="1500" dirty="0">
                <a:solidFill>
                  <a:schemeClr val="tx1"/>
                </a:solidFill>
              </a:rPr>
              <a:t>Preprocessing: one-second windows, labels kept</a:t>
            </a:r>
            <a:endParaRPr lang="en-US" sz="1500" dirty="0"/>
          </a:p>
        </p:txBody>
      </p:sp>
      <p:sp>
        <p:nvSpPr>
          <p:cNvPr id="14" name="Shape 11"/>
          <p:cNvSpPr/>
          <p:nvPr/>
        </p:nvSpPr>
        <p:spPr>
          <a:xfrm>
            <a:off x="7315200" y="3968496"/>
            <a:ext cx="457200" cy="457200"/>
          </a:xfrm>
          <a:prstGeom prst="ellipse">
            <a:avLst/>
          </a:prstGeom>
          <a:solidFill>
            <a:schemeClr val="accent1"/>
          </a:solidFill>
          <a:ln w="12700">
            <a:solidFill>
              <a:schemeClr val="accent1"/>
            </a:solidFill>
            <a:prstDash val="solid"/>
          </a:ln>
        </p:spPr>
        <p:txBody>
          <a:bodyPr/>
          <a:p/>
        </p:txBody>
      </p:sp>
      <p:sp>
        <p:nvSpPr>
          <p:cNvPr id="15" name="Text 12"/>
          <p:cNvSpPr txBox="1"/>
          <p:nvPr/>
        </p:nvSpPr>
        <p:spPr>
          <a:xfrm>
            <a:off x="7315200" y="396849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Text 13"/>
          <p:cNvSpPr txBox="1"/>
          <p:nvPr/>
        </p:nvSpPr>
        <p:spPr>
          <a:xfrm>
            <a:off x="7909560" y="3904488"/>
            <a:ext cx="3749040" cy="685800"/>
          </a:xfrm>
          <a:prstGeom prst="rect">
            <a:avLst/>
          </a:prstGeom>
          <a:noFill/>
          <a:ln/>
        </p:spPr>
        <p:txBody>
          <a:bodyPr wrap="square" lIns="635" tIns="635" rIns="635" bIns="635" rtlCol="0" anchor="ctr"/>
          <a:lstStyle/>
          <a:p>
            <a:pPr indent="0" marL="0">
              <a:buNone/>
            </a:pPr>
            <a:r>
              <a:rPr lang="en-US" sz="1500" dirty="0">
                <a:solidFill>
                  <a:schemeClr val="tx1"/>
                </a:solidFill>
              </a:rPr>
              <a:t>Features: forwarding, delivery, topology, RSSI, tunnel</a:t>
            </a:r>
            <a:endParaRPr lang="en-US" sz="1500" dirty="0"/>
          </a:p>
        </p:txBody>
      </p:sp>
      <p:sp>
        <p:nvSpPr>
          <p:cNvPr id="17" name="Shape 14"/>
          <p:cNvSpPr/>
          <p:nvPr/>
        </p:nvSpPr>
        <p:spPr>
          <a:xfrm>
            <a:off x="7315200" y="4864608"/>
            <a:ext cx="457200" cy="457200"/>
          </a:xfrm>
          <a:prstGeom prst="ellipse">
            <a:avLst/>
          </a:prstGeom>
          <a:solidFill>
            <a:schemeClr val="accent1"/>
          </a:solidFill>
          <a:ln w="12700">
            <a:solidFill>
              <a:schemeClr val="accent1"/>
            </a:solidFill>
            <a:prstDash val="solid"/>
          </a:ln>
        </p:spPr>
        <p:txBody>
          <a:bodyPr/>
          <a:p/>
        </p:txBody>
      </p:sp>
      <p:sp>
        <p:nvSpPr>
          <p:cNvPr id="18" name="Text 15"/>
          <p:cNvSpPr txBox="1"/>
          <p:nvPr/>
        </p:nvSpPr>
        <p:spPr>
          <a:xfrm>
            <a:off x="7315200" y="486460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9" name="Text 16"/>
          <p:cNvSpPr txBox="1"/>
          <p:nvPr/>
        </p:nvSpPr>
        <p:spPr>
          <a:xfrm>
            <a:off x="7909560" y="4800600"/>
            <a:ext cx="3749040" cy="685800"/>
          </a:xfrm>
          <a:prstGeom prst="rect">
            <a:avLst/>
          </a:prstGeom>
          <a:noFill/>
          <a:ln/>
        </p:spPr>
        <p:txBody>
          <a:bodyPr wrap="square" lIns="635" tIns="635" rIns="635" bIns="635" rtlCol="0" anchor="ctr"/>
          <a:lstStyle/>
          <a:p>
            <a:pPr indent="0" marL="0">
              <a:buNone/>
            </a:pPr>
            <a:r>
              <a:rPr lang="en-US" sz="1500" dirty="0">
                <a:solidFill>
                  <a:schemeClr val="tx1"/>
                </a:solidFill>
              </a:rPr>
              <a:t>EDA and clustering on the windowed table</a:t>
            </a:r>
            <a:endParaRPr lang="en-US" sz="1500" dirty="0"/>
          </a:p>
        </p:txBody>
      </p:sp>
      <p:sp>
        <p:nvSpPr>
          <p:cNvPr id="20" name="Shape 17"/>
          <p:cNvSpPr/>
          <p:nvPr/>
        </p:nvSpPr>
        <p:spPr>
          <a:xfrm>
            <a:off x="548640" y="4846320"/>
            <a:ext cx="6400800" cy="1234440"/>
          </a:xfrm>
          <a:prstGeom prst="roundRect">
            <a:avLst>
              <a:gd name="adj" fmla="val 5926"/>
            </a:avLst>
          </a:prstGeom>
          <a:solidFill>
            <a:schemeClr val="bg2"/>
          </a:solidFill>
          <a:ln w="9525">
            <a:solidFill>
              <a:schemeClr val="bg2"/>
            </a:solidFill>
            <a:prstDash val="solid"/>
          </a:ln>
        </p:spPr>
        <p:txBody>
          <a:bodyPr/>
          <a:p/>
        </p:txBody>
      </p:sp>
      <p:sp>
        <p:nvSpPr>
          <p:cNvPr id="21" name="Text 18"/>
          <p:cNvSpPr txBox="1"/>
          <p:nvPr/>
        </p:nvSpPr>
        <p:spPr>
          <a:xfrm>
            <a:off x="731520" y="4937760"/>
            <a:ext cx="6035040" cy="1051560"/>
          </a:xfrm>
          <a:prstGeom prst="rect">
            <a:avLst/>
          </a:prstGeom>
          <a:noFill/>
          <a:ln/>
        </p:spPr>
        <p:txBody>
          <a:bodyPr wrap="square" lIns="635" tIns="635" rIns="635" bIns="635" rtlCol="0" anchor="ctr"/>
          <a:lstStyle/>
          <a:p>
            <a:pPr indent="0" marL="0">
              <a:buNone/>
            </a:pPr>
            <a:r>
              <a:rPr lang="en-US" sz="1500" b="1" dirty="0">
                <a:solidFill>
                  <a:schemeClr val="accent1"/>
                </a:solidFill>
              </a:rPr>
              <a:t>Independent check: </a:t>
            </a:r>
            <a:pPr indent="0" marL="0">
              <a:buNone/>
            </a:pPr>
            <a:r>
              <a:rPr lang="en-US" sz="1500" dirty="0">
                <a:solidFill>
                  <a:schemeClr val="tx1"/>
                </a:solidFill>
              </a:rPr>
              <a:t>the root's arrival log and the neighbours' counters confirm each drop, so evidence never rests on the attacker counting itself.</a:t>
            </a:r>
            <a:endParaRPr lang="en-US" sz="15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Every run follows the same timeline</a:t>
            </a:r>
            <a:endParaRPr lang="en-US" sz="3000" dirty="0"/>
          </a:p>
        </p:txBody>
      </p:sp>
      <p:sp>
        <p:nvSpPr>
          <p:cNvPr id="3" name="Shape 1"/>
          <p:cNvSpPr/>
          <p:nvPr/>
        </p:nvSpPr>
        <p:spPr>
          <a:xfrm>
            <a:off x="548640" y="1417320"/>
            <a:ext cx="1115568" cy="1188720"/>
          </a:xfrm>
          <a:prstGeom prst="roundRect">
            <a:avLst>
              <a:gd name="adj" fmla="val 6557"/>
            </a:avLst>
          </a:prstGeom>
          <a:solidFill>
            <a:schemeClr val="accent5"/>
          </a:solidFill>
          <a:ln w="12700">
            <a:solidFill>
              <a:schemeClr val="accent5"/>
            </a:solidFill>
            <a:prstDash val="solid"/>
          </a:ln>
        </p:spPr>
        <p:txBody>
          <a:bodyPr/>
          <a:p/>
        </p:txBody>
      </p:sp>
      <p:sp>
        <p:nvSpPr>
          <p:cNvPr id="4" name="Text 2"/>
          <p:cNvSpPr txBox="1"/>
          <p:nvPr/>
        </p:nvSpPr>
        <p:spPr>
          <a:xfrm>
            <a:off x="548640" y="1417320"/>
            <a:ext cx="1115568" cy="1188720"/>
          </a:xfrm>
          <a:prstGeom prst="rect">
            <a:avLst/>
          </a:prstGeom>
          <a:noFill/>
          <a:ln/>
        </p:spPr>
        <p:txBody>
          <a:bodyPr wrap="square" lIns="635" tIns="635" rIns="635" bIns="635" rtlCol="0" anchor="ctr"/>
          <a:lstStyle/>
          <a:p>
            <a:pPr algn="ctr" indent="0" marL="0">
              <a:buNone/>
            </a:pPr>
            <a:r>
              <a:rPr lang="en-US" sz="1800" b="1" dirty="0">
                <a:solidFill>
                  <a:schemeClr val="bg1"/>
                </a:solidFill>
              </a:rPr>
              <a:t>Formation</a:t>
            </a:r>
            <a:endParaRPr lang="en-US" sz="1600" dirty="0"/>
          </a:p>
          <a:p>
            <a:pPr algn="ctr" indent="0" marL="0">
              <a:buNone/>
            </a:pPr>
            <a:r>
              <a:rPr lang="en-US" sz="1500" dirty="0">
                <a:solidFill>
                  <a:schemeClr val="bg1"/>
                </a:solidFill>
              </a:rPr>
              <a:t>≥ 60 s</a:t>
            </a:r>
            <a:endParaRPr lang="en-US" sz="1600" dirty="0"/>
          </a:p>
        </p:txBody>
      </p:sp>
      <p:sp>
        <p:nvSpPr>
          <p:cNvPr id="5" name="Text 3"/>
          <p:cNvSpPr txBox="1"/>
          <p:nvPr/>
        </p:nvSpPr>
        <p:spPr>
          <a:xfrm>
            <a:off x="548640" y="2697480"/>
            <a:ext cx="1115568" cy="548640"/>
          </a:xfrm>
          <a:prstGeom prst="rect">
            <a:avLst/>
          </a:prstGeom>
          <a:noFill/>
          <a:ln/>
        </p:spPr>
        <p:txBody>
          <a:bodyPr wrap="square" lIns="635" tIns="635" rIns="635" bIns="635" rtlCol="0" anchor="t"/>
          <a:lstStyle/>
          <a:p>
            <a:pPr algn="ctr" indent="0" marL="0">
              <a:buNone/>
            </a:pPr>
            <a:r>
              <a:rPr lang="en-US" sz="1300" dirty="0">
                <a:solidFill>
                  <a:schemeClr val="accent5"/>
                </a:solidFill>
              </a:rPr>
              <a:t>label 255, excluded</a:t>
            </a:r>
            <a:endParaRPr lang="en-US" sz="1300" dirty="0"/>
          </a:p>
        </p:txBody>
      </p:sp>
      <p:sp>
        <p:nvSpPr>
          <p:cNvPr id="6" name="Shape 4"/>
          <p:cNvSpPr/>
          <p:nvPr/>
        </p:nvSpPr>
        <p:spPr>
          <a:xfrm>
            <a:off x="1737360" y="1417320"/>
            <a:ext cx="3767328" cy="1188720"/>
          </a:xfrm>
          <a:prstGeom prst="roundRect">
            <a:avLst>
              <a:gd name="adj" fmla="val 6154"/>
            </a:avLst>
          </a:prstGeom>
          <a:solidFill>
            <a:schemeClr val="accent4"/>
          </a:solidFill>
          <a:ln w="12700">
            <a:solidFill>
              <a:schemeClr val="accent4"/>
            </a:solidFill>
            <a:prstDash val="solid"/>
          </a:ln>
        </p:spPr>
        <p:txBody>
          <a:bodyPr/>
          <a:p/>
        </p:txBody>
      </p:sp>
      <p:sp>
        <p:nvSpPr>
          <p:cNvPr id="7" name="Text 5"/>
          <p:cNvSpPr txBox="1"/>
          <p:nvPr/>
        </p:nvSpPr>
        <p:spPr>
          <a:xfrm>
            <a:off x="1737360" y="1417320"/>
            <a:ext cx="3767328" cy="1188720"/>
          </a:xfrm>
          <a:prstGeom prst="rect">
            <a:avLst/>
          </a:prstGeom>
          <a:noFill/>
          <a:ln/>
        </p:spPr>
        <p:txBody>
          <a:bodyPr wrap="square" lIns="635" tIns="635" rIns="635" bIns="635" rtlCol="0" anchor="ctr"/>
          <a:lstStyle/>
          <a:p>
            <a:pPr algn="ctr" indent="0" marL="0">
              <a:buNone/>
            </a:pPr>
            <a:r>
              <a:rPr lang="en-US" sz="1800" b="1" dirty="0">
                <a:solidFill>
                  <a:schemeClr val="bg1"/>
                </a:solidFill>
              </a:rPr>
              <a:t>Baseline</a:t>
            </a:r>
            <a:endParaRPr lang="en-US" sz="1600" dirty="0"/>
          </a:p>
          <a:p>
            <a:pPr algn="ctr" indent="0" marL="0">
              <a:buNone/>
            </a:pPr>
            <a:r>
              <a:rPr lang="en-US" sz="1500" dirty="0">
                <a:solidFill>
                  <a:schemeClr val="bg1"/>
                </a:solidFill>
              </a:rPr>
              <a:t>300 s</a:t>
            </a:r>
            <a:endParaRPr lang="en-US" sz="1600" dirty="0"/>
          </a:p>
        </p:txBody>
      </p:sp>
      <p:sp>
        <p:nvSpPr>
          <p:cNvPr id="8" name="Text 6"/>
          <p:cNvSpPr txBox="1"/>
          <p:nvPr/>
        </p:nvSpPr>
        <p:spPr>
          <a:xfrm>
            <a:off x="1737360" y="2697480"/>
            <a:ext cx="3767328" cy="548640"/>
          </a:xfrm>
          <a:prstGeom prst="rect">
            <a:avLst/>
          </a:prstGeom>
          <a:noFill/>
          <a:ln/>
        </p:spPr>
        <p:txBody>
          <a:bodyPr wrap="square" lIns="635" tIns="635" rIns="635" bIns="635" rtlCol="0" anchor="t"/>
          <a:lstStyle/>
          <a:p>
            <a:pPr algn="ctr" indent="0" marL="0">
              <a:buNone/>
            </a:pPr>
            <a:r>
              <a:rPr lang="en-US" sz="1300" dirty="0">
                <a:solidFill>
                  <a:schemeClr val="accent5"/>
                </a:solidFill>
              </a:rPr>
              <a:t>label 0</a:t>
            </a:r>
            <a:endParaRPr lang="en-US" sz="1300" dirty="0"/>
          </a:p>
        </p:txBody>
      </p:sp>
      <p:sp>
        <p:nvSpPr>
          <p:cNvPr id="9" name="Shape 7"/>
          <p:cNvSpPr/>
          <p:nvPr/>
        </p:nvSpPr>
        <p:spPr>
          <a:xfrm>
            <a:off x="5577840" y="1417320"/>
            <a:ext cx="2304288" cy="1188720"/>
          </a:xfrm>
          <a:prstGeom prst="roundRect">
            <a:avLst>
              <a:gd name="adj" fmla="val 6154"/>
            </a:avLst>
          </a:prstGeom>
          <a:solidFill>
            <a:schemeClr val="accent3"/>
          </a:solidFill>
          <a:ln w="12700">
            <a:solidFill>
              <a:schemeClr val="accent3"/>
            </a:solidFill>
            <a:prstDash val="solid"/>
          </a:ln>
        </p:spPr>
        <p:txBody>
          <a:bodyPr/>
          <a:p/>
        </p:txBody>
      </p:sp>
      <p:sp>
        <p:nvSpPr>
          <p:cNvPr id="10" name="Text 8"/>
          <p:cNvSpPr txBox="1"/>
          <p:nvPr/>
        </p:nvSpPr>
        <p:spPr>
          <a:xfrm>
            <a:off x="5577840" y="1417320"/>
            <a:ext cx="2304288" cy="1188720"/>
          </a:xfrm>
          <a:prstGeom prst="rect">
            <a:avLst/>
          </a:prstGeom>
          <a:noFill/>
          <a:ln/>
        </p:spPr>
        <p:txBody>
          <a:bodyPr wrap="square" lIns="635" tIns="635" rIns="635" bIns="635" rtlCol="0" anchor="ctr"/>
          <a:lstStyle/>
          <a:p>
            <a:pPr algn="ctr" indent="0" marL="0">
              <a:buNone/>
            </a:pPr>
            <a:r>
              <a:rPr lang="en-US" sz="1800" b="1" dirty="0">
                <a:solidFill>
                  <a:schemeClr val="bg1"/>
                </a:solidFill>
              </a:rPr>
              <a:t>Attack</a:t>
            </a:r>
            <a:endParaRPr lang="en-US" sz="1600" dirty="0"/>
          </a:p>
          <a:p>
            <a:pPr algn="ctr" indent="0" marL="0">
              <a:buNone/>
            </a:pPr>
            <a:r>
              <a:rPr lang="en-US" sz="1500" dirty="0">
                <a:solidFill>
                  <a:schemeClr val="bg1"/>
                </a:solidFill>
              </a:rPr>
              <a:t>180 s</a:t>
            </a:r>
            <a:endParaRPr lang="en-US" sz="1600" dirty="0"/>
          </a:p>
        </p:txBody>
      </p:sp>
      <p:sp>
        <p:nvSpPr>
          <p:cNvPr id="11" name="Text 9"/>
          <p:cNvSpPr txBox="1"/>
          <p:nvPr/>
        </p:nvSpPr>
        <p:spPr>
          <a:xfrm>
            <a:off x="5577840" y="2697480"/>
            <a:ext cx="2304288" cy="548640"/>
          </a:xfrm>
          <a:prstGeom prst="rect">
            <a:avLst/>
          </a:prstGeom>
          <a:noFill/>
          <a:ln/>
        </p:spPr>
        <p:txBody>
          <a:bodyPr wrap="square" lIns="635" tIns="635" rIns="635" bIns="635" rtlCol="0" anchor="t"/>
          <a:lstStyle/>
          <a:p>
            <a:pPr algn="ctr" indent="0" marL="0">
              <a:buNone/>
            </a:pPr>
            <a:r>
              <a:rPr lang="en-US" sz="1300" dirty="0">
                <a:solidFill>
                  <a:schemeClr val="accent5"/>
                </a:solidFill>
              </a:rPr>
              <a:t>label 1 blackhole / 2 wormhole</a:t>
            </a:r>
            <a:endParaRPr lang="en-US" sz="1300" dirty="0"/>
          </a:p>
        </p:txBody>
      </p:sp>
      <p:sp>
        <p:nvSpPr>
          <p:cNvPr id="12" name="Shape 10"/>
          <p:cNvSpPr/>
          <p:nvPr/>
        </p:nvSpPr>
        <p:spPr>
          <a:xfrm>
            <a:off x="7955280" y="1417320"/>
            <a:ext cx="1572768" cy="1188720"/>
          </a:xfrm>
          <a:prstGeom prst="roundRect">
            <a:avLst>
              <a:gd name="adj" fmla="val 6154"/>
            </a:avLst>
          </a:prstGeom>
          <a:solidFill>
            <a:schemeClr val="accent1"/>
          </a:solidFill>
          <a:ln w="12700">
            <a:solidFill>
              <a:schemeClr val="accent1"/>
            </a:solidFill>
            <a:prstDash val="solid"/>
          </a:ln>
        </p:spPr>
        <p:txBody>
          <a:bodyPr/>
          <a:p/>
        </p:txBody>
      </p:sp>
      <p:sp>
        <p:nvSpPr>
          <p:cNvPr id="13" name="Text 11"/>
          <p:cNvSpPr txBox="1"/>
          <p:nvPr/>
        </p:nvSpPr>
        <p:spPr>
          <a:xfrm>
            <a:off x="7955280" y="1417320"/>
            <a:ext cx="1572768" cy="1188720"/>
          </a:xfrm>
          <a:prstGeom prst="rect">
            <a:avLst/>
          </a:prstGeom>
          <a:noFill/>
          <a:ln/>
        </p:spPr>
        <p:txBody>
          <a:bodyPr wrap="square" lIns="635" tIns="635" rIns="635" bIns="635" rtlCol="0" anchor="ctr"/>
          <a:lstStyle/>
          <a:p>
            <a:pPr algn="ctr" indent="0" marL="0">
              <a:buNone/>
            </a:pPr>
            <a:r>
              <a:rPr lang="en-US" sz="1800" b="1" dirty="0">
                <a:solidFill>
                  <a:schemeClr val="bg1"/>
                </a:solidFill>
              </a:rPr>
              <a:t>Cooldown</a:t>
            </a:r>
            <a:endParaRPr lang="en-US" sz="1600" dirty="0"/>
          </a:p>
          <a:p>
            <a:pPr algn="ctr" indent="0" marL="0">
              <a:buNone/>
            </a:pPr>
            <a:r>
              <a:rPr lang="en-US" sz="1500" dirty="0">
                <a:solidFill>
                  <a:schemeClr val="bg1"/>
                </a:solidFill>
              </a:rPr>
              <a:t>120 s</a:t>
            </a:r>
            <a:endParaRPr lang="en-US" sz="1600" dirty="0"/>
          </a:p>
        </p:txBody>
      </p:sp>
      <p:sp>
        <p:nvSpPr>
          <p:cNvPr id="14" name="Text 12"/>
          <p:cNvSpPr txBox="1"/>
          <p:nvPr/>
        </p:nvSpPr>
        <p:spPr>
          <a:xfrm>
            <a:off x="7955280" y="2697480"/>
            <a:ext cx="1572768" cy="548640"/>
          </a:xfrm>
          <a:prstGeom prst="rect">
            <a:avLst/>
          </a:prstGeom>
          <a:noFill/>
          <a:ln/>
        </p:spPr>
        <p:txBody>
          <a:bodyPr wrap="square" lIns="635" tIns="635" rIns="635" bIns="635" rtlCol="0" anchor="t"/>
          <a:lstStyle/>
          <a:p>
            <a:pPr algn="ctr" indent="0" marL="0">
              <a:buNone/>
            </a:pPr>
            <a:r>
              <a:rPr lang="en-US" sz="1300" dirty="0">
                <a:solidFill>
                  <a:schemeClr val="accent5"/>
                </a:solidFill>
              </a:rPr>
              <a:t>label 0</a:t>
            </a:r>
            <a:endParaRPr lang="en-US" sz="1300" dirty="0"/>
          </a:p>
        </p:txBody>
      </p:sp>
      <p:sp>
        <p:nvSpPr>
          <p:cNvPr id="15" name="Text 13"/>
          <p:cNvSpPr txBox="1"/>
          <p:nvPr/>
        </p:nvSpPr>
        <p:spPr>
          <a:xfrm>
            <a:off x="9555480" y="1417320"/>
            <a:ext cx="1463040" cy="1188720"/>
          </a:xfrm>
          <a:prstGeom prst="rect">
            <a:avLst/>
          </a:prstGeom>
          <a:noFill/>
          <a:ln/>
        </p:spPr>
        <p:txBody>
          <a:bodyPr wrap="square" lIns="635" tIns="635" rIns="635" bIns="635" rtlCol="0" anchor="ctr"/>
          <a:lstStyle/>
          <a:p>
            <a:pPr indent="0" marL="0">
              <a:buNone/>
            </a:pPr>
            <a:r>
              <a:rPr lang="en-US" sz="1600" b="1" dirty="0">
                <a:solidFill>
                  <a:schemeClr val="tx2"/>
                </a:solidFill>
              </a:rPr>
              <a:t>→ Terminate</a:t>
            </a:r>
            <a:endParaRPr lang="en-US" sz="1600" dirty="0"/>
          </a:p>
        </p:txBody>
      </p:sp>
      <p:sp>
        <p:nvSpPr>
          <p:cNvPr id="16" name="Shape 14"/>
          <p:cNvSpPr/>
          <p:nvPr/>
        </p:nvSpPr>
        <p:spPr>
          <a:xfrm>
            <a:off x="548640" y="3429000"/>
            <a:ext cx="3566160" cy="2651760"/>
          </a:xfrm>
          <a:prstGeom prst="roundRect">
            <a:avLst>
              <a:gd name="adj" fmla="val 2759"/>
            </a:avLst>
          </a:prstGeom>
          <a:solidFill>
            <a:schemeClr val="bg2"/>
          </a:solidFill>
          <a:ln w="9525">
            <a:solidFill>
              <a:schemeClr val="bg2"/>
            </a:solidFill>
            <a:prstDash val="solid"/>
          </a:ln>
        </p:spPr>
        <p:txBody>
          <a:bodyPr/>
          <a:p/>
        </p:txBody>
      </p:sp>
      <p:sp>
        <p:nvSpPr>
          <p:cNvPr id="17" name="Shape 15"/>
          <p:cNvSpPr/>
          <p:nvPr/>
        </p:nvSpPr>
        <p:spPr>
          <a:xfrm>
            <a:off x="777240" y="3657600"/>
            <a:ext cx="502920" cy="502920"/>
          </a:xfrm>
          <a:prstGeom prst="ellipse">
            <a:avLst/>
          </a:prstGeom>
          <a:solidFill>
            <a:schemeClr val="accent1"/>
          </a:solidFill>
          <a:ln w="12700">
            <a:solidFill>
              <a:schemeClr val="accent1"/>
            </a:solidFill>
            <a:prstDash val="solid"/>
          </a:ln>
        </p:spPr>
        <p:txBody>
          <a:bodyPr/>
          <a:p/>
        </p:txBody>
      </p:sp>
      <p:sp>
        <p:nvSpPr>
          <p:cNvPr id="18" name="Text 16"/>
          <p:cNvSpPr txBox="1"/>
          <p:nvPr/>
        </p:nvSpPr>
        <p:spPr>
          <a:xfrm>
            <a:off x="777240" y="36576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R</a:t>
            </a:r>
            <a:endParaRPr lang="en-US" sz="1600" dirty="0"/>
          </a:p>
        </p:txBody>
      </p:sp>
      <p:sp>
        <p:nvSpPr>
          <p:cNvPr id="19" name="Text 17"/>
          <p:cNvSpPr txBox="1"/>
          <p:nvPr/>
        </p:nvSpPr>
        <p:spPr>
          <a:xfrm>
            <a:off x="1417320" y="3630168"/>
            <a:ext cx="2560320" cy="566928"/>
          </a:xfrm>
          <a:prstGeom prst="rect">
            <a:avLst/>
          </a:prstGeom>
          <a:noFill/>
          <a:ln/>
        </p:spPr>
        <p:txBody>
          <a:bodyPr wrap="square" lIns="635" tIns="635" rIns="635" bIns="635" rtlCol="0" anchor="ctr"/>
          <a:lstStyle/>
          <a:p>
            <a:pPr indent="0" marL="0">
              <a:buNone/>
            </a:pPr>
            <a:r>
              <a:rPr lang="en-US" sz="1700" b="1" dirty="0">
                <a:solidFill>
                  <a:schemeClr val="tx2"/>
                </a:solidFill>
              </a:rPr>
              <a:t>Root controls it</a:t>
            </a:r>
            <a:endParaRPr lang="en-US" sz="1700" dirty="0"/>
          </a:p>
        </p:txBody>
      </p:sp>
      <p:sp>
        <p:nvSpPr>
          <p:cNvPr id="20" name="Text 18"/>
          <p:cNvSpPr txBox="1"/>
          <p:nvPr/>
        </p:nvSpPr>
        <p:spPr>
          <a:xfrm>
            <a:off x="822960" y="4297680"/>
            <a:ext cx="3063240" cy="164592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Phase sent to every node in 5 rounds, 100 ms apart, one sequence number</a:t>
            </a:r>
            <a:endParaRPr lang="en-US" sz="1500" dirty="0"/>
          </a:p>
          <a:p>
            <a:pPr marL="342900" indent="-342900">
              <a:spcAft>
                <a:spcPts val="600"/>
              </a:spcAft>
              <a:buSzPct val="100000"/>
              <a:buChar char="•"/>
            </a:pPr>
            <a:r>
              <a:rPr lang="en-US" sz="1500" dirty="0">
                <a:solidFill>
                  <a:schemeClr val="tx1"/>
                </a:solidFill>
              </a:rPr>
              <a:t>Repeated every 10 s for nodes that rejoin</a:t>
            </a:r>
            <a:endParaRPr lang="en-US" sz="1500" dirty="0"/>
          </a:p>
        </p:txBody>
      </p:sp>
      <p:sp>
        <p:nvSpPr>
          <p:cNvPr id="21" name="Shape 19"/>
          <p:cNvSpPr/>
          <p:nvPr/>
        </p:nvSpPr>
        <p:spPr>
          <a:xfrm>
            <a:off x="4297680" y="3429000"/>
            <a:ext cx="3566160" cy="2651760"/>
          </a:xfrm>
          <a:prstGeom prst="roundRect">
            <a:avLst>
              <a:gd name="adj" fmla="val 2759"/>
            </a:avLst>
          </a:prstGeom>
          <a:solidFill>
            <a:schemeClr val="bg2"/>
          </a:solidFill>
          <a:ln w="9525">
            <a:solidFill>
              <a:schemeClr val="bg2"/>
            </a:solidFill>
            <a:prstDash val="solid"/>
          </a:ln>
        </p:spPr>
        <p:txBody>
          <a:bodyPr/>
          <a:p/>
        </p:txBody>
      </p:sp>
      <p:sp>
        <p:nvSpPr>
          <p:cNvPr id="22" name="Shape 20"/>
          <p:cNvSpPr/>
          <p:nvPr/>
        </p:nvSpPr>
        <p:spPr>
          <a:xfrm>
            <a:off x="4526280" y="3657600"/>
            <a:ext cx="502920" cy="502920"/>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4526280" y="36576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G</a:t>
            </a:r>
            <a:endParaRPr lang="en-US" sz="1600" dirty="0"/>
          </a:p>
        </p:txBody>
      </p:sp>
      <p:sp>
        <p:nvSpPr>
          <p:cNvPr id="24" name="Text 22"/>
          <p:cNvSpPr txBox="1"/>
          <p:nvPr/>
        </p:nvSpPr>
        <p:spPr>
          <a:xfrm>
            <a:off x="5166360" y="3630168"/>
            <a:ext cx="2560320" cy="566928"/>
          </a:xfrm>
          <a:prstGeom prst="rect">
            <a:avLst/>
          </a:prstGeom>
          <a:noFill/>
          <a:ln/>
        </p:spPr>
        <p:txBody>
          <a:bodyPr wrap="square" lIns="635" tIns="635" rIns="635" bIns="635" rtlCol="0" anchor="ctr"/>
          <a:lstStyle/>
          <a:p>
            <a:pPr indent="0" marL="0">
              <a:buNone/>
            </a:pPr>
            <a:r>
              <a:rPr lang="en-US" sz="1700" b="1" dirty="0">
                <a:solidFill>
                  <a:schemeClr val="tx2"/>
                </a:solidFill>
              </a:rPr>
              <a:t>Gates before START</a:t>
            </a:r>
            <a:endParaRPr lang="en-US" sz="1700" dirty="0"/>
          </a:p>
        </p:txBody>
      </p:sp>
      <p:sp>
        <p:nvSpPr>
          <p:cNvPr id="25" name="Text 23"/>
          <p:cNvSpPr txBox="1"/>
          <p:nvPr/>
        </p:nvSpPr>
        <p:spPr>
          <a:xfrm>
            <a:off x="4572000" y="4297680"/>
            <a:ext cx="3063240" cy="164592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Every child present, tree attacker has a child, wormhole ends report UART OK with A shallower (D-22)</a:t>
            </a:r>
            <a:endParaRPr lang="en-US" sz="1500" dirty="0"/>
          </a:p>
          <a:p>
            <a:pPr marL="342900" indent="-342900">
              <a:spcAft>
                <a:spcPts val="600"/>
              </a:spcAft>
              <a:buSzPct val="100000"/>
              <a:buChar char="•"/>
            </a:pPr>
            <a:r>
              <a:rPr lang="en-US" sz="1500" dirty="0">
                <a:solidFill>
                  <a:schemeClr val="tx1"/>
                </a:solidFill>
              </a:rPr>
              <a:t>Operator types START (runs from Oct. 17)</a:t>
            </a:r>
            <a:endParaRPr lang="en-US" sz="1500" dirty="0"/>
          </a:p>
        </p:txBody>
      </p:sp>
      <p:sp>
        <p:nvSpPr>
          <p:cNvPr id="26" name="Shape 24"/>
          <p:cNvSpPr/>
          <p:nvPr/>
        </p:nvSpPr>
        <p:spPr>
          <a:xfrm>
            <a:off x="8046720" y="3429000"/>
            <a:ext cx="3566160" cy="2651760"/>
          </a:xfrm>
          <a:prstGeom prst="roundRect">
            <a:avLst>
              <a:gd name="adj" fmla="val 2759"/>
            </a:avLst>
          </a:prstGeom>
          <a:solidFill>
            <a:schemeClr val="bg2"/>
          </a:solidFill>
          <a:ln w="9525">
            <a:solidFill>
              <a:schemeClr val="bg2"/>
            </a:solidFill>
            <a:prstDash val="solid"/>
          </a:ln>
        </p:spPr>
        <p:txBody>
          <a:bodyPr/>
          <a:p/>
        </p:txBody>
      </p:sp>
      <p:sp>
        <p:nvSpPr>
          <p:cNvPr id="27" name="Shape 25"/>
          <p:cNvSpPr/>
          <p:nvPr/>
        </p:nvSpPr>
        <p:spPr>
          <a:xfrm>
            <a:off x="8275320" y="3657600"/>
            <a:ext cx="502920" cy="502920"/>
          </a:xfrm>
          <a:prstGeom prst="ellipse">
            <a:avLst/>
          </a:prstGeom>
          <a:solidFill>
            <a:schemeClr val="accent6"/>
          </a:solidFill>
          <a:ln w="12700">
            <a:solidFill>
              <a:schemeClr val="accent6"/>
            </a:solidFill>
            <a:prstDash val="solid"/>
          </a:ln>
        </p:spPr>
        <p:txBody>
          <a:bodyPr/>
          <a:p/>
        </p:txBody>
      </p:sp>
      <p:sp>
        <p:nvSpPr>
          <p:cNvPr id="28" name="Text 26"/>
          <p:cNvSpPr txBox="1"/>
          <p:nvPr/>
        </p:nvSpPr>
        <p:spPr>
          <a:xfrm>
            <a:off x="8275320" y="36576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L</a:t>
            </a:r>
            <a:endParaRPr lang="en-US" sz="1600" dirty="0"/>
          </a:p>
        </p:txBody>
      </p:sp>
      <p:sp>
        <p:nvSpPr>
          <p:cNvPr id="29" name="Text 27"/>
          <p:cNvSpPr txBox="1"/>
          <p:nvPr/>
        </p:nvSpPr>
        <p:spPr>
          <a:xfrm>
            <a:off x="8915400" y="3630168"/>
            <a:ext cx="2560320" cy="566928"/>
          </a:xfrm>
          <a:prstGeom prst="rect">
            <a:avLst/>
          </a:prstGeom>
          <a:noFill/>
          <a:ln/>
        </p:spPr>
        <p:txBody>
          <a:bodyPr wrap="square" lIns="635" tIns="635" rIns="635" bIns="635" rtlCol="0" anchor="ctr"/>
          <a:lstStyle/>
          <a:p>
            <a:pPr indent="0" marL="0">
              <a:buNone/>
            </a:pPr>
            <a:r>
              <a:rPr lang="en-US" sz="1700" b="1" dirty="0">
                <a:solidFill>
                  <a:schemeClr val="tx2"/>
                </a:solidFill>
              </a:rPr>
              <a:t>Labels by schedule</a:t>
            </a:r>
            <a:endParaRPr lang="en-US" sz="1700" dirty="0"/>
          </a:p>
        </p:txBody>
      </p:sp>
      <p:sp>
        <p:nvSpPr>
          <p:cNvPr id="30" name="Text 28"/>
          <p:cNvSpPr txBox="1"/>
          <p:nvPr/>
        </p:nvSpPr>
        <p:spPr>
          <a:xfrm>
            <a:off x="8321040" y="4297680"/>
            <a:ext cx="3063240" cy="164592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Each row carries the phase it was logged in</a:t>
            </a:r>
            <a:endParaRPr lang="en-US" sz="1500" dirty="0"/>
          </a:p>
          <a:p>
            <a:pPr marL="342900" indent="-342900">
              <a:spcAft>
                <a:spcPts val="600"/>
              </a:spcAft>
              <a:buSzPct val="100000"/>
              <a:buChar char="•"/>
            </a:pPr>
            <a:r>
              <a:rPr lang="en-US" sz="1500" dirty="0">
                <a:solidFill>
                  <a:schemeClr val="tx1"/>
                </a:solidFill>
              </a:rPr>
              <a:t>Labels never come from a feature threshold</a:t>
            </a:r>
            <a:endParaRPr lang="en-US" sz="15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Blackhole: forwarding suppression</a:t>
            </a:r>
            <a:endParaRPr lang="en-US" sz="3000" dirty="0"/>
          </a:p>
        </p:txBody>
      </p:sp>
      <p:pic>
        <p:nvPicPr>
          <p:cNvPr id="3" name="Image 0" descr="C:\Users\Basti\AppData\Local\Temp\claude\s--My-Work-Business-Claude-AI-OS\0ab24a58-0f30-461e-a540-2897b1eafd74\scratchpad\deck\img\image61.png">    </p:cNvPr>
          <p:cNvPicPr>
            <a:picLocks noChangeAspect="1"/>
          </p:cNvPicPr>
          <p:nvPr/>
        </p:nvPicPr>
        <p:blipFill>
          <a:blip r:embed="rId1"/>
          <a:stretch>
            <a:fillRect/>
          </a:stretch>
        </p:blipFill>
        <p:spPr>
          <a:xfrm>
            <a:off x="569246" y="1280160"/>
            <a:ext cx="4713668" cy="3657600"/>
          </a:xfrm>
          <a:prstGeom prst="rect">
            <a:avLst/>
          </a:prstGeom>
        </p:spPr>
      </p:pic>
      <p:sp>
        <p:nvSpPr>
          <p:cNvPr id="4" name="Text 1"/>
          <p:cNvSpPr txBox="1"/>
          <p:nvPr/>
        </p:nvSpPr>
        <p:spPr>
          <a:xfrm>
            <a:off x="548640" y="4983480"/>
            <a:ext cx="4754880" cy="320040"/>
          </a:xfrm>
          <a:prstGeom prst="rect">
            <a:avLst/>
          </a:prstGeom>
          <a:noFill/>
          <a:ln/>
        </p:spPr>
        <p:txBody>
          <a:bodyPr wrap="square" lIns="635" tIns="635" rIns="635" bIns="635" rtlCol="0" anchor="t"/>
          <a:lstStyle/>
          <a:p>
            <a:pPr algn="ctr" indent="0" marL="0">
              <a:buNone/>
            </a:pPr>
            <a:r>
              <a:rPr lang="en-US" sz="1100" dirty="0">
                <a:solidFill>
                  <a:schemeClr val="accent5"/>
                </a:solidFill>
              </a:rPr>
              <a:t>Figure 4.4 Attacker as intentional relay</a:t>
            </a:r>
            <a:endParaRPr lang="en-US" sz="1100" dirty="0"/>
          </a:p>
        </p:txBody>
      </p:sp>
      <p:sp>
        <p:nvSpPr>
          <p:cNvPr id="5" name="Text 2"/>
          <p:cNvSpPr txBox="1"/>
          <p:nvPr/>
        </p:nvSpPr>
        <p:spPr>
          <a:xfrm>
            <a:off x="5669280" y="1280160"/>
            <a:ext cx="5943600" cy="35661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chemeClr val="tx1"/>
                </a:solidFill>
              </a:rPr>
              <a:t>Every node relays its children's probes one hop up and counts received, forwarded and dropped</a:t>
            </a:r>
            <a:endParaRPr lang="en-US" sz="1600" dirty="0"/>
          </a:p>
          <a:p>
            <a:pPr marL="342900" indent="-342900">
              <a:spcAft>
                <a:spcPts val="600"/>
              </a:spcAft>
              <a:buSzPct val="100000"/>
              <a:buChar char="•"/>
            </a:pPr>
            <a:r>
              <a:rPr lang="en-US" sz="1600" dirty="0">
                <a:solidFill>
                  <a:schemeClr val="tx1"/>
                </a:solidFill>
              </a:rPr>
              <a:t>The attacker runs the same relay; in the attack phase it simply does not call esp_mesh_send()</a:t>
            </a:r>
            <a:endParaRPr lang="en-US" sz="1600" dirty="0"/>
          </a:p>
          <a:p>
            <a:pPr marL="342900" indent="-342900">
              <a:spcAft>
                <a:spcPts val="600"/>
              </a:spcAft>
              <a:buSzPct val="100000"/>
              <a:buChar char="•"/>
            </a:pPr>
            <a:r>
              <a:rPr lang="en-US" sz="1600" dirty="0">
                <a:solidFill>
                  <a:schemeClr val="tx1"/>
                </a:solidFill>
              </a:rPr>
              <a:t>It still acknowledges every frame at the link layer, so victims see no send failure</a:t>
            </a:r>
            <a:endParaRPr lang="en-US" sz="1600" dirty="0"/>
          </a:p>
          <a:p>
            <a:pPr marL="342900" indent="-342900">
              <a:spcAft>
                <a:spcPts val="600"/>
              </a:spcAft>
              <a:buSzPct val="100000"/>
              <a:buChar char="•"/>
            </a:pPr>
            <a:r>
              <a:rPr lang="en-US" sz="1600" dirty="0">
                <a:solidFill>
                  <a:schemeClr val="tx1"/>
                </a:solidFill>
              </a:rPr>
              <a:t>Received = forwarded + dropped on every node, so forwarding features exist on all relays</a:t>
            </a:r>
            <a:endParaRPr lang="en-US" sz="1600" dirty="0"/>
          </a:p>
        </p:txBody>
      </p:sp>
      <p:sp>
        <p:nvSpPr>
          <p:cNvPr id="6" name="Shape 3"/>
          <p:cNvSpPr/>
          <p:nvPr/>
        </p:nvSpPr>
        <p:spPr>
          <a:xfrm>
            <a:off x="5669280" y="4892040"/>
            <a:ext cx="5943600" cy="1188720"/>
          </a:xfrm>
          <a:prstGeom prst="roundRect">
            <a:avLst>
              <a:gd name="adj" fmla="val 6154"/>
            </a:avLst>
          </a:prstGeom>
          <a:solidFill>
            <a:schemeClr val="bg1"/>
          </a:solidFill>
          <a:ln w="9525">
            <a:solidFill>
              <a:schemeClr val="accent3"/>
            </a:solidFill>
            <a:prstDash val="solid"/>
          </a:ln>
        </p:spPr>
      </p:sp>
      <p:sp>
        <p:nvSpPr>
          <p:cNvPr id="7" name="Text 4"/>
          <p:cNvSpPr txBox="1"/>
          <p:nvPr/>
        </p:nvSpPr>
        <p:spPr>
          <a:xfrm>
            <a:off x="5852160" y="4956048"/>
            <a:ext cx="5577840" cy="1051560"/>
          </a:xfrm>
          <a:prstGeom prst="rect">
            <a:avLst/>
          </a:prstGeom>
          <a:noFill/>
          <a:ln/>
        </p:spPr>
        <p:txBody>
          <a:bodyPr wrap="square" lIns="635" tIns="635" rIns="635" bIns="635" rtlCol="0" anchor="ctr"/>
          <a:lstStyle/>
          <a:p>
            <a:pPr indent="0" marL="0">
              <a:buNone/>
            </a:pPr>
            <a:r>
              <a:rPr lang="en-US" sz="1400" b="1" dirty="0">
                <a:solidFill>
                  <a:schemeClr val="accent3"/>
                </a:solidFill>
              </a:rPr>
              <a:t>Not reproduced: </a:t>
            </a:r>
            <a:pPr indent="0" marL="0">
              <a:buNone/>
            </a:pPr>
            <a:r>
              <a:rPr lang="en-US" sz="1400" dirty="0">
                <a:solidFill>
                  <a:schemeClr val="tx1"/>
                </a:solidFill>
              </a:rPr>
              <a:t>luring traffic with a false route. ESP-WIFI-MESH lets an app read its routing table but not write it, so the attacker is a placed relay (D-20).</a:t>
            </a:r>
            <a:endParaRPr lang="en-US" sz="14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Wormhole: an out-of-band tunnel</a:t>
            </a:r>
            <a:endParaRPr lang="en-US" sz="3000" dirty="0"/>
          </a:p>
        </p:txBody>
      </p:sp>
      <p:sp>
        <p:nvSpPr>
          <p:cNvPr id="3" name="Shape 1"/>
          <p:cNvSpPr/>
          <p:nvPr/>
        </p:nvSpPr>
        <p:spPr>
          <a:xfrm>
            <a:off x="731520" y="2011680"/>
            <a:ext cx="822960" cy="822960"/>
          </a:xfrm>
          <a:prstGeom prst="ellipse">
            <a:avLst/>
          </a:prstGeom>
          <a:solidFill>
            <a:schemeClr val="tx2"/>
          </a:solidFill>
          <a:ln w="12700">
            <a:solidFill>
              <a:schemeClr val="tx2"/>
            </a:solidFill>
            <a:prstDash val="solid"/>
          </a:ln>
        </p:spPr>
      </p:sp>
      <p:sp>
        <p:nvSpPr>
          <p:cNvPr id="4" name="Text 2"/>
          <p:cNvSpPr txBox="1"/>
          <p:nvPr/>
        </p:nvSpPr>
        <p:spPr>
          <a:xfrm>
            <a:off x="731520" y="2011680"/>
            <a:ext cx="822960" cy="822960"/>
          </a:xfrm>
          <a:prstGeom prst="rect">
            <a:avLst/>
          </a:prstGeom>
          <a:noFill/>
          <a:ln/>
        </p:spPr>
        <p:txBody>
          <a:bodyPr wrap="square" lIns="0" tIns="0" rIns="0" bIns="0" rtlCol="0" anchor="ctr"/>
          <a:lstStyle/>
          <a:p>
            <a:pPr algn="ctr" indent="0" marL="0">
              <a:buNone/>
            </a:pPr>
            <a:r>
              <a:rPr lang="en-US" sz="1300" b="1" dirty="0">
                <a:solidFill>
                  <a:schemeClr val="bg1"/>
                </a:solidFill>
              </a:rPr>
              <a:t>Root</a:t>
            </a:r>
            <a:endParaRPr lang="en-US" sz="1300" dirty="0"/>
          </a:p>
        </p:txBody>
      </p:sp>
      <p:sp>
        <p:nvSpPr>
          <p:cNvPr id="5" name="Shape 3"/>
          <p:cNvSpPr/>
          <p:nvPr/>
        </p:nvSpPr>
        <p:spPr>
          <a:xfrm>
            <a:off x="2286000" y="2011680"/>
            <a:ext cx="822960" cy="822960"/>
          </a:xfrm>
          <a:prstGeom prst="ellipse">
            <a:avLst/>
          </a:prstGeom>
          <a:solidFill>
            <a:schemeClr val="accent2"/>
          </a:solidFill>
          <a:ln w="12700">
            <a:solidFill>
              <a:schemeClr val="accent2"/>
            </a:solidFill>
            <a:prstDash val="solid"/>
          </a:ln>
        </p:spPr>
      </p:sp>
      <p:sp>
        <p:nvSpPr>
          <p:cNvPr id="6" name="Text 4"/>
          <p:cNvSpPr txBox="1"/>
          <p:nvPr/>
        </p:nvSpPr>
        <p:spPr>
          <a:xfrm>
            <a:off x="2286000" y="2011680"/>
            <a:ext cx="822960" cy="82296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7" name="Shape 5"/>
          <p:cNvSpPr/>
          <p:nvPr/>
        </p:nvSpPr>
        <p:spPr>
          <a:xfrm>
            <a:off x="3840480" y="2011680"/>
            <a:ext cx="822960" cy="822960"/>
          </a:xfrm>
          <a:prstGeom prst="ellipse">
            <a:avLst/>
          </a:prstGeom>
          <a:solidFill>
            <a:schemeClr val="accent5"/>
          </a:solidFill>
          <a:ln w="12700">
            <a:solidFill>
              <a:schemeClr val="accent5"/>
            </a:solidFill>
            <a:prstDash val="solid"/>
          </a:ln>
        </p:spPr>
      </p:sp>
      <p:sp>
        <p:nvSpPr>
          <p:cNvPr id="8" name="Text 6"/>
          <p:cNvSpPr txBox="1"/>
          <p:nvPr/>
        </p:nvSpPr>
        <p:spPr>
          <a:xfrm>
            <a:off x="3840480" y="2011680"/>
            <a:ext cx="822960" cy="822960"/>
          </a:xfrm>
          <a:prstGeom prst="rect">
            <a:avLst/>
          </a:prstGeom>
          <a:noFill/>
          <a:ln/>
        </p:spPr>
        <p:txBody>
          <a:bodyPr wrap="square" lIns="0" tIns="0" rIns="0" bIns="0" rtlCol="0" anchor="ctr"/>
          <a:lstStyle/>
          <a:p>
            <a:pPr algn="ctr" indent="0" marL="0">
              <a:buNone/>
            </a:pPr>
            <a:endParaRPr lang="en-US" sz="1600" dirty="0"/>
          </a:p>
        </p:txBody>
      </p:sp>
      <p:sp>
        <p:nvSpPr>
          <p:cNvPr id="9" name="Shape 7"/>
          <p:cNvSpPr/>
          <p:nvPr/>
        </p:nvSpPr>
        <p:spPr>
          <a:xfrm>
            <a:off x="5394960" y="2011680"/>
            <a:ext cx="822960" cy="822960"/>
          </a:xfrm>
          <a:prstGeom prst="ellipse">
            <a:avLst/>
          </a:prstGeom>
          <a:solidFill>
            <a:schemeClr val="accent5"/>
          </a:solidFill>
          <a:ln w="12700">
            <a:solidFill>
              <a:schemeClr val="accent5"/>
            </a:solidFill>
            <a:prstDash val="solid"/>
          </a:ln>
        </p:spPr>
      </p:sp>
      <p:sp>
        <p:nvSpPr>
          <p:cNvPr id="10" name="Text 8"/>
          <p:cNvSpPr txBox="1"/>
          <p:nvPr/>
        </p:nvSpPr>
        <p:spPr>
          <a:xfrm>
            <a:off x="5394960" y="2011680"/>
            <a:ext cx="822960" cy="822960"/>
          </a:xfrm>
          <a:prstGeom prst="rect">
            <a:avLst/>
          </a:prstGeom>
          <a:noFill/>
          <a:ln/>
        </p:spPr>
        <p:txBody>
          <a:bodyPr wrap="square" lIns="0" tIns="0" rIns="0" bIns="0" rtlCol="0" anchor="ctr"/>
          <a:lstStyle/>
          <a:p>
            <a:pPr algn="ctr" indent="0" marL="0">
              <a:buNone/>
            </a:pPr>
            <a:endParaRPr lang="en-US" sz="1600" dirty="0"/>
          </a:p>
        </p:txBody>
      </p:sp>
      <p:sp>
        <p:nvSpPr>
          <p:cNvPr id="11" name="Shape 9"/>
          <p:cNvSpPr/>
          <p:nvPr/>
        </p:nvSpPr>
        <p:spPr>
          <a:xfrm>
            <a:off x="6949440" y="2011680"/>
            <a:ext cx="822960" cy="822960"/>
          </a:xfrm>
          <a:prstGeom prst="ellipse">
            <a:avLst/>
          </a:prstGeom>
          <a:solidFill>
            <a:schemeClr val="accent2"/>
          </a:solidFill>
          <a:ln w="12700">
            <a:solidFill>
              <a:schemeClr val="accent2"/>
            </a:solidFill>
            <a:prstDash val="solid"/>
          </a:ln>
        </p:spPr>
      </p:sp>
      <p:sp>
        <p:nvSpPr>
          <p:cNvPr id="12" name="Text 10"/>
          <p:cNvSpPr txBox="1"/>
          <p:nvPr/>
        </p:nvSpPr>
        <p:spPr>
          <a:xfrm>
            <a:off x="6949440" y="2011680"/>
            <a:ext cx="822960" cy="82296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3" name="Shape 11"/>
          <p:cNvSpPr/>
          <p:nvPr/>
        </p:nvSpPr>
        <p:spPr>
          <a:xfrm>
            <a:off x="1554480" y="2423160"/>
            <a:ext cx="731520" cy="0"/>
          </a:xfrm>
          <a:prstGeom prst="line">
            <a:avLst/>
          </a:prstGeom>
          <a:noFill/>
          <a:ln w="25400">
            <a:solidFill>
              <a:schemeClr val="accent5"/>
            </a:solidFill>
            <a:prstDash val="solid"/>
            <a:headEnd type="triangle"/>
          </a:ln>
        </p:spPr>
      </p:sp>
      <p:sp>
        <p:nvSpPr>
          <p:cNvPr id="14" name="Shape 12"/>
          <p:cNvSpPr/>
          <p:nvPr/>
        </p:nvSpPr>
        <p:spPr>
          <a:xfrm>
            <a:off x="3108960" y="2423160"/>
            <a:ext cx="731520" cy="0"/>
          </a:xfrm>
          <a:prstGeom prst="line">
            <a:avLst/>
          </a:prstGeom>
          <a:noFill/>
          <a:ln w="25400">
            <a:solidFill>
              <a:schemeClr val="accent5"/>
            </a:solidFill>
            <a:prstDash val="solid"/>
            <a:headEnd type="triangle"/>
          </a:ln>
        </p:spPr>
      </p:sp>
      <p:sp>
        <p:nvSpPr>
          <p:cNvPr id="15" name="Shape 13"/>
          <p:cNvSpPr/>
          <p:nvPr/>
        </p:nvSpPr>
        <p:spPr>
          <a:xfrm>
            <a:off x="4663440" y="2423160"/>
            <a:ext cx="731520" cy="0"/>
          </a:xfrm>
          <a:prstGeom prst="line">
            <a:avLst/>
          </a:prstGeom>
          <a:noFill/>
          <a:ln w="25400">
            <a:solidFill>
              <a:schemeClr val="accent5"/>
            </a:solidFill>
            <a:prstDash val="solid"/>
            <a:headEnd type="triangle"/>
          </a:ln>
        </p:spPr>
      </p:sp>
      <p:sp>
        <p:nvSpPr>
          <p:cNvPr id="16" name="Shape 14"/>
          <p:cNvSpPr/>
          <p:nvPr/>
        </p:nvSpPr>
        <p:spPr>
          <a:xfrm>
            <a:off x="6217920" y="2423160"/>
            <a:ext cx="731520" cy="0"/>
          </a:xfrm>
          <a:prstGeom prst="line">
            <a:avLst/>
          </a:prstGeom>
          <a:noFill/>
          <a:ln w="25400">
            <a:solidFill>
              <a:schemeClr val="accent5"/>
            </a:solidFill>
            <a:prstDash val="solid"/>
            <a:headEnd type="triangle"/>
          </a:ln>
        </p:spPr>
      </p:sp>
      <p:sp>
        <p:nvSpPr>
          <p:cNvPr id="17" name="Shape 15"/>
          <p:cNvSpPr/>
          <p:nvPr/>
        </p:nvSpPr>
        <p:spPr>
          <a:xfrm>
            <a:off x="2697480" y="3154680"/>
            <a:ext cx="4663440" cy="0"/>
          </a:xfrm>
          <a:prstGeom prst="line">
            <a:avLst/>
          </a:prstGeom>
          <a:noFill/>
          <a:ln w="31750">
            <a:solidFill>
              <a:schemeClr val="accent2"/>
            </a:solidFill>
            <a:prstDash val="dash"/>
            <a:headEnd type="triangle"/>
          </a:ln>
        </p:spPr>
      </p:sp>
      <p:sp>
        <p:nvSpPr>
          <p:cNvPr id="18" name="Shape 16"/>
          <p:cNvSpPr/>
          <p:nvPr/>
        </p:nvSpPr>
        <p:spPr>
          <a:xfrm>
            <a:off x="2697480" y="2834640"/>
            <a:ext cx="0" cy="320040"/>
          </a:xfrm>
          <a:prstGeom prst="line">
            <a:avLst/>
          </a:prstGeom>
          <a:noFill/>
          <a:ln w="31750">
            <a:solidFill>
              <a:schemeClr val="accent2"/>
            </a:solidFill>
            <a:prstDash val="dash"/>
          </a:ln>
        </p:spPr>
      </p:sp>
      <p:sp>
        <p:nvSpPr>
          <p:cNvPr id="19" name="Shape 17"/>
          <p:cNvSpPr/>
          <p:nvPr/>
        </p:nvSpPr>
        <p:spPr>
          <a:xfrm>
            <a:off x="7360920" y="2834640"/>
            <a:ext cx="0" cy="320040"/>
          </a:xfrm>
          <a:prstGeom prst="line">
            <a:avLst/>
          </a:prstGeom>
          <a:noFill/>
          <a:ln w="31750">
            <a:solidFill>
              <a:schemeClr val="accent2"/>
            </a:solidFill>
            <a:prstDash val="dash"/>
          </a:ln>
        </p:spPr>
      </p:sp>
      <p:sp>
        <p:nvSpPr>
          <p:cNvPr id="20" name="Text 18"/>
          <p:cNvSpPr txBox="1"/>
          <p:nvPr/>
        </p:nvSpPr>
        <p:spPr>
          <a:xfrm>
            <a:off x="2743200" y="3200400"/>
            <a:ext cx="4572000" cy="365760"/>
          </a:xfrm>
          <a:prstGeom prst="rect">
            <a:avLst/>
          </a:prstGeom>
          <a:noFill/>
          <a:ln/>
        </p:spPr>
        <p:txBody>
          <a:bodyPr wrap="square" lIns="635" tIns="635" rIns="635" bIns="635" rtlCol="0" anchor="t"/>
          <a:lstStyle/>
          <a:p>
            <a:pPr algn="ctr" indent="0" marL="0">
              <a:buNone/>
            </a:pPr>
            <a:r>
              <a:rPr lang="en-US" sz="1300" dirty="0">
                <a:solidFill>
                  <a:schemeClr val="accent2"/>
                </a:solidFill>
              </a:rPr>
              <a:t>UART wire, 115200 baud, 30-byte frames with CRC32</a:t>
            </a:r>
            <a:endParaRPr lang="en-US" sz="1300" dirty="0"/>
          </a:p>
        </p:txBody>
      </p:sp>
      <p:sp>
        <p:nvSpPr>
          <p:cNvPr id="21" name="Text 19"/>
          <p:cNvSpPr txBox="1"/>
          <p:nvPr/>
        </p:nvSpPr>
        <p:spPr>
          <a:xfrm>
            <a:off x="2743200" y="1508760"/>
            <a:ext cx="4572000" cy="365760"/>
          </a:xfrm>
          <a:prstGeom prst="rect">
            <a:avLst/>
          </a:prstGeom>
          <a:noFill/>
          <a:ln/>
        </p:spPr>
        <p:txBody>
          <a:bodyPr wrap="square" lIns="635" tIns="635" rIns="635" bIns="635" rtlCol="0" anchor="t"/>
          <a:lstStyle/>
          <a:p>
            <a:pPr algn="ctr" indent="0" marL="0">
              <a:buNone/>
            </a:pPr>
            <a:r>
              <a:rPr lang="en-US" sz="1300" dirty="0">
                <a:solidFill>
                  <a:schemeClr val="accent5"/>
                </a:solidFill>
              </a:rPr>
              <a:t>normal path: hop by hop</a:t>
            </a:r>
            <a:endParaRPr lang="en-US" sz="1300" dirty="0"/>
          </a:p>
        </p:txBody>
      </p:sp>
      <p:sp>
        <p:nvSpPr>
          <p:cNvPr id="22" name="Text 20"/>
          <p:cNvSpPr txBox="1"/>
          <p:nvPr/>
        </p:nvSpPr>
        <p:spPr>
          <a:xfrm>
            <a:off x="548640" y="3840480"/>
            <a:ext cx="6949440" cy="228600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Node B (deeper) sends each probe normally and, in the attack phase, also writes it to the wire</a:t>
            </a:r>
            <a:endParaRPr lang="en-US" sz="1500" dirty="0"/>
          </a:p>
          <a:p>
            <a:pPr marL="342900" indent="-342900">
              <a:spcAft>
                <a:spcPts val="600"/>
              </a:spcAft>
              <a:buSzPct val="100000"/>
              <a:buChar char="•"/>
            </a:pPr>
            <a:r>
              <a:rPr lang="en-US" sz="1500" dirty="0">
                <a:solidFill>
                  <a:schemeClr val="tx1"/>
                </a:solidFill>
              </a:rPr>
              <a:t>Node A (shallower) re-injects it toward the root, tagged so the root keeps it</a:t>
            </a:r>
            <a:endParaRPr lang="en-US" sz="1500" dirty="0"/>
          </a:p>
          <a:p>
            <a:pPr marL="342900" indent="-342900">
              <a:spcAft>
                <a:spcPts val="600"/>
              </a:spcAft>
              <a:buSzPct val="100000"/>
              <a:buChar char="•"/>
            </a:pPr>
            <a:r>
              <a:rPr lang="en-US" sz="1500" dirty="0">
                <a:solidFill>
                  <a:schemeClr val="tx1"/>
                </a:solidFill>
              </a:rPr>
              <a:t>The root receives every B probe twice, by two paths, with different delays</a:t>
            </a:r>
            <a:endParaRPr lang="en-US" sz="1500" dirty="0"/>
          </a:p>
          <a:p>
            <a:pPr marL="342900" indent="-342900">
              <a:spcAft>
                <a:spcPts val="600"/>
              </a:spcAft>
              <a:buSzPct val="100000"/>
              <a:buChar char="•"/>
            </a:pPr>
            <a:r>
              <a:rPr lang="en-US" sz="1500" dirty="0">
                <a:solidFill>
                  <a:schemeClr val="tx1"/>
                </a:solidFill>
              </a:rPr>
              <a:t>Ends are chosen at run time by mesh depth and locked at phase 0 (D-17)</a:t>
            </a:r>
            <a:endParaRPr lang="en-US" sz="1500" dirty="0"/>
          </a:p>
        </p:txBody>
      </p:sp>
      <p:sp>
        <p:nvSpPr>
          <p:cNvPr id="23" name="Shape 21"/>
          <p:cNvSpPr/>
          <p:nvPr/>
        </p:nvSpPr>
        <p:spPr>
          <a:xfrm>
            <a:off x="7863840" y="1280160"/>
            <a:ext cx="3749040" cy="4800600"/>
          </a:xfrm>
          <a:prstGeom prst="roundRect">
            <a:avLst>
              <a:gd name="adj" fmla="val 1951"/>
            </a:avLst>
          </a:prstGeom>
          <a:solidFill>
            <a:schemeClr val="bg2"/>
          </a:solidFill>
          <a:ln w="9525">
            <a:solidFill>
              <a:schemeClr val="bg2"/>
            </a:solidFill>
            <a:prstDash val="solid"/>
          </a:ln>
        </p:spPr>
      </p:sp>
      <p:sp>
        <p:nvSpPr>
          <p:cNvPr id="24" name="Text 22"/>
          <p:cNvSpPr txBox="1"/>
          <p:nvPr/>
        </p:nvSpPr>
        <p:spPr>
          <a:xfrm>
            <a:off x="8092440" y="1417320"/>
            <a:ext cx="3291840" cy="411480"/>
          </a:xfrm>
          <a:prstGeom prst="rect">
            <a:avLst/>
          </a:prstGeom>
          <a:noFill/>
          <a:ln/>
        </p:spPr>
        <p:txBody>
          <a:bodyPr wrap="square" lIns="635" tIns="635" rIns="635" bIns="635" rtlCol="0" anchor="t"/>
          <a:lstStyle/>
          <a:p>
            <a:pPr indent="0" marL="0">
              <a:buNone/>
            </a:pPr>
            <a:r>
              <a:rPr lang="en-US" sz="1700" b="1" dirty="0">
                <a:solidFill>
                  <a:schemeClr val="accent1"/>
                </a:solidFill>
              </a:rPr>
              <a:t>What it shows</a:t>
            </a:r>
            <a:endParaRPr lang="en-US" sz="1700" dirty="0"/>
          </a:p>
        </p:txBody>
      </p:sp>
      <p:sp>
        <p:nvSpPr>
          <p:cNvPr id="25" name="Text 23"/>
          <p:cNvSpPr txBox="1"/>
          <p:nvPr/>
        </p:nvSpPr>
        <p:spPr>
          <a:xfrm>
            <a:off x="8092440" y="1828800"/>
            <a:ext cx="3291840" cy="1280160"/>
          </a:xfrm>
          <a:prstGeom prst="rect">
            <a:avLst/>
          </a:prstGeom>
          <a:noFill/>
          <a:ln/>
        </p:spPr>
        <p:txBody>
          <a:bodyPr wrap="square" lIns="635" tIns="635" rIns="635" bIns="635" rtlCol="0" anchor="t"/>
          <a:lstStyle/>
          <a:p>
            <a:pPr indent="0" marL="0">
              <a:buNone/>
            </a:pPr>
            <a:r>
              <a:rPr lang="en-US" sz="1500" dirty="0">
                <a:solidFill>
                  <a:schemeClr val="tx1"/>
                </a:solidFill>
              </a:rPr>
              <a:t>The packet-level signature of a wormhole: duplicate arrivals and a delay mismatch.</a:t>
            </a:r>
            <a:endParaRPr lang="en-US" sz="1500" dirty="0"/>
          </a:p>
        </p:txBody>
      </p:sp>
      <p:sp>
        <p:nvSpPr>
          <p:cNvPr id="26" name="Text 24"/>
          <p:cNvSpPr txBox="1"/>
          <p:nvPr/>
        </p:nvSpPr>
        <p:spPr>
          <a:xfrm>
            <a:off x="8092440" y="3246120"/>
            <a:ext cx="3291840" cy="411480"/>
          </a:xfrm>
          <a:prstGeom prst="rect">
            <a:avLst/>
          </a:prstGeom>
          <a:noFill/>
          <a:ln/>
        </p:spPr>
        <p:txBody>
          <a:bodyPr wrap="square" lIns="635" tIns="635" rIns="635" bIns="635" rtlCol="0" anchor="t"/>
          <a:lstStyle/>
          <a:p>
            <a:pPr indent="0" marL="0">
              <a:buNone/>
            </a:pPr>
            <a:r>
              <a:rPr lang="en-US" sz="1700" b="1" dirty="0">
                <a:solidFill>
                  <a:schemeClr val="accent3"/>
                </a:solidFill>
              </a:rPr>
              <a:t>What it does not</a:t>
            </a:r>
            <a:endParaRPr lang="en-US" sz="1700" dirty="0"/>
          </a:p>
        </p:txBody>
      </p:sp>
      <p:sp>
        <p:nvSpPr>
          <p:cNvPr id="27" name="Text 25"/>
          <p:cNvSpPr txBox="1"/>
          <p:nvPr/>
        </p:nvSpPr>
        <p:spPr>
          <a:xfrm>
            <a:off x="8092440" y="3657600"/>
            <a:ext cx="3291840" cy="1463040"/>
          </a:xfrm>
          <a:prstGeom prst="rect">
            <a:avLst/>
          </a:prstGeom>
          <a:noFill/>
          <a:ln/>
        </p:spPr>
        <p:txBody>
          <a:bodyPr wrap="square" lIns="635" tIns="635" rIns="635" bIns="635" rtlCol="0" anchor="t"/>
          <a:lstStyle/>
          <a:p>
            <a:pPr indent="0" marL="0">
              <a:buNone/>
            </a:pPr>
            <a:r>
              <a:rPr lang="en-US" sz="1500" dirty="0">
                <a:solidFill>
                  <a:schemeClr val="tx1"/>
                </a:solidFill>
              </a:rPr>
              <a:t>The mesh never routes over the wire, so no false neighbour appears and the tree does not change (D-20).</a:t>
            </a:r>
            <a:endParaRPr lang="en-US" sz="15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Checked against published definitions</a:t>
            </a:r>
            <a:endParaRPr lang="en-US" sz="3000" dirty="0"/>
          </a:p>
        </p:txBody>
      </p:sp>
      <p:sp>
        <p:nvSpPr>
          <p:cNvPr id="3" name="Text 1"/>
          <p:cNvSpPr txBox="1"/>
          <p:nvPr/>
        </p:nvSpPr>
        <p:spPr>
          <a:xfrm>
            <a:off x="548640" y="1234440"/>
            <a:ext cx="5440680" cy="457200"/>
          </a:xfrm>
          <a:prstGeom prst="rect">
            <a:avLst/>
          </a:prstGeom>
          <a:noFill/>
          <a:ln/>
        </p:spPr>
        <p:txBody>
          <a:bodyPr wrap="square" lIns="635" tIns="635" rIns="635" bIns="635" rtlCol="0" anchor="t"/>
          <a:lstStyle/>
          <a:p>
            <a:pPr indent="0" marL="0">
              <a:buNone/>
            </a:pPr>
            <a:r>
              <a:rPr lang="en-US" sz="1800" b="1" dirty="0">
                <a:solidFill>
                  <a:schemeClr val="tx2"/>
                </a:solidFill>
              </a:rPr>
              <a:t>Blackhole vs Airehrour et al. [70]</a:t>
            </a:r>
            <a:endParaRPr lang="en-US" sz="1800" dirty="0"/>
          </a:p>
        </p:txBody>
      </p:sp>
      <p:sp>
        <p:nvSpPr>
          <p:cNvPr id="4" name="Shape 2"/>
          <p:cNvSpPr/>
          <p:nvPr/>
        </p:nvSpPr>
        <p:spPr>
          <a:xfrm>
            <a:off x="548640" y="1783080"/>
            <a:ext cx="5440680" cy="603504"/>
          </a:xfrm>
          <a:prstGeom prst="roundRect">
            <a:avLst>
              <a:gd name="adj" fmla="val 12121"/>
            </a:avLst>
          </a:prstGeom>
          <a:solidFill>
            <a:schemeClr val="bg2"/>
          </a:solidFill>
          <a:ln w="9525">
            <a:solidFill>
              <a:schemeClr val="bg2"/>
            </a:solidFill>
            <a:prstDash val="solid"/>
          </a:ln>
        </p:spPr>
        <p:txBody>
          <a:bodyPr/>
          <a:p/>
        </p:txBody>
      </p:sp>
      <p:sp>
        <p:nvSpPr>
          <p:cNvPr id="5" name="Shape 3"/>
          <p:cNvSpPr/>
          <p:nvPr/>
        </p:nvSpPr>
        <p:spPr>
          <a:xfrm>
            <a:off x="685800" y="1883664"/>
            <a:ext cx="402336" cy="402336"/>
          </a:xfrm>
          <a:prstGeom prst="ellipse">
            <a:avLst/>
          </a:prstGeom>
          <a:solidFill>
            <a:schemeClr val="accent4"/>
          </a:solidFill>
          <a:ln w="12700">
            <a:solidFill>
              <a:schemeClr val="accent4"/>
            </a:solidFill>
            <a:prstDash val="solid"/>
          </a:ln>
        </p:spPr>
        <p:txBody>
          <a:bodyPr/>
          <a:p/>
        </p:txBody>
      </p:sp>
      <p:sp>
        <p:nvSpPr>
          <p:cNvPr id="6" name="Text 4"/>
          <p:cNvSpPr txBox="1"/>
          <p:nvPr/>
        </p:nvSpPr>
        <p:spPr>
          <a:xfrm>
            <a:off x="685800" y="1883664"/>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7" name="Text 5"/>
          <p:cNvSpPr txBox="1"/>
          <p:nvPr/>
        </p:nvSpPr>
        <p:spPr>
          <a:xfrm>
            <a:off x="1234440" y="1783080"/>
            <a:ext cx="4663440" cy="603504"/>
          </a:xfrm>
          <a:prstGeom prst="rect">
            <a:avLst/>
          </a:prstGeom>
          <a:noFill/>
          <a:ln/>
        </p:spPr>
        <p:txBody>
          <a:bodyPr wrap="square" lIns="635" tIns="635" rIns="635" bIns="635" rtlCol="0" anchor="ctr"/>
          <a:lstStyle/>
          <a:p>
            <a:pPr indent="0" marL="0">
              <a:buNone/>
            </a:pPr>
            <a:r>
              <a:rPr lang="en-US" sz="1500" dirty="0">
                <a:solidFill>
                  <a:schemeClr val="tx1"/>
                </a:solidFill>
              </a:rPr>
              <a:t>On the forwarding path</a:t>
            </a:r>
            <a:endParaRPr lang="en-US" sz="1500" dirty="0"/>
          </a:p>
        </p:txBody>
      </p:sp>
      <p:sp>
        <p:nvSpPr>
          <p:cNvPr id="8" name="Shape 6"/>
          <p:cNvSpPr/>
          <p:nvPr/>
        </p:nvSpPr>
        <p:spPr>
          <a:xfrm>
            <a:off x="548640" y="2496312"/>
            <a:ext cx="5440680" cy="603504"/>
          </a:xfrm>
          <a:prstGeom prst="roundRect">
            <a:avLst>
              <a:gd name="adj" fmla="val 12121"/>
            </a:avLst>
          </a:prstGeom>
          <a:solidFill>
            <a:schemeClr val="bg2"/>
          </a:solidFill>
          <a:ln w="9525">
            <a:solidFill>
              <a:schemeClr val="bg2"/>
            </a:solidFill>
            <a:prstDash val="solid"/>
          </a:ln>
        </p:spPr>
        <p:txBody>
          <a:bodyPr/>
          <a:p/>
        </p:txBody>
      </p:sp>
      <p:sp>
        <p:nvSpPr>
          <p:cNvPr id="9" name="Shape 7"/>
          <p:cNvSpPr/>
          <p:nvPr/>
        </p:nvSpPr>
        <p:spPr>
          <a:xfrm>
            <a:off x="685800" y="2596896"/>
            <a:ext cx="402336" cy="402336"/>
          </a:xfrm>
          <a:prstGeom prst="ellipse">
            <a:avLst/>
          </a:prstGeom>
          <a:solidFill>
            <a:schemeClr val="accent4"/>
          </a:solidFill>
          <a:ln w="12700">
            <a:solidFill>
              <a:schemeClr val="accent4"/>
            </a:solidFill>
            <a:prstDash val="solid"/>
          </a:ln>
        </p:spPr>
        <p:txBody>
          <a:bodyPr/>
          <a:p/>
        </p:txBody>
      </p:sp>
      <p:sp>
        <p:nvSpPr>
          <p:cNvPr id="10" name="Text 8"/>
          <p:cNvSpPr txBox="1"/>
          <p:nvPr/>
        </p:nvSpPr>
        <p:spPr>
          <a:xfrm>
            <a:off x="685800" y="2596896"/>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1" name="Text 9"/>
          <p:cNvSpPr txBox="1"/>
          <p:nvPr/>
        </p:nvSpPr>
        <p:spPr>
          <a:xfrm>
            <a:off x="1234440" y="2496312"/>
            <a:ext cx="4663440" cy="603504"/>
          </a:xfrm>
          <a:prstGeom prst="rect">
            <a:avLst/>
          </a:prstGeom>
          <a:noFill/>
          <a:ln/>
        </p:spPr>
        <p:txBody>
          <a:bodyPr wrap="square" lIns="635" tIns="635" rIns="635" bIns="635" rtlCol="0" anchor="ctr"/>
          <a:lstStyle/>
          <a:p>
            <a:pPr indent="0" marL="0">
              <a:buNone/>
            </a:pPr>
            <a:r>
              <a:rPr lang="en-US" sz="1500" dirty="0">
                <a:solidFill>
                  <a:schemeClr val="tx1"/>
                </a:solidFill>
              </a:rPr>
              <a:t>Receives, then drops</a:t>
            </a:r>
            <a:endParaRPr lang="en-US" sz="1500" dirty="0"/>
          </a:p>
        </p:txBody>
      </p:sp>
      <p:sp>
        <p:nvSpPr>
          <p:cNvPr id="12" name="Shape 10"/>
          <p:cNvSpPr/>
          <p:nvPr/>
        </p:nvSpPr>
        <p:spPr>
          <a:xfrm>
            <a:off x="548640" y="3209544"/>
            <a:ext cx="5440680" cy="603504"/>
          </a:xfrm>
          <a:prstGeom prst="roundRect">
            <a:avLst>
              <a:gd name="adj" fmla="val 12121"/>
            </a:avLst>
          </a:prstGeom>
          <a:solidFill>
            <a:schemeClr val="bg2"/>
          </a:solidFill>
          <a:ln w="9525">
            <a:solidFill>
              <a:schemeClr val="bg2"/>
            </a:solidFill>
            <a:prstDash val="solid"/>
          </a:ln>
        </p:spPr>
        <p:txBody>
          <a:bodyPr/>
          <a:p/>
        </p:txBody>
      </p:sp>
      <p:sp>
        <p:nvSpPr>
          <p:cNvPr id="13" name="Shape 11"/>
          <p:cNvSpPr/>
          <p:nvPr/>
        </p:nvSpPr>
        <p:spPr>
          <a:xfrm>
            <a:off x="685800" y="3310128"/>
            <a:ext cx="402336" cy="402336"/>
          </a:xfrm>
          <a:prstGeom prst="ellipse">
            <a:avLst/>
          </a:prstGeom>
          <a:solidFill>
            <a:schemeClr val="accent4"/>
          </a:solidFill>
          <a:ln w="12700">
            <a:solidFill>
              <a:schemeClr val="accent4"/>
            </a:solidFill>
            <a:prstDash val="solid"/>
          </a:ln>
        </p:spPr>
        <p:txBody>
          <a:bodyPr/>
          <a:p/>
        </p:txBody>
      </p:sp>
      <p:sp>
        <p:nvSpPr>
          <p:cNvPr id="14" name="Text 12"/>
          <p:cNvSpPr txBox="1"/>
          <p:nvPr/>
        </p:nvSpPr>
        <p:spPr>
          <a:xfrm>
            <a:off x="685800" y="3310128"/>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5" name="Text 13"/>
          <p:cNvSpPr txBox="1"/>
          <p:nvPr/>
        </p:nvSpPr>
        <p:spPr>
          <a:xfrm>
            <a:off x="1234440" y="3209544"/>
            <a:ext cx="4663440" cy="603504"/>
          </a:xfrm>
          <a:prstGeom prst="rect">
            <a:avLst/>
          </a:prstGeom>
          <a:noFill/>
          <a:ln/>
        </p:spPr>
        <p:txBody>
          <a:bodyPr wrap="square" lIns="635" tIns="635" rIns="635" bIns="635" rtlCol="0" anchor="ctr"/>
          <a:lstStyle/>
          <a:p>
            <a:pPr indent="0" marL="0">
              <a:buNone/>
            </a:pPr>
            <a:r>
              <a:rPr lang="en-US" sz="1500" dirty="0">
                <a:solidFill>
                  <a:schemeClr val="tx1"/>
                </a:solidFill>
              </a:rPr>
              <a:t>Stays protocol-compliant</a:t>
            </a:r>
            <a:endParaRPr lang="en-US" sz="1500" dirty="0"/>
          </a:p>
        </p:txBody>
      </p:sp>
      <p:sp>
        <p:nvSpPr>
          <p:cNvPr id="16" name="Shape 14"/>
          <p:cNvSpPr/>
          <p:nvPr/>
        </p:nvSpPr>
        <p:spPr>
          <a:xfrm>
            <a:off x="548640" y="3922776"/>
            <a:ext cx="5440680" cy="603504"/>
          </a:xfrm>
          <a:prstGeom prst="roundRect">
            <a:avLst>
              <a:gd name="adj" fmla="val 12121"/>
            </a:avLst>
          </a:prstGeom>
          <a:solidFill>
            <a:schemeClr val="bg2"/>
          </a:solidFill>
          <a:ln w="9525">
            <a:solidFill>
              <a:schemeClr val="bg2"/>
            </a:solidFill>
            <a:prstDash val="solid"/>
          </a:ln>
        </p:spPr>
        <p:txBody>
          <a:bodyPr/>
          <a:p/>
        </p:txBody>
      </p:sp>
      <p:sp>
        <p:nvSpPr>
          <p:cNvPr id="17" name="Shape 15"/>
          <p:cNvSpPr/>
          <p:nvPr/>
        </p:nvSpPr>
        <p:spPr>
          <a:xfrm>
            <a:off x="685800" y="4023360"/>
            <a:ext cx="402336" cy="402336"/>
          </a:xfrm>
          <a:prstGeom prst="ellipse">
            <a:avLst/>
          </a:prstGeom>
          <a:solidFill>
            <a:schemeClr val="accent4"/>
          </a:solidFill>
          <a:ln w="12700">
            <a:solidFill>
              <a:schemeClr val="accent4"/>
            </a:solidFill>
            <a:prstDash val="solid"/>
          </a:ln>
        </p:spPr>
        <p:txBody>
          <a:bodyPr/>
          <a:p/>
        </p:txBody>
      </p:sp>
      <p:sp>
        <p:nvSpPr>
          <p:cNvPr id="18" name="Text 16"/>
          <p:cNvSpPr txBox="1"/>
          <p:nvPr/>
        </p:nvSpPr>
        <p:spPr>
          <a:xfrm>
            <a:off x="685800" y="402336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9" name="Text 17"/>
          <p:cNvSpPr txBox="1"/>
          <p:nvPr/>
        </p:nvSpPr>
        <p:spPr>
          <a:xfrm>
            <a:off x="1234440" y="3922776"/>
            <a:ext cx="4663440" cy="603504"/>
          </a:xfrm>
          <a:prstGeom prst="rect">
            <a:avLst/>
          </a:prstGeom>
          <a:noFill/>
          <a:ln/>
        </p:spPr>
        <p:txBody>
          <a:bodyPr wrap="square" lIns="635" tIns="635" rIns="635" bIns="635" rtlCol="0" anchor="ctr"/>
          <a:lstStyle/>
          <a:p>
            <a:pPr indent="0" marL="0">
              <a:buNone/>
            </a:pPr>
            <a:r>
              <a:rPr lang="en-US" sz="1500" dirty="0">
                <a:solidFill>
                  <a:schemeClr val="tx1"/>
                </a:solidFill>
              </a:rPr>
              <a:t>Delivery collapses, node reachable</a:t>
            </a:r>
            <a:endParaRPr lang="en-US" sz="1500" dirty="0"/>
          </a:p>
        </p:txBody>
      </p:sp>
      <p:sp>
        <p:nvSpPr>
          <p:cNvPr id="20" name="Shape 18"/>
          <p:cNvSpPr/>
          <p:nvPr/>
        </p:nvSpPr>
        <p:spPr>
          <a:xfrm>
            <a:off x="548640" y="4636008"/>
            <a:ext cx="5440680" cy="603504"/>
          </a:xfrm>
          <a:prstGeom prst="roundRect">
            <a:avLst>
              <a:gd name="adj" fmla="val 12121"/>
            </a:avLst>
          </a:prstGeom>
          <a:solidFill>
            <a:schemeClr val="bg2"/>
          </a:solidFill>
          <a:ln w="9525">
            <a:solidFill>
              <a:schemeClr val="bg2"/>
            </a:solidFill>
            <a:prstDash val="solid"/>
          </a:ln>
        </p:spPr>
        <p:txBody>
          <a:bodyPr/>
          <a:p/>
        </p:txBody>
      </p:sp>
      <p:sp>
        <p:nvSpPr>
          <p:cNvPr id="21" name="Shape 19"/>
          <p:cNvSpPr/>
          <p:nvPr/>
        </p:nvSpPr>
        <p:spPr>
          <a:xfrm>
            <a:off x="685800" y="4736592"/>
            <a:ext cx="402336" cy="402336"/>
          </a:xfrm>
          <a:prstGeom prst="ellipse">
            <a:avLst/>
          </a:prstGeom>
          <a:solidFill>
            <a:schemeClr val="accent3"/>
          </a:solidFill>
          <a:ln w="12700">
            <a:solidFill>
              <a:schemeClr val="accent3"/>
            </a:solidFill>
            <a:prstDash val="solid"/>
          </a:ln>
        </p:spPr>
        <p:txBody>
          <a:bodyPr/>
          <a:p/>
        </p:txBody>
      </p:sp>
      <p:sp>
        <p:nvSpPr>
          <p:cNvPr id="22" name="Text 20"/>
          <p:cNvSpPr txBox="1"/>
          <p:nvPr/>
        </p:nvSpPr>
        <p:spPr>
          <a:xfrm>
            <a:off x="685800" y="4736592"/>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3" name="Text 21"/>
          <p:cNvSpPr txBox="1"/>
          <p:nvPr/>
        </p:nvSpPr>
        <p:spPr>
          <a:xfrm>
            <a:off x="1234440" y="4636008"/>
            <a:ext cx="4663440" cy="603504"/>
          </a:xfrm>
          <a:prstGeom prst="rect">
            <a:avLst/>
          </a:prstGeom>
          <a:noFill/>
          <a:ln/>
        </p:spPr>
        <p:txBody>
          <a:bodyPr wrap="square" lIns="635" tIns="635" rIns="635" bIns="635" rtlCol="0" anchor="ctr"/>
          <a:lstStyle/>
          <a:p>
            <a:pPr indent="0" marL="0">
              <a:buNone/>
            </a:pPr>
            <a:r>
              <a:rPr lang="en-US" sz="1500" dirty="0">
                <a:solidFill>
                  <a:schemeClr val="tx1"/>
                </a:solidFill>
              </a:rPr>
              <a:t>Attracts traffic with a false route</a:t>
            </a:r>
            <a:endParaRPr lang="en-US" sz="1500" dirty="0"/>
          </a:p>
        </p:txBody>
      </p:sp>
      <p:sp>
        <p:nvSpPr>
          <p:cNvPr id="24" name="Text 22"/>
          <p:cNvSpPr txBox="1"/>
          <p:nvPr/>
        </p:nvSpPr>
        <p:spPr>
          <a:xfrm>
            <a:off x="6172200" y="1234440"/>
            <a:ext cx="5440680" cy="457200"/>
          </a:xfrm>
          <a:prstGeom prst="rect">
            <a:avLst/>
          </a:prstGeom>
          <a:noFill/>
          <a:ln/>
        </p:spPr>
        <p:txBody>
          <a:bodyPr wrap="square" lIns="635" tIns="635" rIns="635" bIns="635" rtlCol="0" anchor="t"/>
          <a:lstStyle/>
          <a:p>
            <a:pPr indent="0" marL="0">
              <a:buNone/>
            </a:pPr>
            <a:r>
              <a:rPr lang="en-US" sz="1800" b="1" dirty="0">
                <a:solidFill>
                  <a:schemeClr val="tx2"/>
                </a:solidFill>
              </a:rPr>
              <a:t>Wormhole vs Hu, Perrig &amp; Johnson [46]</a:t>
            </a:r>
            <a:endParaRPr lang="en-US" sz="1800" dirty="0"/>
          </a:p>
        </p:txBody>
      </p:sp>
      <p:sp>
        <p:nvSpPr>
          <p:cNvPr id="25" name="Shape 23"/>
          <p:cNvSpPr/>
          <p:nvPr/>
        </p:nvSpPr>
        <p:spPr>
          <a:xfrm>
            <a:off x="6172200" y="1783080"/>
            <a:ext cx="5440680" cy="603504"/>
          </a:xfrm>
          <a:prstGeom prst="roundRect">
            <a:avLst>
              <a:gd name="adj" fmla="val 12121"/>
            </a:avLst>
          </a:prstGeom>
          <a:solidFill>
            <a:schemeClr val="bg2"/>
          </a:solidFill>
          <a:ln w="9525">
            <a:solidFill>
              <a:schemeClr val="bg2"/>
            </a:solidFill>
            <a:prstDash val="solid"/>
          </a:ln>
        </p:spPr>
        <p:txBody>
          <a:bodyPr/>
          <a:p/>
        </p:txBody>
      </p:sp>
      <p:sp>
        <p:nvSpPr>
          <p:cNvPr id="26" name="Shape 24"/>
          <p:cNvSpPr/>
          <p:nvPr/>
        </p:nvSpPr>
        <p:spPr>
          <a:xfrm>
            <a:off x="6309360" y="1883664"/>
            <a:ext cx="402336" cy="402336"/>
          </a:xfrm>
          <a:prstGeom prst="ellipse">
            <a:avLst/>
          </a:prstGeom>
          <a:solidFill>
            <a:schemeClr val="accent4"/>
          </a:solidFill>
          <a:ln w="12700">
            <a:solidFill>
              <a:schemeClr val="accent4"/>
            </a:solidFill>
            <a:prstDash val="solid"/>
          </a:ln>
        </p:spPr>
        <p:txBody>
          <a:bodyPr/>
          <a:p/>
        </p:txBody>
      </p:sp>
      <p:sp>
        <p:nvSpPr>
          <p:cNvPr id="27" name="Text 25"/>
          <p:cNvSpPr txBox="1"/>
          <p:nvPr/>
        </p:nvSpPr>
        <p:spPr>
          <a:xfrm>
            <a:off x="6309360" y="1883664"/>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8" name="Text 26"/>
          <p:cNvSpPr txBox="1"/>
          <p:nvPr/>
        </p:nvSpPr>
        <p:spPr>
          <a:xfrm>
            <a:off x="6858000" y="1783080"/>
            <a:ext cx="4663440" cy="603504"/>
          </a:xfrm>
          <a:prstGeom prst="rect">
            <a:avLst/>
          </a:prstGeom>
          <a:noFill/>
          <a:ln/>
        </p:spPr>
        <p:txBody>
          <a:bodyPr wrap="square" lIns="635" tIns="635" rIns="635" bIns="635" rtlCol="0" anchor="ctr"/>
          <a:lstStyle/>
          <a:p>
            <a:pPr indent="0" marL="0">
              <a:buNone/>
            </a:pPr>
            <a:r>
              <a:rPr lang="en-US" sz="1500" dirty="0">
                <a:solidFill>
                  <a:schemeClr val="tx1"/>
                </a:solidFill>
              </a:rPr>
              <a:t>Two colluding endpoints</a:t>
            </a:r>
            <a:endParaRPr lang="en-US" sz="1500" dirty="0"/>
          </a:p>
        </p:txBody>
      </p:sp>
      <p:sp>
        <p:nvSpPr>
          <p:cNvPr id="29" name="Shape 27"/>
          <p:cNvSpPr/>
          <p:nvPr/>
        </p:nvSpPr>
        <p:spPr>
          <a:xfrm>
            <a:off x="6172200" y="2496312"/>
            <a:ext cx="5440680" cy="603504"/>
          </a:xfrm>
          <a:prstGeom prst="roundRect">
            <a:avLst>
              <a:gd name="adj" fmla="val 12121"/>
            </a:avLst>
          </a:prstGeom>
          <a:solidFill>
            <a:schemeClr val="bg2"/>
          </a:solidFill>
          <a:ln w="9525">
            <a:solidFill>
              <a:schemeClr val="bg2"/>
            </a:solidFill>
            <a:prstDash val="solid"/>
          </a:ln>
        </p:spPr>
        <p:txBody>
          <a:bodyPr/>
          <a:p/>
        </p:txBody>
      </p:sp>
      <p:sp>
        <p:nvSpPr>
          <p:cNvPr id="30" name="Shape 28"/>
          <p:cNvSpPr/>
          <p:nvPr/>
        </p:nvSpPr>
        <p:spPr>
          <a:xfrm>
            <a:off x="6309360" y="2596896"/>
            <a:ext cx="402336" cy="402336"/>
          </a:xfrm>
          <a:prstGeom prst="ellipse">
            <a:avLst/>
          </a:prstGeom>
          <a:solidFill>
            <a:schemeClr val="accent4"/>
          </a:solidFill>
          <a:ln w="12700">
            <a:solidFill>
              <a:schemeClr val="accent4"/>
            </a:solidFill>
            <a:prstDash val="solid"/>
          </a:ln>
        </p:spPr>
        <p:txBody>
          <a:bodyPr/>
          <a:p/>
        </p:txBody>
      </p:sp>
      <p:sp>
        <p:nvSpPr>
          <p:cNvPr id="31" name="Text 29"/>
          <p:cNvSpPr txBox="1"/>
          <p:nvPr/>
        </p:nvSpPr>
        <p:spPr>
          <a:xfrm>
            <a:off x="6309360" y="2596896"/>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2" name="Text 30"/>
          <p:cNvSpPr txBox="1"/>
          <p:nvPr/>
        </p:nvSpPr>
        <p:spPr>
          <a:xfrm>
            <a:off x="6858000" y="2496312"/>
            <a:ext cx="4663440" cy="603504"/>
          </a:xfrm>
          <a:prstGeom prst="rect">
            <a:avLst/>
          </a:prstGeom>
          <a:noFill/>
          <a:ln/>
        </p:spPr>
        <p:txBody>
          <a:bodyPr wrap="square" lIns="635" tIns="635" rIns="635" bIns="635" rtlCol="0" anchor="ctr"/>
          <a:lstStyle/>
          <a:p>
            <a:pPr indent="0" marL="0">
              <a:buNone/>
            </a:pPr>
            <a:r>
              <a:rPr lang="en-US" sz="1500" dirty="0">
                <a:solidFill>
                  <a:schemeClr val="tx1"/>
                </a:solidFill>
              </a:rPr>
              <a:t>Out-of-band channel</a:t>
            </a:r>
            <a:endParaRPr lang="en-US" sz="1500" dirty="0"/>
          </a:p>
        </p:txBody>
      </p:sp>
      <p:sp>
        <p:nvSpPr>
          <p:cNvPr id="33" name="Shape 31"/>
          <p:cNvSpPr/>
          <p:nvPr/>
        </p:nvSpPr>
        <p:spPr>
          <a:xfrm>
            <a:off x="6172200" y="3209544"/>
            <a:ext cx="5440680" cy="603504"/>
          </a:xfrm>
          <a:prstGeom prst="roundRect">
            <a:avLst>
              <a:gd name="adj" fmla="val 12121"/>
            </a:avLst>
          </a:prstGeom>
          <a:solidFill>
            <a:schemeClr val="bg2"/>
          </a:solidFill>
          <a:ln w="9525">
            <a:solidFill>
              <a:schemeClr val="bg2"/>
            </a:solidFill>
            <a:prstDash val="solid"/>
          </a:ln>
        </p:spPr>
        <p:txBody>
          <a:bodyPr/>
          <a:p/>
        </p:txBody>
      </p:sp>
      <p:sp>
        <p:nvSpPr>
          <p:cNvPr id="34" name="Shape 32"/>
          <p:cNvSpPr/>
          <p:nvPr/>
        </p:nvSpPr>
        <p:spPr>
          <a:xfrm>
            <a:off x="6309360" y="3310128"/>
            <a:ext cx="402336" cy="402336"/>
          </a:xfrm>
          <a:prstGeom prst="ellipse">
            <a:avLst/>
          </a:prstGeom>
          <a:solidFill>
            <a:schemeClr val="accent4"/>
          </a:solidFill>
          <a:ln w="12700">
            <a:solidFill>
              <a:schemeClr val="accent4"/>
            </a:solidFill>
            <a:prstDash val="solid"/>
          </a:ln>
        </p:spPr>
        <p:txBody>
          <a:bodyPr/>
          <a:p/>
        </p:txBody>
      </p:sp>
      <p:sp>
        <p:nvSpPr>
          <p:cNvPr id="35" name="Text 33"/>
          <p:cNvSpPr txBox="1"/>
          <p:nvPr/>
        </p:nvSpPr>
        <p:spPr>
          <a:xfrm>
            <a:off x="6309360" y="3310128"/>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6" name="Text 34"/>
          <p:cNvSpPr txBox="1"/>
          <p:nvPr/>
        </p:nvSpPr>
        <p:spPr>
          <a:xfrm>
            <a:off x="6858000" y="3209544"/>
            <a:ext cx="4663440" cy="603504"/>
          </a:xfrm>
          <a:prstGeom prst="rect">
            <a:avLst/>
          </a:prstGeom>
          <a:noFill/>
          <a:ln/>
        </p:spPr>
        <p:txBody>
          <a:bodyPr wrap="square" lIns="635" tIns="635" rIns="635" bIns="635" rtlCol="0" anchor="ctr"/>
          <a:lstStyle/>
          <a:p>
            <a:pPr indent="0" marL="0">
              <a:buNone/>
            </a:pPr>
            <a:r>
              <a:rPr lang="en-US" sz="1500" dirty="0">
                <a:solidFill>
                  <a:schemeClr val="tx1"/>
                </a:solidFill>
              </a:rPr>
              <a:t>Captured at one end, replayed at the other</a:t>
            </a:r>
            <a:endParaRPr lang="en-US" sz="1500" dirty="0"/>
          </a:p>
        </p:txBody>
      </p:sp>
      <p:sp>
        <p:nvSpPr>
          <p:cNvPr id="37" name="Shape 35"/>
          <p:cNvSpPr/>
          <p:nvPr/>
        </p:nvSpPr>
        <p:spPr>
          <a:xfrm>
            <a:off x="6172200" y="3922776"/>
            <a:ext cx="5440680" cy="603504"/>
          </a:xfrm>
          <a:prstGeom prst="roundRect">
            <a:avLst>
              <a:gd name="adj" fmla="val 12121"/>
            </a:avLst>
          </a:prstGeom>
          <a:solidFill>
            <a:schemeClr val="bg2"/>
          </a:solidFill>
          <a:ln w="9525">
            <a:solidFill>
              <a:schemeClr val="bg2"/>
            </a:solidFill>
            <a:prstDash val="solid"/>
          </a:ln>
        </p:spPr>
        <p:txBody>
          <a:bodyPr/>
          <a:p/>
        </p:txBody>
      </p:sp>
      <p:sp>
        <p:nvSpPr>
          <p:cNvPr id="38" name="Shape 36"/>
          <p:cNvSpPr/>
          <p:nvPr/>
        </p:nvSpPr>
        <p:spPr>
          <a:xfrm>
            <a:off x="6309360" y="4023360"/>
            <a:ext cx="402336" cy="402336"/>
          </a:xfrm>
          <a:prstGeom prst="ellipse">
            <a:avLst/>
          </a:prstGeom>
          <a:solidFill>
            <a:schemeClr val="accent4"/>
          </a:solidFill>
          <a:ln w="12700">
            <a:solidFill>
              <a:schemeClr val="accent4"/>
            </a:solidFill>
            <a:prstDash val="solid"/>
          </a:ln>
        </p:spPr>
        <p:txBody>
          <a:bodyPr/>
          <a:p/>
        </p:txBody>
      </p:sp>
      <p:sp>
        <p:nvSpPr>
          <p:cNvPr id="39" name="Text 37"/>
          <p:cNvSpPr txBox="1"/>
          <p:nvPr/>
        </p:nvSpPr>
        <p:spPr>
          <a:xfrm>
            <a:off x="6309360" y="402336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40" name="Text 38"/>
          <p:cNvSpPr txBox="1"/>
          <p:nvPr/>
        </p:nvSpPr>
        <p:spPr>
          <a:xfrm>
            <a:off x="6858000" y="3922776"/>
            <a:ext cx="4663440" cy="603504"/>
          </a:xfrm>
          <a:prstGeom prst="rect">
            <a:avLst/>
          </a:prstGeom>
          <a:noFill/>
          <a:ln/>
        </p:spPr>
        <p:txBody>
          <a:bodyPr wrap="square" lIns="635" tIns="635" rIns="635" bIns="635" rtlCol="0" anchor="ctr"/>
          <a:lstStyle/>
          <a:p>
            <a:pPr indent="0" marL="0">
              <a:buNone/>
            </a:pPr>
            <a:r>
              <a:rPr lang="en-US" sz="1500" dirty="0">
                <a:solidFill>
                  <a:schemeClr val="tx1"/>
                </a:solidFill>
              </a:rPr>
              <a:t>No keys or hosts compromised</a:t>
            </a:r>
            <a:endParaRPr lang="en-US" sz="1500" dirty="0"/>
          </a:p>
        </p:txBody>
      </p:sp>
      <p:sp>
        <p:nvSpPr>
          <p:cNvPr id="41" name="Shape 39"/>
          <p:cNvSpPr/>
          <p:nvPr/>
        </p:nvSpPr>
        <p:spPr>
          <a:xfrm>
            <a:off x="6172200" y="4636008"/>
            <a:ext cx="5440680" cy="603504"/>
          </a:xfrm>
          <a:prstGeom prst="roundRect">
            <a:avLst>
              <a:gd name="adj" fmla="val 12121"/>
            </a:avLst>
          </a:prstGeom>
          <a:solidFill>
            <a:schemeClr val="bg2"/>
          </a:solidFill>
          <a:ln w="9525">
            <a:solidFill>
              <a:schemeClr val="bg2"/>
            </a:solidFill>
            <a:prstDash val="solid"/>
          </a:ln>
        </p:spPr>
        <p:txBody>
          <a:bodyPr/>
          <a:p/>
        </p:txBody>
      </p:sp>
      <p:sp>
        <p:nvSpPr>
          <p:cNvPr id="42" name="Shape 40"/>
          <p:cNvSpPr/>
          <p:nvPr/>
        </p:nvSpPr>
        <p:spPr>
          <a:xfrm>
            <a:off x="6309360" y="4736592"/>
            <a:ext cx="402336" cy="402336"/>
          </a:xfrm>
          <a:prstGeom prst="ellipse">
            <a:avLst/>
          </a:prstGeom>
          <a:solidFill>
            <a:schemeClr val="accent3"/>
          </a:solidFill>
          <a:ln w="12700">
            <a:solidFill>
              <a:schemeClr val="accent3"/>
            </a:solidFill>
            <a:prstDash val="solid"/>
          </a:ln>
        </p:spPr>
        <p:txBody>
          <a:bodyPr/>
          <a:p/>
        </p:txBody>
      </p:sp>
      <p:sp>
        <p:nvSpPr>
          <p:cNvPr id="43" name="Text 41"/>
          <p:cNvSpPr txBox="1"/>
          <p:nvPr/>
        </p:nvSpPr>
        <p:spPr>
          <a:xfrm>
            <a:off x="6309360" y="4736592"/>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44" name="Text 42"/>
          <p:cNvSpPr txBox="1"/>
          <p:nvPr/>
        </p:nvSpPr>
        <p:spPr>
          <a:xfrm>
            <a:off x="6858000" y="4636008"/>
            <a:ext cx="4663440" cy="603504"/>
          </a:xfrm>
          <a:prstGeom prst="rect">
            <a:avLst/>
          </a:prstGeom>
          <a:noFill/>
          <a:ln/>
        </p:spPr>
        <p:txBody>
          <a:bodyPr wrap="square" lIns="635" tIns="635" rIns="635" bIns="635" rtlCol="0" anchor="ctr"/>
          <a:lstStyle/>
          <a:p>
            <a:pPr indent="0" marL="0">
              <a:buNone/>
            </a:pPr>
            <a:r>
              <a:rPr lang="en-US" sz="1500" dirty="0">
                <a:solidFill>
                  <a:schemeClr val="tx1"/>
                </a:solidFill>
              </a:rPr>
              <a:t>Creates a false neighbour</a:t>
            </a:r>
            <a:endParaRPr lang="en-US" sz="1500" dirty="0"/>
          </a:p>
        </p:txBody>
      </p:sp>
      <p:sp>
        <p:nvSpPr>
          <p:cNvPr id="45" name="Text 43"/>
          <p:cNvSpPr txBox="1"/>
          <p:nvPr/>
        </p:nvSpPr>
        <p:spPr>
          <a:xfrm>
            <a:off x="548640" y="5486400"/>
            <a:ext cx="11064240" cy="777240"/>
          </a:xfrm>
          <a:prstGeom prst="rect">
            <a:avLst/>
          </a:prstGeom>
          <a:noFill/>
          <a:ln/>
        </p:spPr>
        <p:txBody>
          <a:bodyPr wrap="square" lIns="635" tIns="635" rIns="635" bIns="635" rtlCol="0" anchor="t"/>
          <a:lstStyle/>
          <a:p>
            <a:pPr indent="0" marL="0">
              <a:buNone/>
            </a:pPr>
            <a:r>
              <a:rPr lang="en-US" sz="1400" dirty="0">
                <a:solidFill>
                  <a:schemeClr val="tx2"/>
                </a:solidFill>
              </a:rPr>
              <a:t>Evidence: G402 linear stationary — attacker forwarded 1 of 1,077 probes and all six victims fell from PDR 1.000 to 0.000. All nine linear wormhole runs — the root logged Node B's probes twice in 179–180 attack windows each, never in baseline or cooldown.</a:t>
            </a:r>
            <a:endParaRPr lang="en-US" sz="14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Four topologies under the blackhole</a:t>
            </a:r>
            <a:endParaRPr lang="en-US" sz="3000" dirty="0"/>
          </a:p>
        </p:txBody>
      </p:sp>
      <p:sp>
        <p:nvSpPr>
          <p:cNvPr id="3" name="Shape 1"/>
          <p:cNvSpPr/>
          <p:nvPr/>
        </p:nvSpPr>
        <p:spPr>
          <a:xfrm>
            <a:off x="548640" y="1234440"/>
            <a:ext cx="2651760" cy="3429000"/>
          </a:xfrm>
          <a:prstGeom prst="roundRect">
            <a:avLst>
              <a:gd name="adj" fmla="val 2759"/>
            </a:avLst>
          </a:prstGeom>
          <a:solidFill>
            <a:schemeClr val="bg1"/>
          </a:solidFill>
          <a:ln w="9525">
            <a:solidFill>
              <a:srgbClr val="D5DEE2"/>
            </a:solidFill>
            <a:prstDash val="solid"/>
          </a:ln>
        </p:spPr>
      </p:sp>
      <p:pic>
        <p:nvPicPr>
          <p:cNvPr id="4" name="Image 0" descr="C:\Users\Basti\AppData\Local\Temp\claude\s--My-Work-Business-Claude-AI-OS\0ab24a58-0f30-461e-a540-2897b1eafd74\scratchpad\deck\img\topology_star_blackhole.png">    </p:cNvPr>
          <p:cNvPicPr>
            <a:picLocks noChangeAspect="1"/>
          </p:cNvPicPr>
          <p:nvPr/>
        </p:nvPicPr>
        <p:blipFill>
          <a:blip r:embed="rId1"/>
          <a:stretch>
            <a:fillRect/>
          </a:stretch>
        </p:blipFill>
        <p:spPr>
          <a:xfrm>
            <a:off x="594360" y="1543050"/>
            <a:ext cx="2560320" cy="2537460"/>
          </a:xfrm>
          <a:prstGeom prst="rect">
            <a:avLst/>
          </a:prstGeom>
        </p:spPr>
      </p:pic>
      <p:sp>
        <p:nvSpPr>
          <p:cNvPr id="5" name="Text 2"/>
          <p:cNvSpPr txBox="1"/>
          <p:nvPr/>
        </p:nvSpPr>
        <p:spPr>
          <a:xfrm>
            <a:off x="548640" y="4251960"/>
            <a:ext cx="2651760" cy="365760"/>
          </a:xfrm>
          <a:prstGeom prst="rect">
            <a:avLst/>
          </a:prstGeom>
          <a:noFill/>
          <a:ln/>
        </p:spPr>
        <p:txBody>
          <a:bodyPr wrap="square" lIns="635" tIns="635" rIns="635" bIns="635" rtlCol="0" anchor="t"/>
          <a:lstStyle/>
          <a:p>
            <a:pPr algn="ctr" indent="0" marL="0">
              <a:buNone/>
            </a:pPr>
            <a:r>
              <a:rPr lang="en-US" sz="1500" b="1" dirty="0">
                <a:solidFill>
                  <a:schemeClr val="tx2"/>
                </a:solidFill>
              </a:rPr>
              <a:t>Star</a:t>
            </a:r>
            <a:endParaRPr lang="en-US" sz="1500" dirty="0"/>
          </a:p>
        </p:txBody>
      </p:sp>
      <p:sp>
        <p:nvSpPr>
          <p:cNvPr id="6" name="Shape 3"/>
          <p:cNvSpPr/>
          <p:nvPr/>
        </p:nvSpPr>
        <p:spPr>
          <a:xfrm>
            <a:off x="3364992" y="1234440"/>
            <a:ext cx="2651760" cy="3429000"/>
          </a:xfrm>
          <a:prstGeom prst="roundRect">
            <a:avLst>
              <a:gd name="adj" fmla="val 2759"/>
            </a:avLst>
          </a:prstGeom>
          <a:solidFill>
            <a:schemeClr val="bg1"/>
          </a:solidFill>
          <a:ln w="9525">
            <a:solidFill>
              <a:srgbClr val="D5DEE2"/>
            </a:solidFill>
            <a:prstDash val="solid"/>
          </a:ln>
        </p:spPr>
      </p:sp>
      <p:pic>
        <p:nvPicPr>
          <p:cNvPr id="7" name="Image 1" descr="C:\Users\Basti\AppData\Local\Temp\claude\s--My-Work-Business-Claude-AI-OS\0ab24a58-0f30-461e-a540-2897b1eafd74\scratchpad\deck\img\topology_tree_blackhole.png">    </p:cNvPr>
          <p:cNvPicPr>
            <a:picLocks noChangeAspect="1"/>
          </p:cNvPicPr>
          <p:nvPr/>
        </p:nvPicPr>
        <p:blipFill>
          <a:blip r:embed="rId2"/>
          <a:stretch>
            <a:fillRect/>
          </a:stretch>
        </p:blipFill>
        <p:spPr>
          <a:xfrm>
            <a:off x="3410712" y="1789717"/>
            <a:ext cx="2560320" cy="2044126"/>
          </a:xfrm>
          <a:prstGeom prst="rect">
            <a:avLst/>
          </a:prstGeom>
        </p:spPr>
      </p:pic>
      <p:sp>
        <p:nvSpPr>
          <p:cNvPr id="8" name="Text 4"/>
          <p:cNvSpPr txBox="1"/>
          <p:nvPr/>
        </p:nvSpPr>
        <p:spPr>
          <a:xfrm>
            <a:off x="3364992" y="4251960"/>
            <a:ext cx="2651760" cy="365760"/>
          </a:xfrm>
          <a:prstGeom prst="rect">
            <a:avLst/>
          </a:prstGeom>
          <a:noFill/>
          <a:ln/>
        </p:spPr>
        <p:txBody>
          <a:bodyPr wrap="square" lIns="635" tIns="635" rIns="635" bIns="635" rtlCol="0" anchor="t"/>
          <a:lstStyle/>
          <a:p>
            <a:pPr algn="ctr" indent="0" marL="0">
              <a:buNone/>
            </a:pPr>
            <a:r>
              <a:rPr lang="en-US" sz="1500" b="1" dirty="0">
                <a:solidFill>
                  <a:schemeClr val="tx2"/>
                </a:solidFill>
              </a:rPr>
              <a:t>Tree</a:t>
            </a:r>
            <a:endParaRPr lang="en-US" sz="1500" dirty="0"/>
          </a:p>
        </p:txBody>
      </p:sp>
      <p:sp>
        <p:nvSpPr>
          <p:cNvPr id="9" name="Shape 5"/>
          <p:cNvSpPr/>
          <p:nvPr/>
        </p:nvSpPr>
        <p:spPr>
          <a:xfrm>
            <a:off x="6181344" y="1234440"/>
            <a:ext cx="2651760" cy="3429000"/>
          </a:xfrm>
          <a:prstGeom prst="roundRect">
            <a:avLst>
              <a:gd name="adj" fmla="val 2759"/>
            </a:avLst>
          </a:prstGeom>
          <a:solidFill>
            <a:schemeClr val="bg1"/>
          </a:solidFill>
          <a:ln w="9525">
            <a:solidFill>
              <a:srgbClr val="D5DEE2"/>
            </a:solidFill>
            <a:prstDash val="solid"/>
          </a:ln>
        </p:spPr>
      </p:sp>
      <p:pic>
        <p:nvPicPr>
          <p:cNvPr id="10" name="Image 2" descr="C:\Users\Basti\AppData\Local\Temp\claude\s--My-Work-Business-Claude-AI-OS\0ab24a58-0f30-461e-a540-2897b1eafd74\scratchpad\deck\img\topology_linear_blackhole.png">    </p:cNvPr>
          <p:cNvPicPr>
            <a:picLocks noChangeAspect="1"/>
          </p:cNvPicPr>
          <p:nvPr/>
        </p:nvPicPr>
        <p:blipFill>
          <a:blip r:embed="rId3"/>
          <a:stretch>
            <a:fillRect/>
          </a:stretch>
        </p:blipFill>
        <p:spPr>
          <a:xfrm>
            <a:off x="6227064" y="2201704"/>
            <a:ext cx="2560320" cy="1220152"/>
          </a:xfrm>
          <a:prstGeom prst="rect">
            <a:avLst/>
          </a:prstGeom>
        </p:spPr>
      </p:pic>
      <p:sp>
        <p:nvSpPr>
          <p:cNvPr id="11" name="Text 6"/>
          <p:cNvSpPr txBox="1"/>
          <p:nvPr/>
        </p:nvSpPr>
        <p:spPr>
          <a:xfrm>
            <a:off x="6181344" y="4251960"/>
            <a:ext cx="2651760" cy="365760"/>
          </a:xfrm>
          <a:prstGeom prst="rect">
            <a:avLst/>
          </a:prstGeom>
          <a:noFill/>
          <a:ln/>
        </p:spPr>
        <p:txBody>
          <a:bodyPr wrap="square" lIns="635" tIns="635" rIns="635" bIns="635" rtlCol="0" anchor="t"/>
          <a:lstStyle/>
          <a:p>
            <a:pPr algn="ctr" indent="0" marL="0">
              <a:buNone/>
            </a:pPr>
            <a:r>
              <a:rPr lang="en-US" sz="1500" b="1" dirty="0">
                <a:solidFill>
                  <a:schemeClr val="tx2"/>
                </a:solidFill>
              </a:rPr>
              <a:t>Linear chain</a:t>
            </a:r>
            <a:endParaRPr lang="en-US" sz="1500" dirty="0"/>
          </a:p>
        </p:txBody>
      </p:sp>
      <p:sp>
        <p:nvSpPr>
          <p:cNvPr id="12" name="Shape 7"/>
          <p:cNvSpPr/>
          <p:nvPr/>
        </p:nvSpPr>
        <p:spPr>
          <a:xfrm>
            <a:off x="8997696" y="1234440"/>
            <a:ext cx="2651760" cy="3429000"/>
          </a:xfrm>
          <a:prstGeom prst="roundRect">
            <a:avLst>
              <a:gd name="adj" fmla="val 2759"/>
            </a:avLst>
          </a:prstGeom>
          <a:solidFill>
            <a:schemeClr val="bg1"/>
          </a:solidFill>
          <a:ln w="9525">
            <a:solidFill>
              <a:srgbClr val="D5DEE2"/>
            </a:solidFill>
            <a:prstDash val="solid"/>
          </a:ln>
        </p:spPr>
      </p:sp>
      <p:pic>
        <p:nvPicPr>
          <p:cNvPr id="13" name="Image 3" descr="C:\Users\Basti\AppData\Local\Temp\claude\s--My-Work-Business-Claude-AI-OS\0ab24a58-0f30-461e-a540-2897b1eafd74\scratchpad\deck\img\topology_partial_blackhole.png">    </p:cNvPr>
          <p:cNvPicPr>
            <a:picLocks noChangeAspect="1"/>
          </p:cNvPicPr>
          <p:nvPr/>
        </p:nvPicPr>
        <p:blipFill>
          <a:blip r:embed="rId4"/>
          <a:stretch>
            <a:fillRect/>
          </a:stretch>
        </p:blipFill>
        <p:spPr>
          <a:xfrm>
            <a:off x="9043416" y="1789717"/>
            <a:ext cx="2560320" cy="2044126"/>
          </a:xfrm>
          <a:prstGeom prst="rect">
            <a:avLst/>
          </a:prstGeom>
        </p:spPr>
      </p:pic>
      <p:sp>
        <p:nvSpPr>
          <p:cNvPr id="14" name="Text 8"/>
          <p:cNvSpPr txBox="1"/>
          <p:nvPr/>
        </p:nvSpPr>
        <p:spPr>
          <a:xfrm>
            <a:off x="8997696" y="4251960"/>
            <a:ext cx="2651760" cy="365760"/>
          </a:xfrm>
          <a:prstGeom prst="rect">
            <a:avLst/>
          </a:prstGeom>
          <a:noFill/>
          <a:ln/>
        </p:spPr>
        <p:txBody>
          <a:bodyPr wrap="square" lIns="635" tIns="635" rIns="635" bIns="635" rtlCol="0" anchor="t"/>
          <a:lstStyle/>
          <a:p>
            <a:pPr algn="ctr" indent="0" marL="0">
              <a:buNone/>
            </a:pPr>
            <a:r>
              <a:rPr lang="en-US" sz="1500" b="1" dirty="0">
                <a:solidFill>
                  <a:schemeClr val="tx2"/>
                </a:solidFill>
              </a:rPr>
              <a:t>Partial mesh</a:t>
            </a:r>
            <a:endParaRPr lang="en-US" sz="1500" dirty="0"/>
          </a:p>
        </p:txBody>
      </p:sp>
      <p:sp>
        <p:nvSpPr>
          <p:cNvPr id="15" name="Text 9"/>
          <p:cNvSpPr txBox="1"/>
          <p:nvPr/>
        </p:nvSpPr>
        <p:spPr>
          <a:xfrm>
            <a:off x="548640" y="4846320"/>
            <a:ext cx="11064240" cy="137160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Layouts come from board placement plus the ESP-IDF topology option; the mesh still builds its own tree</a:t>
            </a:r>
            <a:endParaRPr lang="en-US" sz="1500" dirty="0"/>
          </a:p>
          <a:p>
            <a:pPr marL="342900" indent="-342900">
              <a:spcAft>
                <a:spcPts val="600"/>
              </a:spcAft>
              <a:buSzPct val="100000"/>
              <a:buChar char="•"/>
            </a:pPr>
            <a:r>
              <a:rPr lang="en-US" sz="1500" dirty="0">
                <a:solidFill>
                  <a:schemeClr val="tx1"/>
                </a:solidFill>
              </a:rPr>
              <a:t>Star: the attacker is the hub and the root sits one hop behind it (D-16)</a:t>
            </a:r>
            <a:endParaRPr lang="en-US" sz="1500" dirty="0"/>
          </a:p>
          <a:p>
            <a:pPr marL="342900" indent="-342900">
              <a:spcAft>
                <a:spcPts val="600"/>
              </a:spcAft>
              <a:buSzPct val="100000"/>
              <a:buChar char="•"/>
            </a:pPr>
            <a:r>
              <a:rPr lang="en-US" sz="1500" dirty="0">
                <a:solidFill>
                  <a:schemeClr val="tx1"/>
                </a:solidFill>
              </a:rPr>
              <a:t>The attacker's depth and number of victims vary by run; the drawings show one example layout</a:t>
            </a:r>
            <a:endParaRPr lang="en-US" sz="15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Four topologies under the wormhole</a:t>
            </a:r>
            <a:endParaRPr lang="en-US" sz="3000" dirty="0"/>
          </a:p>
        </p:txBody>
      </p:sp>
      <p:sp>
        <p:nvSpPr>
          <p:cNvPr id="3" name="Shape 1"/>
          <p:cNvSpPr/>
          <p:nvPr/>
        </p:nvSpPr>
        <p:spPr>
          <a:xfrm>
            <a:off x="548640" y="1234440"/>
            <a:ext cx="2651760" cy="3429000"/>
          </a:xfrm>
          <a:prstGeom prst="roundRect">
            <a:avLst>
              <a:gd name="adj" fmla="val 2759"/>
            </a:avLst>
          </a:prstGeom>
          <a:solidFill>
            <a:schemeClr val="bg1"/>
          </a:solidFill>
          <a:ln w="9525">
            <a:solidFill>
              <a:srgbClr val="D5DEE2"/>
            </a:solidFill>
            <a:prstDash val="solid"/>
          </a:ln>
        </p:spPr>
      </p:sp>
      <p:pic>
        <p:nvPicPr>
          <p:cNvPr id="4" name="Image 0" descr="C:\Users\Basti\AppData\Local\Temp\claude\s--My-Work-Business-Claude-AI-OS\0ab24a58-0f30-461e-a540-2897b1eafd74\scratchpad\deck\img\topology_star_wormhole.png">    </p:cNvPr>
          <p:cNvPicPr>
            <a:picLocks noChangeAspect="1"/>
          </p:cNvPicPr>
          <p:nvPr/>
        </p:nvPicPr>
        <p:blipFill>
          <a:blip r:embed="rId1"/>
          <a:stretch>
            <a:fillRect/>
          </a:stretch>
        </p:blipFill>
        <p:spPr>
          <a:xfrm>
            <a:off x="594360" y="1543050"/>
            <a:ext cx="2560320" cy="2537460"/>
          </a:xfrm>
          <a:prstGeom prst="rect">
            <a:avLst/>
          </a:prstGeom>
        </p:spPr>
      </p:pic>
      <p:sp>
        <p:nvSpPr>
          <p:cNvPr id="5" name="Text 2"/>
          <p:cNvSpPr txBox="1"/>
          <p:nvPr/>
        </p:nvSpPr>
        <p:spPr>
          <a:xfrm>
            <a:off x="548640" y="4251960"/>
            <a:ext cx="2651760" cy="365760"/>
          </a:xfrm>
          <a:prstGeom prst="rect">
            <a:avLst/>
          </a:prstGeom>
          <a:noFill/>
          <a:ln/>
        </p:spPr>
        <p:txBody>
          <a:bodyPr wrap="square" lIns="635" tIns="635" rIns="635" bIns="635" rtlCol="0" anchor="t"/>
          <a:lstStyle/>
          <a:p>
            <a:pPr algn="ctr" indent="0" marL="0">
              <a:buNone/>
            </a:pPr>
            <a:r>
              <a:rPr lang="en-US" sz="1500" b="1" dirty="0">
                <a:solidFill>
                  <a:schemeClr val="tx2"/>
                </a:solidFill>
              </a:rPr>
              <a:t>Star</a:t>
            </a:r>
            <a:endParaRPr lang="en-US" sz="1500" dirty="0"/>
          </a:p>
        </p:txBody>
      </p:sp>
      <p:sp>
        <p:nvSpPr>
          <p:cNvPr id="6" name="Shape 3"/>
          <p:cNvSpPr/>
          <p:nvPr/>
        </p:nvSpPr>
        <p:spPr>
          <a:xfrm>
            <a:off x="3364992" y="1234440"/>
            <a:ext cx="2651760" cy="3429000"/>
          </a:xfrm>
          <a:prstGeom prst="roundRect">
            <a:avLst>
              <a:gd name="adj" fmla="val 2759"/>
            </a:avLst>
          </a:prstGeom>
          <a:solidFill>
            <a:schemeClr val="bg1"/>
          </a:solidFill>
          <a:ln w="9525">
            <a:solidFill>
              <a:srgbClr val="D5DEE2"/>
            </a:solidFill>
            <a:prstDash val="solid"/>
          </a:ln>
        </p:spPr>
      </p:sp>
      <p:pic>
        <p:nvPicPr>
          <p:cNvPr id="7" name="Image 1" descr="C:\Users\Basti\AppData\Local\Temp\claude\s--My-Work-Business-Claude-AI-OS\0ab24a58-0f30-461e-a540-2897b1eafd74\scratchpad\deck\img\topology_tree_wormhole.png">    </p:cNvPr>
          <p:cNvPicPr>
            <a:picLocks noChangeAspect="1"/>
          </p:cNvPicPr>
          <p:nvPr/>
        </p:nvPicPr>
        <p:blipFill>
          <a:blip r:embed="rId2"/>
          <a:stretch>
            <a:fillRect/>
          </a:stretch>
        </p:blipFill>
        <p:spPr>
          <a:xfrm>
            <a:off x="3410712" y="1789717"/>
            <a:ext cx="2560320" cy="2044126"/>
          </a:xfrm>
          <a:prstGeom prst="rect">
            <a:avLst/>
          </a:prstGeom>
        </p:spPr>
      </p:pic>
      <p:sp>
        <p:nvSpPr>
          <p:cNvPr id="8" name="Text 4"/>
          <p:cNvSpPr txBox="1"/>
          <p:nvPr/>
        </p:nvSpPr>
        <p:spPr>
          <a:xfrm>
            <a:off x="3364992" y="4251960"/>
            <a:ext cx="2651760" cy="365760"/>
          </a:xfrm>
          <a:prstGeom prst="rect">
            <a:avLst/>
          </a:prstGeom>
          <a:noFill/>
          <a:ln/>
        </p:spPr>
        <p:txBody>
          <a:bodyPr wrap="square" lIns="635" tIns="635" rIns="635" bIns="635" rtlCol="0" anchor="t"/>
          <a:lstStyle/>
          <a:p>
            <a:pPr algn="ctr" indent="0" marL="0">
              <a:buNone/>
            </a:pPr>
            <a:r>
              <a:rPr lang="en-US" sz="1500" b="1" dirty="0">
                <a:solidFill>
                  <a:schemeClr val="tx2"/>
                </a:solidFill>
              </a:rPr>
              <a:t>Tree</a:t>
            </a:r>
            <a:endParaRPr lang="en-US" sz="1500" dirty="0"/>
          </a:p>
        </p:txBody>
      </p:sp>
      <p:sp>
        <p:nvSpPr>
          <p:cNvPr id="9" name="Shape 5"/>
          <p:cNvSpPr/>
          <p:nvPr/>
        </p:nvSpPr>
        <p:spPr>
          <a:xfrm>
            <a:off x="6181344" y="1234440"/>
            <a:ext cx="2651760" cy="3429000"/>
          </a:xfrm>
          <a:prstGeom prst="roundRect">
            <a:avLst>
              <a:gd name="adj" fmla="val 2759"/>
            </a:avLst>
          </a:prstGeom>
          <a:solidFill>
            <a:schemeClr val="bg1"/>
          </a:solidFill>
          <a:ln w="9525">
            <a:solidFill>
              <a:srgbClr val="D5DEE2"/>
            </a:solidFill>
            <a:prstDash val="solid"/>
          </a:ln>
        </p:spPr>
      </p:sp>
      <p:pic>
        <p:nvPicPr>
          <p:cNvPr id="10" name="Image 2" descr="C:\Users\Basti\AppData\Local\Temp\claude\s--My-Work-Business-Claude-AI-OS\0ab24a58-0f30-461e-a540-2897b1eafd74\scratchpad\deck\img\topology_linear_wormhole.png">    </p:cNvPr>
          <p:cNvPicPr>
            <a:picLocks noChangeAspect="1"/>
          </p:cNvPicPr>
          <p:nvPr/>
        </p:nvPicPr>
        <p:blipFill>
          <a:blip r:embed="rId3"/>
          <a:stretch>
            <a:fillRect/>
          </a:stretch>
        </p:blipFill>
        <p:spPr>
          <a:xfrm>
            <a:off x="6227064" y="2201704"/>
            <a:ext cx="2560320" cy="1220152"/>
          </a:xfrm>
          <a:prstGeom prst="rect">
            <a:avLst/>
          </a:prstGeom>
        </p:spPr>
      </p:pic>
      <p:sp>
        <p:nvSpPr>
          <p:cNvPr id="11" name="Text 6"/>
          <p:cNvSpPr txBox="1"/>
          <p:nvPr/>
        </p:nvSpPr>
        <p:spPr>
          <a:xfrm>
            <a:off x="6181344" y="4251960"/>
            <a:ext cx="2651760" cy="365760"/>
          </a:xfrm>
          <a:prstGeom prst="rect">
            <a:avLst/>
          </a:prstGeom>
          <a:noFill/>
          <a:ln/>
        </p:spPr>
        <p:txBody>
          <a:bodyPr wrap="square" lIns="635" tIns="635" rIns="635" bIns="635" rtlCol="0" anchor="t"/>
          <a:lstStyle/>
          <a:p>
            <a:pPr algn="ctr" indent="0" marL="0">
              <a:buNone/>
            </a:pPr>
            <a:r>
              <a:rPr lang="en-US" sz="1500" b="1" dirty="0">
                <a:solidFill>
                  <a:schemeClr val="tx2"/>
                </a:solidFill>
              </a:rPr>
              <a:t>Linear chain</a:t>
            </a:r>
            <a:endParaRPr lang="en-US" sz="1500" dirty="0"/>
          </a:p>
        </p:txBody>
      </p:sp>
      <p:sp>
        <p:nvSpPr>
          <p:cNvPr id="12" name="Shape 7"/>
          <p:cNvSpPr/>
          <p:nvPr/>
        </p:nvSpPr>
        <p:spPr>
          <a:xfrm>
            <a:off x="8997696" y="1234440"/>
            <a:ext cx="2651760" cy="3429000"/>
          </a:xfrm>
          <a:prstGeom prst="roundRect">
            <a:avLst>
              <a:gd name="adj" fmla="val 2759"/>
            </a:avLst>
          </a:prstGeom>
          <a:solidFill>
            <a:schemeClr val="bg1"/>
          </a:solidFill>
          <a:ln w="9525">
            <a:solidFill>
              <a:srgbClr val="D5DEE2"/>
            </a:solidFill>
            <a:prstDash val="solid"/>
          </a:ln>
        </p:spPr>
      </p:sp>
      <p:pic>
        <p:nvPicPr>
          <p:cNvPr id="13" name="Image 3" descr="C:\Users\Basti\AppData\Local\Temp\claude\s--My-Work-Business-Claude-AI-OS\0ab24a58-0f30-461e-a540-2897b1eafd74\scratchpad\deck\img\topology_partial_wormhole.png">    </p:cNvPr>
          <p:cNvPicPr>
            <a:picLocks noChangeAspect="1"/>
          </p:cNvPicPr>
          <p:nvPr/>
        </p:nvPicPr>
        <p:blipFill>
          <a:blip r:embed="rId4"/>
          <a:stretch>
            <a:fillRect/>
          </a:stretch>
        </p:blipFill>
        <p:spPr>
          <a:xfrm>
            <a:off x="9043416" y="1789717"/>
            <a:ext cx="2560320" cy="2044126"/>
          </a:xfrm>
          <a:prstGeom prst="rect">
            <a:avLst/>
          </a:prstGeom>
        </p:spPr>
      </p:pic>
      <p:sp>
        <p:nvSpPr>
          <p:cNvPr id="14" name="Text 8"/>
          <p:cNvSpPr txBox="1"/>
          <p:nvPr/>
        </p:nvSpPr>
        <p:spPr>
          <a:xfrm>
            <a:off x="8997696" y="4251960"/>
            <a:ext cx="2651760" cy="365760"/>
          </a:xfrm>
          <a:prstGeom prst="rect">
            <a:avLst/>
          </a:prstGeom>
          <a:noFill/>
          <a:ln/>
        </p:spPr>
        <p:txBody>
          <a:bodyPr wrap="square" lIns="635" tIns="635" rIns="635" bIns="635" rtlCol="0" anchor="t"/>
          <a:lstStyle/>
          <a:p>
            <a:pPr algn="ctr" indent="0" marL="0">
              <a:buNone/>
            </a:pPr>
            <a:r>
              <a:rPr lang="en-US" sz="1500" b="1" dirty="0">
                <a:solidFill>
                  <a:schemeClr val="tx2"/>
                </a:solidFill>
              </a:rPr>
              <a:t>Partial mesh</a:t>
            </a:r>
            <a:endParaRPr lang="en-US" sz="1500" dirty="0"/>
          </a:p>
        </p:txBody>
      </p:sp>
      <p:sp>
        <p:nvSpPr>
          <p:cNvPr id="15" name="Text 9"/>
          <p:cNvSpPr txBox="1"/>
          <p:nvPr/>
        </p:nvSpPr>
        <p:spPr>
          <a:xfrm>
            <a:off x="548640" y="4846320"/>
            <a:ext cx="11064240" cy="137160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The tunnel must skip hops, so Node A must sit shallower than Node B</a:t>
            </a:r>
            <a:endParaRPr lang="en-US" sz="1500" dirty="0"/>
          </a:p>
          <a:p>
            <a:pPr marL="342900" indent="-342900">
              <a:spcAft>
                <a:spcPts val="600"/>
              </a:spcAft>
              <a:buSzPct val="100000"/>
              <a:buChar char="•"/>
            </a:pPr>
            <a:r>
              <a:rPr lang="en-US" sz="1500" dirty="0">
                <a:solidFill>
                  <a:schemeClr val="tx1"/>
                </a:solidFill>
              </a:rPr>
              <a:t>In a flat star both ends are at hop 1 and nothing is skipped: the team proposes making end A the hub with the root behind it (D-28, adviser to confirm)</a:t>
            </a:r>
            <a:endParaRPr lang="en-US" sz="1500" dirty="0"/>
          </a:p>
          <a:p>
            <a:pPr marL="342900" indent="-342900">
              <a:spcAft>
                <a:spcPts val="600"/>
              </a:spcAft>
              <a:buSzPct val="100000"/>
              <a:buChar char="•"/>
            </a:pPr>
            <a:r>
              <a:rPr lang="en-US" sz="1500" dirty="0">
                <a:solidFill>
                  <a:schemeClr val="tx1"/>
                </a:solidFill>
              </a:rPr>
              <a:t>All nine processed wormhole runs are on the linear chain so far</a:t>
            </a:r>
            <a:endParaRPr lang="en-US" sz="15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Sites, scenarios and the run design</a:t>
            </a:r>
            <a:endParaRPr lang="en-US" sz="3000" dirty="0"/>
          </a:p>
        </p:txBody>
      </p:sp>
      <p:sp>
        <p:nvSpPr>
          <p:cNvPr id="3" name="Text 1"/>
          <p:cNvSpPr txBox="1"/>
          <p:nvPr/>
        </p:nvSpPr>
        <p:spPr>
          <a:xfrm>
            <a:off x="548640" y="1234440"/>
            <a:ext cx="5486400" cy="411480"/>
          </a:xfrm>
          <a:prstGeom prst="rect">
            <a:avLst/>
          </a:prstGeom>
          <a:noFill/>
          <a:ln/>
        </p:spPr>
        <p:txBody>
          <a:bodyPr wrap="square" lIns="635" tIns="635" rIns="635" bIns="635" rtlCol="0" anchor="t"/>
          <a:lstStyle/>
          <a:p>
            <a:pPr indent="0" marL="0">
              <a:buNone/>
            </a:pPr>
            <a:r>
              <a:rPr lang="en-US" sz="1700" b="1" dirty="0">
                <a:solidFill>
                  <a:schemeClr val="tx2"/>
                </a:solidFill>
              </a:rPr>
              <a:t>Three sites — different Wi-Fi interference</a:t>
            </a:r>
            <a:endParaRPr lang="en-US" sz="1700" dirty="0"/>
          </a:p>
        </p:txBody>
      </p:sp>
      <p:sp>
        <p:nvSpPr>
          <p:cNvPr id="4" name="Shape 2"/>
          <p:cNvSpPr/>
          <p:nvPr/>
        </p:nvSpPr>
        <p:spPr>
          <a:xfrm>
            <a:off x="548640" y="1737360"/>
            <a:ext cx="5486400" cy="731520"/>
          </a:xfrm>
          <a:prstGeom prst="roundRect">
            <a:avLst>
              <a:gd name="adj" fmla="val 10000"/>
            </a:avLst>
          </a:prstGeom>
          <a:solidFill>
            <a:schemeClr val="bg2"/>
          </a:solidFill>
          <a:ln w="9525">
            <a:solidFill>
              <a:schemeClr val="bg2"/>
            </a:solidFill>
            <a:prstDash val="solid"/>
          </a:ln>
        </p:spPr>
      </p:sp>
      <p:sp>
        <p:nvSpPr>
          <p:cNvPr id="5" name="Shape 3"/>
          <p:cNvSpPr/>
          <p:nvPr/>
        </p:nvSpPr>
        <p:spPr>
          <a:xfrm>
            <a:off x="685800" y="1874520"/>
            <a:ext cx="457200" cy="457200"/>
          </a:xfrm>
          <a:prstGeom prst="ellipse">
            <a:avLst/>
          </a:prstGeom>
          <a:solidFill>
            <a:schemeClr val="accent1"/>
          </a:solidFill>
          <a:ln w="12700">
            <a:solidFill>
              <a:schemeClr val="accent1"/>
            </a:solidFill>
            <a:prstDash val="solid"/>
          </a:ln>
        </p:spPr>
      </p:sp>
      <p:sp>
        <p:nvSpPr>
          <p:cNvPr id="6" name="Text 4"/>
          <p:cNvSpPr txBox="1"/>
          <p:nvPr/>
        </p:nvSpPr>
        <p:spPr>
          <a:xfrm>
            <a:off x="685800" y="18745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280160" y="1737360"/>
            <a:ext cx="4663440" cy="731520"/>
          </a:xfrm>
          <a:prstGeom prst="rect">
            <a:avLst/>
          </a:prstGeom>
          <a:noFill/>
          <a:ln/>
        </p:spPr>
        <p:txBody>
          <a:bodyPr wrap="square" lIns="635" tIns="635" rIns="635" bIns="635" rtlCol="0" anchor="ctr"/>
          <a:lstStyle/>
          <a:p>
            <a:pPr indent="0" marL="0">
              <a:buNone/>
            </a:pPr>
            <a:r>
              <a:rPr lang="en-US" sz="1500" b="1" dirty="0">
                <a:solidFill>
                  <a:schemeClr val="tx1"/>
                </a:solidFill>
              </a:rPr>
              <a:t>G402 (GCCS)  </a:t>
            </a:r>
            <a:pPr indent="0" marL="0">
              <a:buNone/>
            </a:pPr>
            <a:r>
              <a:rPr lang="en-US" sz="1500" dirty="0">
                <a:solidFill>
                  <a:schemeClr val="tx1"/>
                </a:solidFill>
              </a:rPr>
              <a:t>Controlled classroom</a:t>
            </a:r>
            <a:endParaRPr lang="en-US" sz="1500" dirty="0"/>
          </a:p>
        </p:txBody>
      </p:sp>
      <p:sp>
        <p:nvSpPr>
          <p:cNvPr id="8" name="Shape 6"/>
          <p:cNvSpPr/>
          <p:nvPr/>
        </p:nvSpPr>
        <p:spPr>
          <a:xfrm>
            <a:off x="548640" y="2606040"/>
            <a:ext cx="5486400" cy="731520"/>
          </a:xfrm>
          <a:prstGeom prst="roundRect">
            <a:avLst>
              <a:gd name="adj" fmla="val 10000"/>
            </a:avLst>
          </a:prstGeom>
          <a:solidFill>
            <a:schemeClr val="bg2"/>
          </a:solidFill>
          <a:ln w="9525">
            <a:solidFill>
              <a:schemeClr val="bg2"/>
            </a:solidFill>
            <a:prstDash val="solid"/>
          </a:ln>
        </p:spPr>
      </p:sp>
      <p:sp>
        <p:nvSpPr>
          <p:cNvPr id="9" name="Shape 7"/>
          <p:cNvSpPr/>
          <p:nvPr/>
        </p:nvSpPr>
        <p:spPr>
          <a:xfrm>
            <a:off x="685800" y="274320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685800" y="2743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1280160" y="2606040"/>
            <a:ext cx="4663440" cy="731520"/>
          </a:xfrm>
          <a:prstGeom prst="rect">
            <a:avLst/>
          </a:prstGeom>
          <a:noFill/>
          <a:ln/>
        </p:spPr>
        <p:txBody>
          <a:bodyPr wrap="square" lIns="635" tIns="635" rIns="635" bIns="635" rtlCol="0" anchor="ctr"/>
          <a:lstStyle/>
          <a:p>
            <a:pPr indent="0" marL="0">
              <a:buNone/>
            </a:pPr>
            <a:r>
              <a:rPr lang="en-US" sz="1500" b="1" dirty="0">
                <a:solidFill>
                  <a:schemeClr val="tx1"/>
                </a:solidFill>
              </a:rPr>
              <a:t>DLSU Library  </a:t>
            </a:r>
            <a:pPr indent="0" marL="0">
              <a:buNone/>
            </a:pPr>
            <a:r>
              <a:rPr lang="en-US" sz="1500" dirty="0">
                <a:solidFill>
                  <a:schemeClr val="tx1"/>
                </a:solidFill>
              </a:rPr>
              <a:t>Small area of a busy library, heavy Wi-Fi</a:t>
            </a:r>
            <a:endParaRPr lang="en-US" sz="1500" dirty="0"/>
          </a:p>
        </p:txBody>
      </p:sp>
      <p:sp>
        <p:nvSpPr>
          <p:cNvPr id="12" name="Shape 10"/>
          <p:cNvSpPr/>
          <p:nvPr/>
        </p:nvSpPr>
        <p:spPr>
          <a:xfrm>
            <a:off x="548640" y="3474720"/>
            <a:ext cx="5486400" cy="731520"/>
          </a:xfrm>
          <a:prstGeom prst="roundRect">
            <a:avLst>
              <a:gd name="adj" fmla="val 10000"/>
            </a:avLst>
          </a:prstGeom>
          <a:solidFill>
            <a:schemeClr val="bg2"/>
          </a:solidFill>
          <a:ln w="9525">
            <a:solidFill>
              <a:schemeClr val="bg2"/>
            </a:solidFill>
            <a:prstDash val="solid"/>
          </a:ln>
        </p:spPr>
      </p:sp>
      <p:sp>
        <p:nvSpPr>
          <p:cNvPr id="13" name="Shape 11"/>
          <p:cNvSpPr/>
          <p:nvPr/>
        </p:nvSpPr>
        <p:spPr>
          <a:xfrm>
            <a:off x="685800" y="3611880"/>
            <a:ext cx="457200" cy="457200"/>
          </a:xfrm>
          <a:prstGeom prst="ellipse">
            <a:avLst/>
          </a:prstGeom>
          <a:solidFill>
            <a:schemeClr val="accent1"/>
          </a:solidFill>
          <a:ln w="12700">
            <a:solidFill>
              <a:schemeClr val="accent1"/>
            </a:solidFill>
            <a:prstDash val="solid"/>
          </a:ln>
        </p:spPr>
      </p:sp>
      <p:sp>
        <p:nvSpPr>
          <p:cNvPr id="14" name="Text 12"/>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3"/>
          <p:cNvSpPr txBox="1"/>
          <p:nvPr/>
        </p:nvSpPr>
        <p:spPr>
          <a:xfrm>
            <a:off x="1280160" y="3474720"/>
            <a:ext cx="4663440" cy="731520"/>
          </a:xfrm>
          <a:prstGeom prst="rect">
            <a:avLst/>
          </a:prstGeom>
          <a:noFill/>
          <a:ln/>
        </p:spPr>
        <p:txBody>
          <a:bodyPr wrap="square" lIns="635" tIns="635" rIns="635" bIns="635" rtlCol="0" anchor="ctr"/>
          <a:lstStyle/>
          <a:p>
            <a:pPr indent="0" marL="0">
              <a:buNone/>
            </a:pPr>
            <a:r>
              <a:rPr lang="en-US" sz="1500" b="1" dirty="0">
                <a:solidFill>
                  <a:schemeClr val="tx1"/>
                </a:solidFill>
              </a:rPr>
              <a:t>Yuchengco Building  </a:t>
            </a:r>
            <a:pPr indent="0" marL="0">
              <a:buNone/>
            </a:pPr>
            <a:r>
              <a:rPr lang="en-US" sz="1500" dirty="0">
                <a:solidFill>
                  <a:schemeClr val="tx1"/>
                </a:solidFill>
              </a:rPr>
              <a:t>Area within the building</a:t>
            </a:r>
            <a:endParaRPr lang="en-US" sz="1500" dirty="0"/>
          </a:p>
        </p:txBody>
      </p:sp>
      <p:sp>
        <p:nvSpPr>
          <p:cNvPr id="16" name="Text 14"/>
          <p:cNvSpPr txBox="1"/>
          <p:nvPr/>
        </p:nvSpPr>
        <p:spPr>
          <a:xfrm>
            <a:off x="6309360" y="1234440"/>
            <a:ext cx="5303520" cy="411480"/>
          </a:xfrm>
          <a:prstGeom prst="rect">
            <a:avLst/>
          </a:prstGeom>
          <a:noFill/>
          <a:ln/>
        </p:spPr>
        <p:txBody>
          <a:bodyPr wrap="square" lIns="635" tIns="635" rIns="635" bIns="635" rtlCol="0" anchor="t"/>
          <a:lstStyle/>
          <a:p>
            <a:pPr indent="0" marL="0">
              <a:buNone/>
            </a:pPr>
            <a:r>
              <a:rPr lang="en-US" sz="1700" b="1" dirty="0">
                <a:solidFill>
                  <a:schemeClr val="tx2"/>
                </a:solidFill>
              </a:rPr>
              <a:t>Three traffic scenarios</a:t>
            </a:r>
            <a:endParaRPr lang="en-US" sz="1700" dirty="0"/>
          </a:p>
        </p:txBody>
      </p:sp>
      <p:sp>
        <p:nvSpPr>
          <p:cNvPr id="17" name="Shape 15"/>
          <p:cNvSpPr/>
          <p:nvPr/>
        </p:nvSpPr>
        <p:spPr>
          <a:xfrm>
            <a:off x="6309360" y="1737360"/>
            <a:ext cx="5303520" cy="731520"/>
          </a:xfrm>
          <a:prstGeom prst="roundRect">
            <a:avLst>
              <a:gd name="adj" fmla="val 10000"/>
            </a:avLst>
          </a:prstGeom>
          <a:solidFill>
            <a:schemeClr val="bg2"/>
          </a:solidFill>
          <a:ln w="9525">
            <a:solidFill>
              <a:schemeClr val="bg2"/>
            </a:solidFill>
            <a:prstDash val="solid"/>
          </a:ln>
        </p:spPr>
      </p:sp>
      <p:sp>
        <p:nvSpPr>
          <p:cNvPr id="18" name="Shape 16"/>
          <p:cNvSpPr/>
          <p:nvPr/>
        </p:nvSpPr>
        <p:spPr>
          <a:xfrm>
            <a:off x="6446520" y="1874520"/>
            <a:ext cx="457200" cy="457200"/>
          </a:xfrm>
          <a:prstGeom prst="ellipse">
            <a:avLst/>
          </a:prstGeom>
          <a:solidFill>
            <a:schemeClr val="accent2"/>
          </a:solidFill>
          <a:ln w="12700">
            <a:solidFill>
              <a:schemeClr val="accent2"/>
            </a:solidFill>
            <a:prstDash val="solid"/>
          </a:ln>
        </p:spPr>
      </p:sp>
      <p:sp>
        <p:nvSpPr>
          <p:cNvPr id="19" name="Text 17"/>
          <p:cNvSpPr txBox="1"/>
          <p:nvPr/>
        </p:nvSpPr>
        <p:spPr>
          <a:xfrm>
            <a:off x="6446520" y="1874520"/>
            <a:ext cx="457200" cy="457200"/>
          </a:xfrm>
          <a:prstGeom prst="rect">
            <a:avLst/>
          </a:prstGeom>
          <a:noFill/>
          <a:ln/>
        </p:spPr>
        <p:txBody>
          <a:bodyPr wrap="square" lIns="0" tIns="0" rIns="0" bIns="0" rtlCol="0" anchor="ctr"/>
          <a:lstStyle/>
          <a:p>
            <a:pPr algn="ctr" indent="0" marL="0">
              <a:buNone/>
            </a:pPr>
            <a:endParaRPr lang="en-US" sz="1600" dirty="0"/>
          </a:p>
        </p:txBody>
      </p:sp>
      <p:sp>
        <p:nvSpPr>
          <p:cNvPr id="20" name="Text 18"/>
          <p:cNvSpPr txBox="1"/>
          <p:nvPr/>
        </p:nvSpPr>
        <p:spPr>
          <a:xfrm>
            <a:off x="7040880" y="1737360"/>
            <a:ext cx="4480560" cy="731520"/>
          </a:xfrm>
          <a:prstGeom prst="rect">
            <a:avLst/>
          </a:prstGeom>
          <a:noFill/>
          <a:ln/>
        </p:spPr>
        <p:txBody>
          <a:bodyPr wrap="square" lIns="635" tIns="635" rIns="635" bIns="635" rtlCol="0" anchor="ctr"/>
          <a:lstStyle/>
          <a:p>
            <a:pPr indent="0" marL="0">
              <a:buNone/>
            </a:pPr>
            <a:r>
              <a:rPr lang="en-US" sz="1500" b="1" dirty="0">
                <a:solidFill>
                  <a:schemeClr val="tx1"/>
                </a:solidFill>
              </a:rPr>
              <a:t>Stationary  </a:t>
            </a:r>
            <a:pPr indent="0" marL="0">
              <a:buNone/>
            </a:pPr>
            <a:r>
              <a:rPr lang="en-US" sz="1500" dirty="0">
                <a:solidFill>
                  <a:schemeClr val="tx1"/>
                </a:solidFill>
              </a:rPr>
              <a:t>Probe every 1 s — the reference</a:t>
            </a:r>
            <a:endParaRPr lang="en-US" sz="1500" dirty="0"/>
          </a:p>
        </p:txBody>
      </p:sp>
      <p:sp>
        <p:nvSpPr>
          <p:cNvPr id="21" name="Shape 19"/>
          <p:cNvSpPr/>
          <p:nvPr/>
        </p:nvSpPr>
        <p:spPr>
          <a:xfrm>
            <a:off x="6309360" y="2606040"/>
            <a:ext cx="5303520" cy="731520"/>
          </a:xfrm>
          <a:prstGeom prst="roundRect">
            <a:avLst>
              <a:gd name="adj" fmla="val 10000"/>
            </a:avLst>
          </a:prstGeom>
          <a:solidFill>
            <a:schemeClr val="bg2"/>
          </a:solidFill>
          <a:ln w="9525">
            <a:solidFill>
              <a:schemeClr val="bg2"/>
            </a:solidFill>
            <a:prstDash val="solid"/>
          </a:ln>
        </p:spPr>
      </p:sp>
      <p:sp>
        <p:nvSpPr>
          <p:cNvPr id="22" name="Shape 20"/>
          <p:cNvSpPr/>
          <p:nvPr/>
        </p:nvSpPr>
        <p:spPr>
          <a:xfrm>
            <a:off x="6446520" y="2743200"/>
            <a:ext cx="457200" cy="457200"/>
          </a:xfrm>
          <a:prstGeom prst="ellipse">
            <a:avLst/>
          </a:prstGeom>
          <a:solidFill>
            <a:schemeClr val="accent2"/>
          </a:solidFill>
          <a:ln w="12700">
            <a:solidFill>
              <a:schemeClr val="accent2"/>
            </a:solidFill>
            <a:prstDash val="solid"/>
          </a:ln>
        </p:spPr>
      </p:sp>
      <p:sp>
        <p:nvSpPr>
          <p:cNvPr id="23" name="Text 21"/>
          <p:cNvSpPr txBox="1"/>
          <p:nvPr/>
        </p:nvSpPr>
        <p:spPr>
          <a:xfrm>
            <a:off x="6446520" y="2743200"/>
            <a:ext cx="457200" cy="457200"/>
          </a:xfrm>
          <a:prstGeom prst="rect">
            <a:avLst/>
          </a:prstGeom>
          <a:noFill/>
          <a:ln/>
        </p:spPr>
        <p:txBody>
          <a:bodyPr wrap="square" lIns="0" tIns="0" rIns="0" bIns="0" rtlCol="0" anchor="ctr"/>
          <a:lstStyle/>
          <a:p>
            <a:pPr algn="ctr" indent="0" marL="0">
              <a:buNone/>
            </a:pPr>
            <a:endParaRPr lang="en-US" sz="1600" dirty="0"/>
          </a:p>
        </p:txBody>
      </p:sp>
      <p:sp>
        <p:nvSpPr>
          <p:cNvPr id="24" name="Text 22"/>
          <p:cNvSpPr txBox="1"/>
          <p:nvPr/>
        </p:nvSpPr>
        <p:spPr>
          <a:xfrm>
            <a:off x="7040880" y="2606040"/>
            <a:ext cx="4480560" cy="731520"/>
          </a:xfrm>
          <a:prstGeom prst="rect">
            <a:avLst/>
          </a:prstGeom>
          <a:noFill/>
          <a:ln/>
        </p:spPr>
        <p:txBody>
          <a:bodyPr wrap="square" lIns="635" tIns="635" rIns="635" bIns="635" rtlCol="0" anchor="ctr"/>
          <a:lstStyle/>
          <a:p>
            <a:pPr indent="0" marL="0">
              <a:buNone/>
            </a:pPr>
            <a:r>
              <a:rPr lang="en-US" sz="1500" b="1" dirty="0">
                <a:solidFill>
                  <a:schemeClr val="tx1"/>
                </a:solidFill>
              </a:rPr>
              <a:t>Burst  </a:t>
            </a:r>
            <a:pPr indent="0" marL="0">
              <a:buNone/>
            </a:pPr>
            <a:r>
              <a:rPr lang="en-US" sz="1500" dirty="0">
                <a:solidFill>
                  <a:schemeClr val="tx1"/>
                </a:solidFill>
              </a:rPr>
              <a:t>300 probes back to back, 60 s into the attack window</a:t>
            </a:r>
            <a:endParaRPr lang="en-US" sz="1500" dirty="0"/>
          </a:p>
        </p:txBody>
      </p:sp>
      <p:sp>
        <p:nvSpPr>
          <p:cNvPr id="25" name="Shape 23"/>
          <p:cNvSpPr/>
          <p:nvPr/>
        </p:nvSpPr>
        <p:spPr>
          <a:xfrm>
            <a:off x="6309360" y="3474720"/>
            <a:ext cx="5303520" cy="731520"/>
          </a:xfrm>
          <a:prstGeom prst="roundRect">
            <a:avLst>
              <a:gd name="adj" fmla="val 10000"/>
            </a:avLst>
          </a:prstGeom>
          <a:solidFill>
            <a:schemeClr val="bg2"/>
          </a:solidFill>
          <a:ln w="9525">
            <a:solidFill>
              <a:schemeClr val="bg2"/>
            </a:solidFill>
            <a:prstDash val="solid"/>
          </a:ln>
        </p:spPr>
      </p:sp>
      <p:sp>
        <p:nvSpPr>
          <p:cNvPr id="26" name="Shape 24"/>
          <p:cNvSpPr/>
          <p:nvPr/>
        </p:nvSpPr>
        <p:spPr>
          <a:xfrm>
            <a:off x="6446520" y="3611880"/>
            <a:ext cx="457200" cy="457200"/>
          </a:xfrm>
          <a:prstGeom prst="ellipse">
            <a:avLst/>
          </a:prstGeom>
          <a:solidFill>
            <a:schemeClr val="accent2"/>
          </a:solidFill>
          <a:ln w="12700">
            <a:solidFill>
              <a:schemeClr val="accent2"/>
            </a:solidFill>
            <a:prstDash val="solid"/>
          </a:ln>
        </p:spPr>
      </p:sp>
      <p:sp>
        <p:nvSpPr>
          <p:cNvPr id="27" name="Text 25"/>
          <p:cNvSpPr txBox="1"/>
          <p:nvPr/>
        </p:nvSpPr>
        <p:spPr>
          <a:xfrm>
            <a:off x="6446520" y="3611880"/>
            <a:ext cx="457200" cy="457200"/>
          </a:xfrm>
          <a:prstGeom prst="rect">
            <a:avLst/>
          </a:prstGeom>
          <a:noFill/>
          <a:ln/>
        </p:spPr>
        <p:txBody>
          <a:bodyPr wrap="square" lIns="0" tIns="0" rIns="0" bIns="0" rtlCol="0" anchor="ctr"/>
          <a:lstStyle/>
          <a:p>
            <a:pPr algn="ctr" indent="0" marL="0">
              <a:buNone/>
            </a:pPr>
            <a:endParaRPr lang="en-US" sz="1600" dirty="0"/>
          </a:p>
        </p:txBody>
      </p:sp>
      <p:sp>
        <p:nvSpPr>
          <p:cNvPr id="28" name="Text 26"/>
          <p:cNvSpPr txBox="1"/>
          <p:nvPr/>
        </p:nvSpPr>
        <p:spPr>
          <a:xfrm>
            <a:off x="7040880" y="3474720"/>
            <a:ext cx="4480560" cy="731520"/>
          </a:xfrm>
          <a:prstGeom prst="rect">
            <a:avLst/>
          </a:prstGeom>
          <a:noFill/>
          <a:ln/>
        </p:spPr>
        <p:txBody>
          <a:bodyPr wrap="square" lIns="635" tIns="635" rIns="635" bIns="635" rtlCol="0" anchor="ctr"/>
          <a:lstStyle/>
          <a:p>
            <a:pPr indent="0" marL="0">
              <a:buNone/>
            </a:pPr>
            <a:r>
              <a:rPr lang="en-US" sz="1500" b="1" dirty="0">
                <a:solidFill>
                  <a:schemeClr val="tx1"/>
                </a:solidFill>
              </a:rPr>
              <a:t>Highload  </a:t>
            </a:r>
            <a:pPr indent="0" marL="0">
              <a:buNone/>
            </a:pPr>
            <a:r>
              <a:rPr lang="en-US" sz="1500" dirty="0">
                <a:solidFill>
                  <a:schemeClr val="tx1"/>
                </a:solidFill>
              </a:rPr>
              <a:t>Every child probes every 250 ms</a:t>
            </a:r>
            <a:endParaRPr lang="en-US" sz="1500" dirty="0"/>
          </a:p>
        </p:txBody>
      </p:sp>
      <p:sp>
        <p:nvSpPr>
          <p:cNvPr id="29" name="Shape 27"/>
          <p:cNvSpPr/>
          <p:nvPr/>
        </p:nvSpPr>
        <p:spPr>
          <a:xfrm>
            <a:off x="548640" y="4526280"/>
            <a:ext cx="11064240" cy="1554480"/>
          </a:xfrm>
          <a:prstGeom prst="roundRect">
            <a:avLst>
              <a:gd name="adj" fmla="val 4706"/>
            </a:avLst>
          </a:prstGeom>
          <a:solidFill>
            <a:schemeClr val="tx2"/>
          </a:solidFill>
          <a:ln w="9525">
            <a:solidFill>
              <a:schemeClr val="tx2"/>
            </a:solidFill>
            <a:prstDash val="solid"/>
          </a:ln>
        </p:spPr>
      </p:sp>
      <p:sp>
        <p:nvSpPr>
          <p:cNvPr id="30" name="Text 28"/>
          <p:cNvSpPr txBox="1"/>
          <p:nvPr/>
        </p:nvSpPr>
        <p:spPr>
          <a:xfrm>
            <a:off x="777240" y="4617720"/>
            <a:ext cx="10607040" cy="1371600"/>
          </a:xfrm>
          <a:prstGeom prst="rect">
            <a:avLst/>
          </a:prstGeom>
          <a:noFill/>
          <a:ln/>
        </p:spPr>
        <p:txBody>
          <a:bodyPr wrap="square" lIns="635" tIns="635" rIns="635" bIns="635" rtlCol="0" anchor="ctr"/>
          <a:lstStyle/>
          <a:p>
            <a:pPr indent="0" marL="0">
              <a:buNone/>
            </a:pPr>
            <a:r>
              <a:rPr lang="en-US" sz="2000" b="1" dirty="0">
                <a:solidFill>
                  <a:schemeClr val="bg1"/>
                </a:solidFill>
              </a:rPr>
              <a:t>4 topologies × 2 attacks × 3 sites × 3 scenarios = 72 attack runs</a:t>
            </a:r>
            <a:endParaRPr lang="en-US" sz="1600" dirty="0"/>
          </a:p>
          <a:p>
            <a:pPr indent="0" marL="0">
              <a:buNone/>
            </a:pPr>
            <a:r>
              <a:rPr lang="en-US" sz="1500" dirty="0">
                <a:solidFill>
                  <a:schemeClr val="bg1"/>
                </a:solidFill>
              </a:rPr>
              <a:t>+ 9 matched benign runs (one per scenario at every site) = 81 runs. Each cell is run once, so the three sites act as the repeats.</a:t>
            </a:r>
            <a:endParaRPr lang="en-US" sz="16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What each board records</a:t>
            </a:r>
            <a:endParaRPr lang="en-US" sz="3000" dirty="0"/>
          </a:p>
        </p:txBody>
      </p:sp>
      <p:sp>
        <p:nvSpPr>
          <p:cNvPr id="3" name="Shape 1"/>
          <p:cNvSpPr/>
          <p:nvPr/>
        </p:nvSpPr>
        <p:spPr>
          <a:xfrm>
            <a:off x="548640" y="1280160"/>
            <a:ext cx="2651760" cy="3291840"/>
          </a:xfrm>
          <a:prstGeom prst="roundRect">
            <a:avLst>
              <a:gd name="adj" fmla="val 2759"/>
            </a:avLst>
          </a:prstGeom>
          <a:solidFill>
            <a:schemeClr val="bg2"/>
          </a:solidFill>
          <a:ln w="9525">
            <a:solidFill>
              <a:schemeClr val="bg2"/>
            </a:solidFill>
            <a:prstDash val="solid"/>
          </a:ln>
        </p:spPr>
      </p:sp>
      <p:sp>
        <p:nvSpPr>
          <p:cNvPr id="4" name="Shape 2"/>
          <p:cNvSpPr/>
          <p:nvPr/>
        </p:nvSpPr>
        <p:spPr>
          <a:xfrm>
            <a:off x="777240" y="1508760"/>
            <a:ext cx="502920" cy="502920"/>
          </a:xfrm>
          <a:prstGeom prst="ellipse">
            <a:avLst/>
          </a:prstGeom>
          <a:solidFill>
            <a:schemeClr val="accent6"/>
          </a:solidFill>
          <a:ln w="12700">
            <a:solidFill>
              <a:schemeClr val="accent6"/>
            </a:solidFill>
            <a:prstDash val="solid"/>
          </a:ln>
        </p:spPr>
      </p:sp>
      <p:sp>
        <p:nvSpPr>
          <p:cNvPr id="5" name="Text 3"/>
          <p:cNvSpPr txBox="1"/>
          <p:nvPr/>
        </p:nvSpPr>
        <p:spPr>
          <a:xfrm>
            <a:off x="777240" y="1508760"/>
            <a:ext cx="502920" cy="502920"/>
          </a:xfrm>
          <a:prstGeom prst="rect">
            <a:avLst/>
          </a:prstGeom>
          <a:noFill/>
          <a:ln/>
        </p:spPr>
        <p:txBody>
          <a:bodyPr wrap="square" lIns="0" tIns="0" rIns="0" bIns="0" rtlCol="0" anchor="ctr"/>
          <a:lstStyle/>
          <a:p>
            <a:pPr algn="ctr" indent="0" marL="0">
              <a:buNone/>
            </a:pPr>
            <a:endParaRPr lang="en-US" sz="1600" dirty="0"/>
          </a:p>
        </p:txBody>
      </p:sp>
      <p:sp>
        <p:nvSpPr>
          <p:cNvPr id="6" name="Text 4"/>
          <p:cNvSpPr txBox="1"/>
          <p:nvPr/>
        </p:nvSpPr>
        <p:spPr>
          <a:xfrm>
            <a:off x="1417320" y="1481328"/>
            <a:ext cx="1645920" cy="566928"/>
          </a:xfrm>
          <a:prstGeom prst="rect">
            <a:avLst/>
          </a:prstGeom>
          <a:noFill/>
          <a:ln/>
        </p:spPr>
        <p:txBody>
          <a:bodyPr wrap="square" lIns="635" tIns="635" rIns="635" bIns="635" rtlCol="0" anchor="ctr"/>
          <a:lstStyle/>
          <a:p>
            <a:pPr indent="0" marL="0">
              <a:buNone/>
            </a:pPr>
            <a:r>
              <a:rPr lang="en-US" sz="1700" b="1" dirty="0">
                <a:solidFill>
                  <a:schemeClr val="tx2"/>
                </a:solidFill>
              </a:rPr>
              <a:t>PHY</a:t>
            </a:r>
            <a:endParaRPr lang="en-US" sz="1700" dirty="0"/>
          </a:p>
        </p:txBody>
      </p:sp>
      <p:sp>
        <p:nvSpPr>
          <p:cNvPr id="7" name="Text 5"/>
          <p:cNvSpPr txBox="1"/>
          <p:nvPr/>
        </p:nvSpPr>
        <p:spPr>
          <a:xfrm>
            <a:off x="822960" y="2148840"/>
            <a:ext cx="2148840" cy="228600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RSSI to the parent, 10 Hz</a:t>
            </a:r>
            <a:endParaRPr lang="en-US" sz="1500" dirty="0"/>
          </a:p>
          <a:p>
            <a:pPr marL="342900" indent="-342900">
              <a:spcAft>
                <a:spcPts val="600"/>
              </a:spcAft>
              <a:buSzPct val="100000"/>
              <a:buChar char="•"/>
            </a:pPr>
            <a:r>
              <a:rPr lang="en-US" sz="1500" dirty="0">
                <a:solidFill>
                  <a:schemeClr val="tx1"/>
                </a:solidFill>
              </a:rPr>
              <a:t>Radio fixed at 20 MHz (HT20) so the sniffer can decode frames</a:t>
            </a:r>
            <a:endParaRPr lang="en-US" sz="1500" dirty="0"/>
          </a:p>
        </p:txBody>
      </p:sp>
      <p:sp>
        <p:nvSpPr>
          <p:cNvPr id="8" name="Shape 6"/>
          <p:cNvSpPr/>
          <p:nvPr/>
        </p:nvSpPr>
        <p:spPr>
          <a:xfrm>
            <a:off x="3364992" y="1280160"/>
            <a:ext cx="2651760" cy="3291840"/>
          </a:xfrm>
          <a:prstGeom prst="roundRect">
            <a:avLst>
              <a:gd name="adj" fmla="val 2759"/>
            </a:avLst>
          </a:prstGeom>
          <a:solidFill>
            <a:schemeClr val="bg2"/>
          </a:solidFill>
          <a:ln w="9525">
            <a:solidFill>
              <a:schemeClr val="bg2"/>
            </a:solidFill>
            <a:prstDash val="solid"/>
          </a:ln>
        </p:spPr>
      </p:sp>
      <p:sp>
        <p:nvSpPr>
          <p:cNvPr id="9" name="Shape 7"/>
          <p:cNvSpPr/>
          <p:nvPr/>
        </p:nvSpPr>
        <p:spPr>
          <a:xfrm>
            <a:off x="3593592" y="1508760"/>
            <a:ext cx="502920" cy="502920"/>
          </a:xfrm>
          <a:prstGeom prst="ellipse">
            <a:avLst/>
          </a:prstGeom>
          <a:solidFill>
            <a:schemeClr val="accent1"/>
          </a:solidFill>
          <a:ln w="12700">
            <a:solidFill>
              <a:schemeClr val="accent1"/>
            </a:solidFill>
            <a:prstDash val="solid"/>
          </a:ln>
        </p:spPr>
      </p:sp>
      <p:sp>
        <p:nvSpPr>
          <p:cNvPr id="10" name="Text 8"/>
          <p:cNvSpPr txBox="1"/>
          <p:nvPr/>
        </p:nvSpPr>
        <p:spPr>
          <a:xfrm>
            <a:off x="3593592" y="1508760"/>
            <a:ext cx="502920" cy="502920"/>
          </a:xfrm>
          <a:prstGeom prst="rect">
            <a:avLst/>
          </a:prstGeom>
          <a:noFill/>
          <a:ln/>
        </p:spPr>
        <p:txBody>
          <a:bodyPr wrap="square" lIns="0" tIns="0" rIns="0" bIns="0" rtlCol="0" anchor="ctr"/>
          <a:lstStyle/>
          <a:p>
            <a:pPr algn="ctr" indent="0" marL="0">
              <a:buNone/>
            </a:pPr>
            <a:endParaRPr lang="en-US" sz="1600" dirty="0"/>
          </a:p>
        </p:txBody>
      </p:sp>
      <p:sp>
        <p:nvSpPr>
          <p:cNvPr id="11" name="Text 9"/>
          <p:cNvSpPr txBox="1"/>
          <p:nvPr/>
        </p:nvSpPr>
        <p:spPr>
          <a:xfrm>
            <a:off x="4233672" y="1481328"/>
            <a:ext cx="1645920" cy="566928"/>
          </a:xfrm>
          <a:prstGeom prst="rect">
            <a:avLst/>
          </a:prstGeom>
          <a:noFill/>
          <a:ln/>
        </p:spPr>
        <p:txBody>
          <a:bodyPr wrap="square" lIns="635" tIns="635" rIns="635" bIns="635" rtlCol="0" anchor="ctr"/>
          <a:lstStyle/>
          <a:p>
            <a:pPr indent="0" marL="0">
              <a:buNone/>
            </a:pPr>
            <a:r>
              <a:rPr lang="en-US" sz="1700" b="1" dirty="0">
                <a:solidFill>
                  <a:schemeClr val="tx2"/>
                </a:solidFill>
              </a:rPr>
              <a:t>MAC</a:t>
            </a:r>
            <a:endParaRPr lang="en-US" sz="1700" dirty="0"/>
          </a:p>
        </p:txBody>
      </p:sp>
      <p:sp>
        <p:nvSpPr>
          <p:cNvPr id="12" name="Text 10"/>
          <p:cNvSpPr txBox="1"/>
          <p:nvPr/>
        </p:nvSpPr>
        <p:spPr>
          <a:xfrm>
            <a:off x="3639312" y="2148840"/>
            <a:ext cx="2148840" cy="228600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MacRetryRate from the sniffer's 802.11 Retry bit</a:t>
            </a:r>
            <a:endParaRPr lang="en-US" sz="1500" dirty="0"/>
          </a:p>
          <a:p>
            <a:pPr marL="342900" indent="-342900">
              <a:spcAft>
                <a:spcPts val="600"/>
              </a:spcAft>
              <a:buSzPct val="100000"/>
              <a:buChar char="•"/>
            </a:pPr>
            <a:r>
              <a:rPr lang="en-US" sz="1500" dirty="0">
                <a:solidFill>
                  <a:schemeClr val="tx1"/>
                </a:solidFill>
              </a:rPr>
              <a:t>retry_count / tx_count are app counters, kept but not analysed (D-15)</a:t>
            </a:r>
            <a:endParaRPr lang="en-US" sz="1500" dirty="0"/>
          </a:p>
        </p:txBody>
      </p:sp>
      <p:sp>
        <p:nvSpPr>
          <p:cNvPr id="13" name="Shape 11"/>
          <p:cNvSpPr/>
          <p:nvPr/>
        </p:nvSpPr>
        <p:spPr>
          <a:xfrm>
            <a:off x="6181344" y="1280160"/>
            <a:ext cx="2651760" cy="3291840"/>
          </a:xfrm>
          <a:prstGeom prst="roundRect">
            <a:avLst>
              <a:gd name="adj" fmla="val 2759"/>
            </a:avLst>
          </a:prstGeom>
          <a:solidFill>
            <a:schemeClr val="bg2"/>
          </a:solidFill>
          <a:ln w="9525">
            <a:solidFill>
              <a:schemeClr val="bg2"/>
            </a:solidFill>
            <a:prstDash val="solid"/>
          </a:ln>
        </p:spPr>
      </p:sp>
      <p:sp>
        <p:nvSpPr>
          <p:cNvPr id="14" name="Shape 12"/>
          <p:cNvSpPr/>
          <p:nvPr/>
        </p:nvSpPr>
        <p:spPr>
          <a:xfrm>
            <a:off x="6409944" y="1508760"/>
            <a:ext cx="502920" cy="502920"/>
          </a:xfrm>
          <a:prstGeom prst="ellipse">
            <a:avLst/>
          </a:prstGeom>
          <a:solidFill>
            <a:schemeClr val="accent4"/>
          </a:solidFill>
          <a:ln w="12700">
            <a:solidFill>
              <a:schemeClr val="accent4"/>
            </a:solidFill>
            <a:prstDash val="solid"/>
          </a:ln>
        </p:spPr>
      </p:sp>
      <p:sp>
        <p:nvSpPr>
          <p:cNvPr id="15" name="Text 13"/>
          <p:cNvSpPr txBox="1"/>
          <p:nvPr/>
        </p:nvSpPr>
        <p:spPr>
          <a:xfrm>
            <a:off x="6409944" y="1508760"/>
            <a:ext cx="502920" cy="502920"/>
          </a:xfrm>
          <a:prstGeom prst="rect">
            <a:avLst/>
          </a:prstGeom>
          <a:noFill/>
          <a:ln/>
        </p:spPr>
        <p:txBody>
          <a:bodyPr wrap="square" lIns="0" tIns="0" rIns="0" bIns="0" rtlCol="0" anchor="ctr"/>
          <a:lstStyle/>
          <a:p>
            <a:pPr algn="ctr" indent="0" marL="0">
              <a:buNone/>
            </a:pPr>
            <a:endParaRPr lang="en-US" sz="1600" dirty="0"/>
          </a:p>
        </p:txBody>
      </p:sp>
      <p:sp>
        <p:nvSpPr>
          <p:cNvPr id="16" name="Text 14"/>
          <p:cNvSpPr txBox="1"/>
          <p:nvPr/>
        </p:nvSpPr>
        <p:spPr>
          <a:xfrm>
            <a:off x="7050024" y="1481328"/>
            <a:ext cx="1645920" cy="566928"/>
          </a:xfrm>
          <a:prstGeom prst="rect">
            <a:avLst/>
          </a:prstGeom>
          <a:noFill/>
          <a:ln/>
        </p:spPr>
        <p:txBody>
          <a:bodyPr wrap="square" lIns="635" tIns="635" rIns="635" bIns="635" rtlCol="0" anchor="ctr"/>
          <a:lstStyle/>
          <a:p>
            <a:pPr indent="0" marL="0">
              <a:buNone/>
            </a:pPr>
            <a:r>
              <a:rPr lang="en-US" sz="1700" b="1" dirty="0">
                <a:solidFill>
                  <a:schemeClr val="tx2"/>
                </a:solidFill>
              </a:rPr>
              <a:t>Network</a:t>
            </a:r>
            <a:endParaRPr lang="en-US" sz="1700" dirty="0"/>
          </a:p>
        </p:txBody>
      </p:sp>
      <p:sp>
        <p:nvSpPr>
          <p:cNvPr id="17" name="Text 15"/>
          <p:cNvSpPr txBox="1"/>
          <p:nvPr/>
        </p:nvSpPr>
        <p:spPr>
          <a:xfrm>
            <a:off x="6455664" y="2148840"/>
            <a:ext cx="2148840" cy="228600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Layer / hop, parent MAC</a:t>
            </a:r>
            <a:endParaRPr lang="en-US" sz="1500" dirty="0"/>
          </a:p>
          <a:p>
            <a:pPr marL="342900" indent="-342900">
              <a:spcAft>
                <a:spcPts val="600"/>
              </a:spcAft>
              <a:buSzPct val="100000"/>
              <a:buChar char="•"/>
            </a:pPr>
            <a:r>
              <a:rPr lang="en-US" sz="1500" dirty="0">
                <a:solidFill>
                  <a:schemeClr val="tx1"/>
                </a:solidFill>
              </a:rPr>
              <a:t>Probes sent, received, forwarded, dropped</a:t>
            </a:r>
            <a:endParaRPr lang="en-US" sz="1500" dirty="0"/>
          </a:p>
          <a:p>
            <a:pPr marL="342900" indent="-342900">
              <a:spcAft>
                <a:spcPts val="600"/>
              </a:spcAft>
              <a:buSzPct val="100000"/>
              <a:buChar char="•"/>
            </a:pPr>
            <a:r>
              <a:rPr lang="en-US" sz="1500" dirty="0">
                <a:solidFill>
                  <a:schemeClr val="tx1"/>
                </a:solidFill>
              </a:rPr>
              <a:t>Root logs every probe arrival</a:t>
            </a:r>
            <a:endParaRPr lang="en-US" sz="1500" dirty="0"/>
          </a:p>
        </p:txBody>
      </p:sp>
      <p:sp>
        <p:nvSpPr>
          <p:cNvPr id="18" name="Shape 16"/>
          <p:cNvSpPr/>
          <p:nvPr/>
        </p:nvSpPr>
        <p:spPr>
          <a:xfrm>
            <a:off x="8997696" y="1280160"/>
            <a:ext cx="2651760" cy="3291840"/>
          </a:xfrm>
          <a:prstGeom prst="roundRect">
            <a:avLst>
              <a:gd name="adj" fmla="val 2759"/>
            </a:avLst>
          </a:prstGeom>
          <a:solidFill>
            <a:schemeClr val="bg2"/>
          </a:solidFill>
          <a:ln w="9525">
            <a:solidFill>
              <a:schemeClr val="bg2"/>
            </a:solidFill>
            <a:prstDash val="solid"/>
          </a:ln>
        </p:spPr>
      </p:sp>
      <p:sp>
        <p:nvSpPr>
          <p:cNvPr id="19" name="Shape 17"/>
          <p:cNvSpPr/>
          <p:nvPr/>
        </p:nvSpPr>
        <p:spPr>
          <a:xfrm>
            <a:off x="9226296" y="1508760"/>
            <a:ext cx="502920" cy="502920"/>
          </a:xfrm>
          <a:prstGeom prst="ellipse">
            <a:avLst/>
          </a:prstGeom>
          <a:solidFill>
            <a:schemeClr val="accent2"/>
          </a:solidFill>
          <a:ln w="12700">
            <a:solidFill>
              <a:schemeClr val="accent2"/>
            </a:solidFill>
            <a:prstDash val="solid"/>
          </a:ln>
        </p:spPr>
      </p:sp>
      <p:sp>
        <p:nvSpPr>
          <p:cNvPr id="20" name="Text 18"/>
          <p:cNvSpPr txBox="1"/>
          <p:nvPr/>
        </p:nvSpPr>
        <p:spPr>
          <a:xfrm>
            <a:off x="9226296" y="1508760"/>
            <a:ext cx="502920" cy="502920"/>
          </a:xfrm>
          <a:prstGeom prst="rect">
            <a:avLst/>
          </a:prstGeom>
          <a:noFill/>
          <a:ln/>
        </p:spPr>
        <p:txBody>
          <a:bodyPr wrap="square" lIns="0" tIns="0" rIns="0" bIns="0" rtlCol="0" anchor="ctr"/>
          <a:lstStyle/>
          <a:p>
            <a:pPr algn="ctr" indent="0" marL="0">
              <a:buNone/>
            </a:pPr>
            <a:endParaRPr lang="en-US" sz="1600" dirty="0"/>
          </a:p>
        </p:txBody>
      </p:sp>
      <p:sp>
        <p:nvSpPr>
          <p:cNvPr id="21" name="Text 19"/>
          <p:cNvSpPr txBox="1"/>
          <p:nvPr/>
        </p:nvSpPr>
        <p:spPr>
          <a:xfrm>
            <a:off x="9866376" y="1481328"/>
            <a:ext cx="1645920" cy="566928"/>
          </a:xfrm>
          <a:prstGeom prst="rect">
            <a:avLst/>
          </a:prstGeom>
          <a:noFill/>
          <a:ln/>
        </p:spPr>
        <p:txBody>
          <a:bodyPr wrap="square" lIns="635" tIns="635" rIns="635" bIns="635" rtlCol="0" anchor="ctr"/>
          <a:lstStyle/>
          <a:p>
            <a:pPr indent="0" marL="0">
              <a:buNone/>
            </a:pPr>
            <a:r>
              <a:rPr lang="en-US" sz="1700" b="1" dirty="0">
                <a:solidFill>
                  <a:schemeClr val="tx2"/>
                </a:solidFill>
              </a:rPr>
              <a:t>Tunnel</a:t>
            </a:r>
            <a:endParaRPr lang="en-US" sz="1700" dirty="0"/>
          </a:p>
        </p:txBody>
      </p:sp>
      <p:sp>
        <p:nvSpPr>
          <p:cNvPr id="22" name="Text 20"/>
          <p:cNvSpPr txBox="1"/>
          <p:nvPr/>
        </p:nvSpPr>
        <p:spPr>
          <a:xfrm>
            <a:off x="9272016" y="2148840"/>
            <a:ext cx="2148840" cy="228600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Frames written (B), received and re-injected (A)</a:t>
            </a:r>
            <a:endParaRPr lang="en-US" sz="1500" dirty="0"/>
          </a:p>
          <a:p>
            <a:pPr marL="342900" indent="-342900">
              <a:spcAft>
                <a:spcPts val="600"/>
              </a:spcAft>
              <a:buSzPct val="100000"/>
              <a:buChar char="•"/>
            </a:pPr>
            <a:r>
              <a:rPr lang="en-US" sz="1500" dirty="0">
                <a:solidFill>
                  <a:schemeClr val="tx1"/>
                </a:solidFill>
              </a:rPr>
              <a:t>Wormhole runs only</a:t>
            </a:r>
            <a:endParaRPr lang="en-US" sz="1500" dirty="0"/>
          </a:p>
        </p:txBody>
      </p:sp>
      <p:sp>
        <p:nvSpPr>
          <p:cNvPr id="23" name="Shape 21"/>
          <p:cNvSpPr/>
          <p:nvPr/>
        </p:nvSpPr>
        <p:spPr>
          <a:xfrm>
            <a:off x="548640" y="4800600"/>
            <a:ext cx="11064240" cy="1280160"/>
          </a:xfrm>
          <a:prstGeom prst="roundRect">
            <a:avLst>
              <a:gd name="adj" fmla="val 5714"/>
            </a:avLst>
          </a:prstGeom>
          <a:solidFill>
            <a:schemeClr val="bg2"/>
          </a:solidFill>
          <a:ln w="9525">
            <a:solidFill>
              <a:schemeClr val="bg2"/>
            </a:solidFill>
            <a:prstDash val="solid"/>
          </a:ln>
        </p:spPr>
      </p:sp>
      <p:sp>
        <p:nvSpPr>
          <p:cNvPr id="24" name="Text 22"/>
          <p:cNvSpPr txBox="1"/>
          <p:nvPr/>
        </p:nvSpPr>
        <p:spPr>
          <a:xfrm>
            <a:off x="777240" y="4892040"/>
            <a:ext cx="10607040" cy="1097280"/>
          </a:xfrm>
          <a:prstGeom prst="rect">
            <a:avLst/>
          </a:prstGeom>
          <a:noFill/>
          <a:ln/>
        </p:spPr>
        <p:txBody>
          <a:bodyPr wrap="square" lIns="635" tIns="635" rIns="635" bIns="635" rtlCol="0" anchor="ctr"/>
          <a:lstStyle/>
          <a:p>
            <a:pPr indent="0" marL="0">
              <a:buNone/>
            </a:pPr>
            <a:r>
              <a:rPr lang="en-US" sz="1500" b="1" dirty="0">
                <a:solidFill>
                  <a:schemeClr val="accent1"/>
                </a:solidFill>
              </a:rPr>
              <a:t>Storage: </a:t>
            </a:r>
            <a:pPr indent="0" marL="0">
              <a:buNone/>
            </a:pPr>
            <a:r>
              <a:rPr lang="en-US" sz="1500" dirty="0">
                <a:solidFill>
                  <a:schemeClr val="tx1"/>
                </a:solidFill>
              </a:rPr>
              <a:t>flash plus a microSD mirror (fsync every 5 s). Nothing is streamed over the mesh during a run, so the attack cannot destroy its own evidence. None of the 435 campus capture files is empty.</a:t>
            </a:r>
            <a:endParaRPr lang="en-US" sz="15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From raw rows to one-second windows</a:t>
            </a:r>
            <a:endParaRPr lang="en-US" sz="3000" dirty="0"/>
          </a:p>
        </p:txBody>
      </p:sp>
      <p:sp>
        <p:nvSpPr>
          <p:cNvPr id="3" name="Shape 1"/>
          <p:cNvSpPr/>
          <p:nvPr/>
        </p:nvSpPr>
        <p:spPr>
          <a:xfrm>
            <a:off x="548640" y="1353312"/>
            <a:ext cx="566928" cy="566928"/>
          </a:xfrm>
          <a:prstGeom prst="ellipse">
            <a:avLst/>
          </a:prstGeom>
          <a:solidFill>
            <a:schemeClr val="accent1"/>
          </a:solidFill>
          <a:ln w="12700">
            <a:solidFill>
              <a:schemeClr val="accent1"/>
            </a:solidFill>
            <a:prstDash val="solid"/>
          </a:ln>
        </p:spPr>
      </p:sp>
      <p:sp>
        <p:nvSpPr>
          <p:cNvPr id="4" name="Text 2"/>
          <p:cNvSpPr txBox="1"/>
          <p:nvPr/>
        </p:nvSpPr>
        <p:spPr>
          <a:xfrm>
            <a:off x="548640" y="1353312"/>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280160" y="1280160"/>
            <a:ext cx="1463040" cy="731520"/>
          </a:xfrm>
          <a:prstGeom prst="rect">
            <a:avLst/>
          </a:prstGeom>
          <a:noFill/>
          <a:ln/>
        </p:spPr>
        <p:txBody>
          <a:bodyPr wrap="square" lIns="635" tIns="635" rIns="635" bIns="635" rtlCol="0" anchor="ctr"/>
          <a:lstStyle/>
          <a:p>
            <a:pPr indent="0" marL="0">
              <a:buNone/>
            </a:pPr>
            <a:r>
              <a:rPr lang="en-US" sz="1800" b="1" dirty="0">
                <a:solidFill>
                  <a:schemeClr val="tx2"/>
                </a:solidFill>
              </a:rPr>
              <a:t>Align</a:t>
            </a:r>
            <a:endParaRPr lang="en-US" sz="1800" dirty="0"/>
          </a:p>
        </p:txBody>
      </p:sp>
      <p:sp>
        <p:nvSpPr>
          <p:cNvPr id="6" name="Text 4"/>
          <p:cNvSpPr txBox="1"/>
          <p:nvPr/>
        </p:nvSpPr>
        <p:spPr>
          <a:xfrm>
            <a:off x="2743200" y="1280160"/>
            <a:ext cx="4754880" cy="731520"/>
          </a:xfrm>
          <a:prstGeom prst="rect">
            <a:avLst/>
          </a:prstGeom>
          <a:noFill/>
          <a:ln/>
        </p:spPr>
        <p:txBody>
          <a:bodyPr wrap="square" lIns="635" tIns="635" rIns="635" bIns="635" rtlCol="0" anchor="ctr"/>
          <a:lstStyle/>
          <a:p>
            <a:pPr indent="0" marL="0">
              <a:buNone/>
            </a:pPr>
            <a:r>
              <a:rPr lang="en-US" sz="1500" dirty="0">
                <a:solidFill>
                  <a:schemeClr val="tx1"/>
                </a:solidFill>
              </a:rPr>
              <a:t>Boards share no clock, so each node is aligned to its own exit from phase 0</a:t>
            </a:r>
            <a:endParaRPr lang="en-US" sz="1500" dirty="0"/>
          </a:p>
        </p:txBody>
      </p:sp>
      <p:sp>
        <p:nvSpPr>
          <p:cNvPr id="7" name="Shape 5"/>
          <p:cNvSpPr/>
          <p:nvPr/>
        </p:nvSpPr>
        <p:spPr>
          <a:xfrm>
            <a:off x="548640" y="2286000"/>
            <a:ext cx="566928" cy="566928"/>
          </a:xfrm>
          <a:prstGeom prst="ellipse">
            <a:avLst/>
          </a:prstGeom>
          <a:solidFill>
            <a:schemeClr val="accent1"/>
          </a:solidFill>
          <a:ln w="12700">
            <a:solidFill>
              <a:schemeClr val="accent1"/>
            </a:solidFill>
            <a:prstDash val="solid"/>
          </a:ln>
        </p:spPr>
      </p:sp>
      <p:sp>
        <p:nvSpPr>
          <p:cNvPr id="8" name="Text 6"/>
          <p:cNvSpPr txBox="1"/>
          <p:nvPr/>
        </p:nvSpPr>
        <p:spPr>
          <a:xfrm>
            <a:off x="548640" y="228600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280160" y="2212848"/>
            <a:ext cx="1463040" cy="731520"/>
          </a:xfrm>
          <a:prstGeom prst="rect">
            <a:avLst/>
          </a:prstGeom>
          <a:noFill/>
          <a:ln/>
        </p:spPr>
        <p:txBody>
          <a:bodyPr wrap="square" lIns="635" tIns="635" rIns="635" bIns="635" rtlCol="0" anchor="ctr"/>
          <a:lstStyle/>
          <a:p>
            <a:pPr indent="0" marL="0">
              <a:buNone/>
            </a:pPr>
            <a:r>
              <a:rPr lang="en-US" sz="1800" b="1" dirty="0">
                <a:solidFill>
                  <a:schemeClr val="tx2"/>
                </a:solidFill>
              </a:rPr>
              <a:t>Window</a:t>
            </a:r>
            <a:endParaRPr lang="en-US" sz="1800" dirty="0"/>
          </a:p>
        </p:txBody>
      </p:sp>
      <p:sp>
        <p:nvSpPr>
          <p:cNvPr id="10" name="Text 8"/>
          <p:cNvSpPr txBox="1"/>
          <p:nvPr/>
        </p:nvSpPr>
        <p:spPr>
          <a:xfrm>
            <a:off x="2743200" y="2212848"/>
            <a:ext cx="4754880" cy="731520"/>
          </a:xfrm>
          <a:prstGeom prst="rect">
            <a:avLst/>
          </a:prstGeom>
          <a:noFill/>
          <a:ln/>
        </p:spPr>
        <p:txBody>
          <a:bodyPr wrap="square" lIns="635" tIns="635" rIns="635" bIns="635" rtlCol="0" anchor="ctr"/>
          <a:lstStyle/>
          <a:p>
            <a:pPr indent="0" marL="0">
              <a:buNone/>
            </a:pPr>
            <a:r>
              <a:rPr lang="en-US" sz="1500" dirty="0">
                <a:solidFill>
                  <a:schemeClr val="tx1"/>
                </a:solidFill>
              </a:rPr>
              <a:t>Non-overlapping 1 s windows on a 10 Hz grid; fewer than 8 of 10 samples = discarded</a:t>
            </a:r>
            <a:endParaRPr lang="en-US" sz="1500" dirty="0"/>
          </a:p>
        </p:txBody>
      </p:sp>
      <p:sp>
        <p:nvSpPr>
          <p:cNvPr id="11" name="Shape 9"/>
          <p:cNvSpPr/>
          <p:nvPr/>
        </p:nvSpPr>
        <p:spPr>
          <a:xfrm>
            <a:off x="548640" y="3218688"/>
            <a:ext cx="566928" cy="566928"/>
          </a:xfrm>
          <a:prstGeom prst="ellipse">
            <a:avLst/>
          </a:prstGeom>
          <a:solidFill>
            <a:schemeClr val="accent1"/>
          </a:solidFill>
          <a:ln w="12700">
            <a:solidFill>
              <a:schemeClr val="accent1"/>
            </a:solidFill>
            <a:prstDash val="solid"/>
          </a:ln>
        </p:spPr>
      </p:sp>
      <p:sp>
        <p:nvSpPr>
          <p:cNvPr id="12" name="Text 10"/>
          <p:cNvSpPr txBox="1"/>
          <p:nvPr/>
        </p:nvSpPr>
        <p:spPr>
          <a:xfrm>
            <a:off x="548640" y="3218688"/>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280160" y="3145536"/>
            <a:ext cx="1463040" cy="731520"/>
          </a:xfrm>
          <a:prstGeom prst="rect">
            <a:avLst/>
          </a:prstGeom>
          <a:noFill/>
          <a:ln/>
        </p:spPr>
        <p:txBody>
          <a:bodyPr wrap="square" lIns="635" tIns="635" rIns="635" bIns="635" rtlCol="0" anchor="ctr"/>
          <a:lstStyle/>
          <a:p>
            <a:pPr indent="0" marL="0">
              <a:buNone/>
            </a:pPr>
            <a:r>
              <a:rPr lang="en-US" sz="1800" b="1" dirty="0">
                <a:solidFill>
                  <a:schemeClr val="tx2"/>
                </a:solidFill>
              </a:rPr>
              <a:t>Fill</a:t>
            </a:r>
            <a:endParaRPr lang="en-US" sz="1800" dirty="0"/>
          </a:p>
        </p:txBody>
      </p:sp>
      <p:sp>
        <p:nvSpPr>
          <p:cNvPr id="14" name="Text 12"/>
          <p:cNvSpPr txBox="1"/>
          <p:nvPr/>
        </p:nvSpPr>
        <p:spPr>
          <a:xfrm>
            <a:off x="2743200" y="3145536"/>
            <a:ext cx="4754880" cy="731520"/>
          </a:xfrm>
          <a:prstGeom prst="rect">
            <a:avLst/>
          </a:prstGeom>
          <a:noFill/>
          <a:ln/>
        </p:spPr>
        <p:txBody>
          <a:bodyPr wrap="square" lIns="635" tIns="635" rIns="635" bIns="635" rtlCol="0" anchor="ctr"/>
          <a:lstStyle/>
          <a:p>
            <a:pPr indent="0" marL="0">
              <a:buNone/>
            </a:pPr>
            <a:r>
              <a:rPr lang="en-US" sz="1500" dirty="0">
                <a:solidFill>
                  <a:schemeClr val="tx1"/>
                </a:solidFill>
              </a:rPr>
              <a:t>Gaps of 1–2 samples inside a kept window are filled (D-9)</a:t>
            </a:r>
            <a:endParaRPr lang="en-US" sz="1500" dirty="0"/>
          </a:p>
        </p:txBody>
      </p:sp>
      <p:sp>
        <p:nvSpPr>
          <p:cNvPr id="15" name="Shape 13"/>
          <p:cNvSpPr/>
          <p:nvPr/>
        </p:nvSpPr>
        <p:spPr>
          <a:xfrm>
            <a:off x="548640" y="4151376"/>
            <a:ext cx="566928" cy="566928"/>
          </a:xfrm>
          <a:prstGeom prst="ellipse">
            <a:avLst/>
          </a:prstGeom>
          <a:solidFill>
            <a:schemeClr val="accent1"/>
          </a:solidFill>
          <a:ln w="12700">
            <a:solidFill>
              <a:schemeClr val="accent1"/>
            </a:solidFill>
            <a:prstDash val="solid"/>
          </a:ln>
        </p:spPr>
      </p:sp>
      <p:sp>
        <p:nvSpPr>
          <p:cNvPr id="16" name="Text 14"/>
          <p:cNvSpPr txBox="1"/>
          <p:nvPr/>
        </p:nvSpPr>
        <p:spPr>
          <a:xfrm>
            <a:off x="548640" y="4151376"/>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5"/>
          <p:cNvSpPr txBox="1"/>
          <p:nvPr/>
        </p:nvSpPr>
        <p:spPr>
          <a:xfrm>
            <a:off x="1280160" y="4078224"/>
            <a:ext cx="1463040" cy="731520"/>
          </a:xfrm>
          <a:prstGeom prst="rect">
            <a:avLst/>
          </a:prstGeom>
          <a:noFill/>
          <a:ln/>
        </p:spPr>
        <p:txBody>
          <a:bodyPr wrap="square" lIns="635" tIns="635" rIns="635" bIns="635" rtlCol="0" anchor="ctr"/>
          <a:lstStyle/>
          <a:p>
            <a:pPr indent="0" marL="0">
              <a:buNone/>
            </a:pPr>
            <a:r>
              <a:rPr lang="en-US" sz="1800" b="1" dirty="0">
                <a:solidFill>
                  <a:schemeClr val="tx2"/>
                </a:solidFill>
              </a:rPr>
              <a:t>Count</a:t>
            </a:r>
            <a:endParaRPr lang="en-US" sz="1800" dirty="0"/>
          </a:p>
        </p:txBody>
      </p:sp>
      <p:sp>
        <p:nvSpPr>
          <p:cNvPr id="18" name="Text 16"/>
          <p:cNvSpPr txBox="1"/>
          <p:nvPr/>
        </p:nvSpPr>
        <p:spPr>
          <a:xfrm>
            <a:off x="2743200" y="4078224"/>
            <a:ext cx="4754880" cy="731520"/>
          </a:xfrm>
          <a:prstGeom prst="rect">
            <a:avLst/>
          </a:prstGeom>
          <a:noFill/>
          <a:ln/>
        </p:spPr>
        <p:txBody>
          <a:bodyPr wrap="square" lIns="635" tIns="635" rIns="635" bIns="635" rtlCol="0" anchor="ctr"/>
          <a:lstStyle/>
          <a:p>
            <a:pPr indent="0" marL="0">
              <a:buNone/>
            </a:pPr>
            <a:r>
              <a:rPr lang="en-US" sz="1500" dirty="0">
                <a:solidFill>
                  <a:schemeClr val="tx1"/>
                </a:solidFill>
              </a:rPr>
              <a:t>Cumulative counters become per-window deltas</a:t>
            </a:r>
            <a:endParaRPr lang="en-US" sz="1500" dirty="0"/>
          </a:p>
        </p:txBody>
      </p:sp>
      <p:sp>
        <p:nvSpPr>
          <p:cNvPr id="19" name="Shape 17"/>
          <p:cNvSpPr/>
          <p:nvPr/>
        </p:nvSpPr>
        <p:spPr>
          <a:xfrm>
            <a:off x="548640" y="5084064"/>
            <a:ext cx="566928" cy="566928"/>
          </a:xfrm>
          <a:prstGeom prst="ellipse">
            <a:avLst/>
          </a:prstGeom>
          <a:solidFill>
            <a:schemeClr val="accent1"/>
          </a:solidFill>
          <a:ln w="12700">
            <a:solidFill>
              <a:schemeClr val="accent1"/>
            </a:solidFill>
            <a:prstDash val="solid"/>
          </a:ln>
        </p:spPr>
      </p:sp>
      <p:sp>
        <p:nvSpPr>
          <p:cNvPr id="20" name="Text 18"/>
          <p:cNvSpPr txBox="1"/>
          <p:nvPr/>
        </p:nvSpPr>
        <p:spPr>
          <a:xfrm>
            <a:off x="548640" y="5084064"/>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1" name="Text 19"/>
          <p:cNvSpPr txBox="1"/>
          <p:nvPr/>
        </p:nvSpPr>
        <p:spPr>
          <a:xfrm>
            <a:off x="1280160" y="5010912"/>
            <a:ext cx="1463040" cy="731520"/>
          </a:xfrm>
          <a:prstGeom prst="rect">
            <a:avLst/>
          </a:prstGeom>
          <a:noFill/>
          <a:ln/>
        </p:spPr>
        <p:txBody>
          <a:bodyPr wrap="square" lIns="635" tIns="635" rIns="635" bIns="635" rtlCol="0" anchor="ctr"/>
          <a:lstStyle/>
          <a:p>
            <a:pPr indent="0" marL="0">
              <a:buNone/>
            </a:pPr>
            <a:r>
              <a:rPr lang="en-US" sz="1800" b="1" dirty="0">
                <a:solidFill>
                  <a:schemeClr val="tx2"/>
                </a:solidFill>
              </a:rPr>
              <a:t>Join</a:t>
            </a:r>
            <a:endParaRPr lang="en-US" sz="1800" dirty="0"/>
          </a:p>
        </p:txBody>
      </p:sp>
      <p:sp>
        <p:nvSpPr>
          <p:cNvPr id="22" name="Text 20"/>
          <p:cNvSpPr txBox="1"/>
          <p:nvPr/>
        </p:nvSpPr>
        <p:spPr>
          <a:xfrm>
            <a:off x="2743200" y="5010912"/>
            <a:ext cx="4754880" cy="731520"/>
          </a:xfrm>
          <a:prstGeom prst="rect">
            <a:avLst/>
          </a:prstGeom>
          <a:noFill/>
          <a:ln/>
        </p:spPr>
        <p:txBody>
          <a:bodyPr wrap="square" lIns="635" tIns="635" rIns="635" bIns="635" rtlCol="0" anchor="ctr"/>
          <a:lstStyle/>
          <a:p>
            <a:pPr indent="0" marL="0">
              <a:buNone/>
            </a:pPr>
            <a:r>
              <a:rPr lang="en-US" sz="1500" dirty="0">
                <a:solidFill>
                  <a:schemeClr val="tx1"/>
                </a:solidFill>
              </a:rPr>
              <a:t>PDR joins root arrivals to each node on the sequence number, never on time</a:t>
            </a:r>
            <a:endParaRPr lang="en-US" sz="1500" dirty="0"/>
          </a:p>
        </p:txBody>
      </p:sp>
      <p:sp>
        <p:nvSpPr>
          <p:cNvPr id="23" name="Shape 21"/>
          <p:cNvSpPr/>
          <p:nvPr/>
        </p:nvSpPr>
        <p:spPr>
          <a:xfrm>
            <a:off x="7863840" y="1280160"/>
            <a:ext cx="3749040" cy="4800600"/>
          </a:xfrm>
          <a:prstGeom prst="roundRect">
            <a:avLst>
              <a:gd name="adj" fmla="val 1951"/>
            </a:avLst>
          </a:prstGeom>
          <a:solidFill>
            <a:schemeClr val="tx2"/>
          </a:solidFill>
          <a:ln w="9525">
            <a:solidFill>
              <a:schemeClr val="tx2"/>
            </a:solidFill>
            <a:prstDash val="solid"/>
          </a:ln>
        </p:spPr>
      </p:sp>
      <p:sp>
        <p:nvSpPr>
          <p:cNvPr id="24" name="Text 22"/>
          <p:cNvSpPr txBox="1"/>
          <p:nvPr/>
        </p:nvSpPr>
        <p:spPr>
          <a:xfrm>
            <a:off x="8092440" y="1463040"/>
            <a:ext cx="3291840" cy="4480560"/>
          </a:xfrm>
          <a:prstGeom prst="rect">
            <a:avLst/>
          </a:prstGeom>
          <a:noFill/>
          <a:ln/>
        </p:spPr>
        <p:txBody>
          <a:bodyPr wrap="square" lIns="635" tIns="635" rIns="635" bIns="635" rtlCol="0" anchor="t"/>
          <a:lstStyle/>
          <a:p>
            <a:pPr indent="0" marL="0">
              <a:buNone/>
            </a:pPr>
            <a:r>
              <a:rPr lang="en-US" sz="1600" dirty="0">
                <a:solidFill>
                  <a:schemeClr val="bg1"/>
                </a:solidFill>
              </a:rPr>
              <a:t>One row =</a:t>
            </a:r>
            <a:endParaRPr lang="en-US" sz="1600" dirty="0"/>
          </a:p>
          <a:p>
            <a:pPr indent="0" marL="0">
              <a:buNone/>
            </a:pPr>
            <a:r>
              <a:rPr lang="en-US" sz="2400" b="1" dirty="0">
                <a:solidFill>
                  <a:schemeClr val="bg1"/>
                </a:solidFill>
              </a:rPr>
              <a:t>one node × one second</a:t>
            </a:r>
            <a:endParaRPr lang="en-US" sz="1600" dirty="0"/>
          </a:p>
          <a:p>
            <a:pPr indent="0" marL="0">
              <a:buNone/>
            </a:pPr>
            <a:r>
              <a:rPr lang="en-US" sz="1600" dirty="0">
                <a:solidFill>
                  <a:schemeClr val="bg1"/>
                </a:solidFill>
              </a:rPr>
              <a:t> </a:t>
            </a:r>
            <a:endParaRPr lang="en-US" sz="1600" dirty="0"/>
          </a:p>
          <a:p>
            <a:pPr indent="0" marL="0">
              <a:buNone/>
            </a:pPr>
            <a:r>
              <a:rPr lang="en-US" sz="1500" dirty="0">
                <a:solidFill>
                  <a:schemeClr val="bg1"/>
                </a:solidFill>
              </a:rPr>
              <a:t>Node-level rows keep the local effect visible: the attacker's forwarding falls while the nodes behind it lose delivery. A network average would hide both.</a:t>
            </a:r>
            <a:endParaRPr lang="en-US" sz="16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Features, grouped by what they measure</a:t>
            </a:r>
            <a:endParaRPr lang="en-US" sz="3000" dirty="0"/>
          </a:p>
        </p:txBody>
      </p:sp>
      <p:sp>
        <p:nvSpPr>
          <p:cNvPr id="3" name="Shape 1"/>
          <p:cNvSpPr/>
          <p:nvPr/>
        </p:nvSpPr>
        <p:spPr>
          <a:xfrm>
            <a:off x="548640" y="1280160"/>
            <a:ext cx="3520440" cy="2194560"/>
          </a:xfrm>
          <a:prstGeom prst="roundRect">
            <a:avLst>
              <a:gd name="adj" fmla="val 3333"/>
            </a:avLst>
          </a:prstGeom>
          <a:solidFill>
            <a:schemeClr val="bg2"/>
          </a:solidFill>
          <a:ln w="9525">
            <a:solidFill>
              <a:schemeClr val="bg2"/>
            </a:solidFill>
            <a:prstDash val="solid"/>
          </a:ln>
        </p:spPr>
      </p:sp>
      <p:sp>
        <p:nvSpPr>
          <p:cNvPr id="4" name="Shape 2"/>
          <p:cNvSpPr/>
          <p:nvPr/>
        </p:nvSpPr>
        <p:spPr>
          <a:xfrm>
            <a:off x="777240" y="1508760"/>
            <a:ext cx="502920" cy="502920"/>
          </a:xfrm>
          <a:prstGeom prst="ellipse">
            <a:avLst/>
          </a:prstGeom>
          <a:solidFill>
            <a:schemeClr val="accent3"/>
          </a:solidFill>
          <a:ln w="12700">
            <a:solidFill>
              <a:schemeClr val="accent3"/>
            </a:solidFill>
            <a:prstDash val="solid"/>
          </a:ln>
        </p:spPr>
      </p:sp>
      <p:sp>
        <p:nvSpPr>
          <p:cNvPr id="5" name="Text 3"/>
          <p:cNvSpPr txBox="1"/>
          <p:nvPr/>
        </p:nvSpPr>
        <p:spPr>
          <a:xfrm>
            <a:off x="777240" y="1508760"/>
            <a:ext cx="502920" cy="502920"/>
          </a:xfrm>
          <a:prstGeom prst="rect">
            <a:avLst/>
          </a:prstGeom>
          <a:noFill/>
          <a:ln/>
        </p:spPr>
        <p:txBody>
          <a:bodyPr wrap="square" lIns="0" tIns="0" rIns="0" bIns="0" rtlCol="0" anchor="ctr"/>
          <a:lstStyle/>
          <a:p>
            <a:pPr algn="ctr" indent="0" marL="0">
              <a:buNone/>
            </a:pPr>
            <a:endParaRPr lang="en-US" sz="1600" dirty="0"/>
          </a:p>
        </p:txBody>
      </p:sp>
      <p:sp>
        <p:nvSpPr>
          <p:cNvPr id="6" name="Text 4"/>
          <p:cNvSpPr txBox="1"/>
          <p:nvPr/>
        </p:nvSpPr>
        <p:spPr>
          <a:xfrm>
            <a:off x="1417320" y="1481328"/>
            <a:ext cx="2514600" cy="566928"/>
          </a:xfrm>
          <a:prstGeom prst="rect">
            <a:avLst/>
          </a:prstGeom>
          <a:noFill/>
          <a:ln/>
        </p:spPr>
        <p:txBody>
          <a:bodyPr wrap="square" lIns="635" tIns="635" rIns="635" bIns="635" rtlCol="0" anchor="ctr"/>
          <a:lstStyle/>
          <a:p>
            <a:pPr indent="0" marL="0">
              <a:buNone/>
            </a:pPr>
            <a:r>
              <a:rPr lang="en-US" sz="1700" b="1" dirty="0">
                <a:solidFill>
                  <a:schemeClr val="tx2"/>
                </a:solidFill>
              </a:rPr>
              <a:t>Forwarding</a:t>
            </a:r>
            <a:endParaRPr lang="en-US" sz="1700" dirty="0"/>
          </a:p>
        </p:txBody>
      </p:sp>
      <p:sp>
        <p:nvSpPr>
          <p:cNvPr id="7" name="Text 5"/>
          <p:cNvSpPr txBox="1"/>
          <p:nvPr/>
        </p:nvSpPr>
        <p:spPr>
          <a:xfrm>
            <a:off x="822960" y="2148840"/>
            <a:ext cx="3017520" cy="1188720"/>
          </a:xfrm>
          <a:prstGeom prst="rect">
            <a:avLst/>
          </a:prstGeom>
          <a:noFill/>
          <a:ln/>
        </p:spPr>
        <p:txBody>
          <a:bodyPr wrap="square" lIns="635" tIns="635" rIns="635" bIns="635" rtlCol="0" anchor="t"/>
          <a:lstStyle/>
          <a:p>
            <a:pPr indent="0" marL="0">
              <a:buNone/>
            </a:pPr>
            <a:r>
              <a:rPr lang="en-US" sz="1600" dirty="0">
                <a:solidFill>
                  <a:schemeClr val="tx1"/>
                </a:solidFill>
              </a:rPr>
              <a:t>ForwardingRatio, IngressEgressDelta, ConsistencyScore</a:t>
            </a:r>
            <a:endParaRPr lang="en-US" sz="1600" dirty="0"/>
          </a:p>
        </p:txBody>
      </p:sp>
      <p:sp>
        <p:nvSpPr>
          <p:cNvPr id="8" name="Shape 6"/>
          <p:cNvSpPr/>
          <p:nvPr/>
        </p:nvSpPr>
        <p:spPr>
          <a:xfrm>
            <a:off x="4297680" y="1280160"/>
            <a:ext cx="3520440" cy="2194560"/>
          </a:xfrm>
          <a:prstGeom prst="roundRect">
            <a:avLst>
              <a:gd name="adj" fmla="val 3333"/>
            </a:avLst>
          </a:prstGeom>
          <a:solidFill>
            <a:schemeClr val="bg2"/>
          </a:solidFill>
          <a:ln w="9525">
            <a:solidFill>
              <a:schemeClr val="bg2"/>
            </a:solidFill>
            <a:prstDash val="solid"/>
          </a:ln>
        </p:spPr>
      </p:sp>
      <p:sp>
        <p:nvSpPr>
          <p:cNvPr id="9" name="Shape 7"/>
          <p:cNvSpPr/>
          <p:nvPr/>
        </p:nvSpPr>
        <p:spPr>
          <a:xfrm>
            <a:off x="4526280" y="1508760"/>
            <a:ext cx="502920" cy="502920"/>
          </a:xfrm>
          <a:prstGeom prst="ellipse">
            <a:avLst/>
          </a:prstGeom>
          <a:solidFill>
            <a:schemeClr val="accent4"/>
          </a:solidFill>
          <a:ln w="12700">
            <a:solidFill>
              <a:schemeClr val="accent4"/>
            </a:solidFill>
            <a:prstDash val="solid"/>
          </a:ln>
        </p:spPr>
      </p:sp>
      <p:sp>
        <p:nvSpPr>
          <p:cNvPr id="10" name="Text 8"/>
          <p:cNvSpPr txBox="1"/>
          <p:nvPr/>
        </p:nvSpPr>
        <p:spPr>
          <a:xfrm>
            <a:off x="4526280" y="1508760"/>
            <a:ext cx="502920" cy="502920"/>
          </a:xfrm>
          <a:prstGeom prst="rect">
            <a:avLst/>
          </a:prstGeom>
          <a:noFill/>
          <a:ln/>
        </p:spPr>
        <p:txBody>
          <a:bodyPr wrap="square" lIns="0" tIns="0" rIns="0" bIns="0" rtlCol="0" anchor="ctr"/>
          <a:lstStyle/>
          <a:p>
            <a:pPr algn="ctr" indent="0" marL="0">
              <a:buNone/>
            </a:pPr>
            <a:endParaRPr lang="en-US" sz="1600" dirty="0"/>
          </a:p>
        </p:txBody>
      </p:sp>
      <p:sp>
        <p:nvSpPr>
          <p:cNvPr id="11" name="Text 9"/>
          <p:cNvSpPr txBox="1"/>
          <p:nvPr/>
        </p:nvSpPr>
        <p:spPr>
          <a:xfrm>
            <a:off x="5166360" y="1481328"/>
            <a:ext cx="2514600" cy="566928"/>
          </a:xfrm>
          <a:prstGeom prst="rect">
            <a:avLst/>
          </a:prstGeom>
          <a:noFill/>
          <a:ln/>
        </p:spPr>
        <p:txBody>
          <a:bodyPr wrap="square" lIns="635" tIns="635" rIns="635" bIns="635" rtlCol="0" anchor="ctr"/>
          <a:lstStyle/>
          <a:p>
            <a:pPr indent="0" marL="0">
              <a:buNone/>
            </a:pPr>
            <a:r>
              <a:rPr lang="en-US" sz="1700" b="1" dirty="0">
                <a:solidFill>
                  <a:schemeClr val="tx2"/>
                </a:solidFill>
              </a:rPr>
              <a:t>Delivery</a:t>
            </a:r>
            <a:endParaRPr lang="en-US" sz="1700" dirty="0"/>
          </a:p>
        </p:txBody>
      </p:sp>
      <p:sp>
        <p:nvSpPr>
          <p:cNvPr id="12" name="Text 10"/>
          <p:cNvSpPr txBox="1"/>
          <p:nvPr/>
        </p:nvSpPr>
        <p:spPr>
          <a:xfrm>
            <a:off x="4572000" y="2148840"/>
            <a:ext cx="3017520" cy="1188720"/>
          </a:xfrm>
          <a:prstGeom prst="rect">
            <a:avLst/>
          </a:prstGeom>
          <a:noFill/>
          <a:ln/>
        </p:spPr>
        <p:txBody>
          <a:bodyPr wrap="square" lIns="635" tIns="635" rIns="635" bIns="635" rtlCol="0" anchor="t"/>
          <a:lstStyle/>
          <a:p>
            <a:pPr indent="0" marL="0">
              <a:buNone/>
            </a:pPr>
            <a:r>
              <a:rPr lang="en-US" sz="1600" dirty="0">
                <a:solidFill>
                  <a:schemeClr val="tx1"/>
                </a:solidFill>
              </a:rPr>
              <a:t>PDR per child per window (blank when nothing was sent)</a:t>
            </a:r>
            <a:endParaRPr lang="en-US" sz="1600" dirty="0"/>
          </a:p>
        </p:txBody>
      </p:sp>
      <p:sp>
        <p:nvSpPr>
          <p:cNvPr id="13" name="Shape 11"/>
          <p:cNvSpPr/>
          <p:nvPr/>
        </p:nvSpPr>
        <p:spPr>
          <a:xfrm>
            <a:off x="8046720" y="1280160"/>
            <a:ext cx="3520440" cy="2194560"/>
          </a:xfrm>
          <a:prstGeom prst="roundRect">
            <a:avLst>
              <a:gd name="adj" fmla="val 3333"/>
            </a:avLst>
          </a:prstGeom>
          <a:solidFill>
            <a:schemeClr val="bg2"/>
          </a:solidFill>
          <a:ln w="9525">
            <a:solidFill>
              <a:schemeClr val="bg2"/>
            </a:solidFill>
            <a:prstDash val="solid"/>
          </a:ln>
        </p:spPr>
      </p:sp>
      <p:sp>
        <p:nvSpPr>
          <p:cNvPr id="14" name="Shape 12"/>
          <p:cNvSpPr/>
          <p:nvPr/>
        </p:nvSpPr>
        <p:spPr>
          <a:xfrm>
            <a:off x="8275320" y="1508760"/>
            <a:ext cx="502920" cy="502920"/>
          </a:xfrm>
          <a:prstGeom prst="ellipse">
            <a:avLst/>
          </a:prstGeom>
          <a:solidFill>
            <a:schemeClr val="accent6"/>
          </a:solidFill>
          <a:ln w="12700">
            <a:solidFill>
              <a:schemeClr val="accent6"/>
            </a:solidFill>
            <a:prstDash val="solid"/>
          </a:ln>
        </p:spPr>
      </p:sp>
      <p:sp>
        <p:nvSpPr>
          <p:cNvPr id="15" name="Text 13"/>
          <p:cNvSpPr txBox="1"/>
          <p:nvPr/>
        </p:nvSpPr>
        <p:spPr>
          <a:xfrm>
            <a:off x="8275320" y="1508760"/>
            <a:ext cx="502920" cy="502920"/>
          </a:xfrm>
          <a:prstGeom prst="rect">
            <a:avLst/>
          </a:prstGeom>
          <a:noFill/>
          <a:ln/>
        </p:spPr>
        <p:txBody>
          <a:bodyPr wrap="square" lIns="0" tIns="0" rIns="0" bIns="0" rtlCol="0" anchor="ctr"/>
          <a:lstStyle/>
          <a:p>
            <a:pPr algn="ctr" indent="0" marL="0">
              <a:buNone/>
            </a:pPr>
            <a:endParaRPr lang="en-US" sz="1600" dirty="0"/>
          </a:p>
        </p:txBody>
      </p:sp>
      <p:sp>
        <p:nvSpPr>
          <p:cNvPr id="16" name="Text 14"/>
          <p:cNvSpPr txBox="1"/>
          <p:nvPr/>
        </p:nvSpPr>
        <p:spPr>
          <a:xfrm>
            <a:off x="8915400" y="1481328"/>
            <a:ext cx="2514600" cy="566928"/>
          </a:xfrm>
          <a:prstGeom prst="rect">
            <a:avLst/>
          </a:prstGeom>
          <a:noFill/>
          <a:ln/>
        </p:spPr>
        <p:txBody>
          <a:bodyPr wrap="square" lIns="635" tIns="635" rIns="635" bIns="635" rtlCol="0" anchor="ctr"/>
          <a:lstStyle/>
          <a:p>
            <a:pPr indent="0" marL="0">
              <a:buNone/>
            </a:pPr>
            <a:r>
              <a:rPr lang="en-US" sz="1700" b="1" dirty="0">
                <a:solidFill>
                  <a:schemeClr val="tx2"/>
                </a:solidFill>
              </a:rPr>
              <a:t>Topology</a:t>
            </a:r>
            <a:endParaRPr lang="en-US" sz="1700" dirty="0"/>
          </a:p>
        </p:txBody>
      </p:sp>
      <p:sp>
        <p:nvSpPr>
          <p:cNvPr id="17" name="Text 15"/>
          <p:cNvSpPr txBox="1"/>
          <p:nvPr/>
        </p:nvSpPr>
        <p:spPr>
          <a:xfrm>
            <a:off x="8321040" y="2148840"/>
            <a:ext cx="3017520" cy="1188720"/>
          </a:xfrm>
          <a:prstGeom prst="rect">
            <a:avLst/>
          </a:prstGeom>
          <a:noFill/>
          <a:ln/>
        </p:spPr>
        <p:txBody>
          <a:bodyPr wrap="square" lIns="635" tIns="635" rIns="635" bIns="635" rtlCol="0" anchor="t"/>
          <a:lstStyle/>
          <a:p>
            <a:pPr indent="0" marL="0">
              <a:buNone/>
            </a:pPr>
            <a:r>
              <a:rPr lang="en-US" sz="1600" dirty="0">
                <a:solidFill>
                  <a:schemeClr val="tx1"/>
                </a:solidFill>
              </a:rPr>
              <a:t>ParentSwitchRate, HopChangeCount, HopStabilityDuration</a:t>
            </a:r>
            <a:endParaRPr lang="en-US" sz="1600" dirty="0"/>
          </a:p>
        </p:txBody>
      </p:sp>
      <p:sp>
        <p:nvSpPr>
          <p:cNvPr id="18" name="Shape 16"/>
          <p:cNvSpPr/>
          <p:nvPr/>
        </p:nvSpPr>
        <p:spPr>
          <a:xfrm>
            <a:off x="548640" y="3703320"/>
            <a:ext cx="3520440" cy="2194560"/>
          </a:xfrm>
          <a:prstGeom prst="roundRect">
            <a:avLst>
              <a:gd name="adj" fmla="val 3333"/>
            </a:avLst>
          </a:prstGeom>
          <a:solidFill>
            <a:schemeClr val="bg2"/>
          </a:solidFill>
          <a:ln w="9525">
            <a:solidFill>
              <a:schemeClr val="bg2"/>
            </a:solidFill>
            <a:prstDash val="solid"/>
          </a:ln>
        </p:spPr>
      </p:sp>
      <p:sp>
        <p:nvSpPr>
          <p:cNvPr id="19" name="Shape 17"/>
          <p:cNvSpPr/>
          <p:nvPr/>
        </p:nvSpPr>
        <p:spPr>
          <a:xfrm>
            <a:off x="777240" y="3931920"/>
            <a:ext cx="502920" cy="502920"/>
          </a:xfrm>
          <a:prstGeom prst="ellipse">
            <a:avLst/>
          </a:prstGeom>
          <a:solidFill>
            <a:schemeClr val="accent1"/>
          </a:solidFill>
          <a:ln w="12700">
            <a:solidFill>
              <a:schemeClr val="accent1"/>
            </a:solidFill>
            <a:prstDash val="solid"/>
          </a:ln>
        </p:spPr>
      </p:sp>
      <p:sp>
        <p:nvSpPr>
          <p:cNvPr id="20" name="Text 18"/>
          <p:cNvSpPr txBox="1"/>
          <p:nvPr/>
        </p:nvSpPr>
        <p:spPr>
          <a:xfrm>
            <a:off x="777240" y="3931920"/>
            <a:ext cx="502920" cy="502920"/>
          </a:xfrm>
          <a:prstGeom prst="rect">
            <a:avLst/>
          </a:prstGeom>
          <a:noFill/>
          <a:ln/>
        </p:spPr>
        <p:txBody>
          <a:bodyPr wrap="square" lIns="0" tIns="0" rIns="0" bIns="0" rtlCol="0" anchor="ctr"/>
          <a:lstStyle/>
          <a:p>
            <a:pPr algn="ctr" indent="0" marL="0">
              <a:buNone/>
            </a:pPr>
            <a:endParaRPr lang="en-US" sz="1600" dirty="0"/>
          </a:p>
        </p:txBody>
      </p:sp>
      <p:sp>
        <p:nvSpPr>
          <p:cNvPr id="21" name="Text 19"/>
          <p:cNvSpPr txBox="1"/>
          <p:nvPr/>
        </p:nvSpPr>
        <p:spPr>
          <a:xfrm>
            <a:off x="1417320" y="3904488"/>
            <a:ext cx="2514600" cy="566928"/>
          </a:xfrm>
          <a:prstGeom prst="rect">
            <a:avLst/>
          </a:prstGeom>
          <a:noFill/>
          <a:ln/>
        </p:spPr>
        <p:txBody>
          <a:bodyPr wrap="square" lIns="635" tIns="635" rIns="635" bIns="635" rtlCol="0" anchor="ctr"/>
          <a:lstStyle/>
          <a:p>
            <a:pPr indent="0" marL="0">
              <a:buNone/>
            </a:pPr>
            <a:r>
              <a:rPr lang="en-US" sz="1700" b="1" dirty="0">
                <a:solidFill>
                  <a:schemeClr val="tx2"/>
                </a:solidFill>
              </a:rPr>
              <a:t>Physical</a:t>
            </a:r>
            <a:endParaRPr lang="en-US" sz="1700" dirty="0"/>
          </a:p>
        </p:txBody>
      </p:sp>
      <p:sp>
        <p:nvSpPr>
          <p:cNvPr id="22" name="Text 20"/>
          <p:cNvSpPr txBox="1"/>
          <p:nvPr/>
        </p:nvSpPr>
        <p:spPr>
          <a:xfrm>
            <a:off x="822960" y="4572000"/>
            <a:ext cx="3017520" cy="1188720"/>
          </a:xfrm>
          <a:prstGeom prst="rect">
            <a:avLst/>
          </a:prstGeom>
          <a:noFill/>
          <a:ln/>
        </p:spPr>
        <p:txBody>
          <a:bodyPr wrap="square" lIns="635" tIns="635" rIns="635" bIns="635" rtlCol="0" anchor="t"/>
          <a:lstStyle/>
          <a:p>
            <a:pPr indent="0" marL="0">
              <a:buNone/>
            </a:pPr>
            <a:r>
              <a:rPr lang="en-US" sz="1600" dirty="0">
                <a:solidFill>
                  <a:schemeClr val="tx1"/>
                </a:solidFill>
              </a:rPr>
              <a:t>RSSI mean, variance, stability</a:t>
            </a:r>
            <a:endParaRPr lang="en-US" sz="1600" dirty="0"/>
          </a:p>
        </p:txBody>
      </p:sp>
      <p:sp>
        <p:nvSpPr>
          <p:cNvPr id="23" name="Shape 21"/>
          <p:cNvSpPr/>
          <p:nvPr/>
        </p:nvSpPr>
        <p:spPr>
          <a:xfrm>
            <a:off x="4297680" y="3703320"/>
            <a:ext cx="3520440" cy="2194560"/>
          </a:xfrm>
          <a:prstGeom prst="roundRect">
            <a:avLst>
              <a:gd name="adj" fmla="val 3333"/>
            </a:avLst>
          </a:prstGeom>
          <a:solidFill>
            <a:schemeClr val="bg2"/>
          </a:solidFill>
          <a:ln w="9525">
            <a:solidFill>
              <a:schemeClr val="bg2"/>
            </a:solidFill>
            <a:prstDash val="solid"/>
          </a:ln>
        </p:spPr>
      </p:sp>
      <p:sp>
        <p:nvSpPr>
          <p:cNvPr id="24" name="Shape 22"/>
          <p:cNvSpPr/>
          <p:nvPr/>
        </p:nvSpPr>
        <p:spPr>
          <a:xfrm>
            <a:off x="4526280" y="3931920"/>
            <a:ext cx="502920" cy="502920"/>
          </a:xfrm>
          <a:prstGeom prst="ellipse">
            <a:avLst/>
          </a:prstGeom>
          <a:solidFill>
            <a:schemeClr val="accent5"/>
          </a:solidFill>
          <a:ln w="12700">
            <a:solidFill>
              <a:schemeClr val="accent5"/>
            </a:solidFill>
            <a:prstDash val="solid"/>
          </a:ln>
        </p:spPr>
      </p:sp>
      <p:sp>
        <p:nvSpPr>
          <p:cNvPr id="25" name="Text 23"/>
          <p:cNvSpPr txBox="1"/>
          <p:nvPr/>
        </p:nvSpPr>
        <p:spPr>
          <a:xfrm>
            <a:off x="4526280" y="3931920"/>
            <a:ext cx="502920" cy="502920"/>
          </a:xfrm>
          <a:prstGeom prst="rect">
            <a:avLst/>
          </a:prstGeom>
          <a:noFill/>
          <a:ln/>
        </p:spPr>
        <p:txBody>
          <a:bodyPr wrap="square" lIns="0" tIns="0" rIns="0" bIns="0" rtlCol="0" anchor="ctr"/>
          <a:lstStyle/>
          <a:p>
            <a:pPr algn="ctr" indent="0" marL="0">
              <a:buNone/>
            </a:pPr>
            <a:endParaRPr lang="en-US" sz="1600" dirty="0"/>
          </a:p>
        </p:txBody>
      </p:sp>
      <p:sp>
        <p:nvSpPr>
          <p:cNvPr id="26" name="Text 24"/>
          <p:cNvSpPr txBox="1"/>
          <p:nvPr/>
        </p:nvSpPr>
        <p:spPr>
          <a:xfrm>
            <a:off x="5166360" y="3904488"/>
            <a:ext cx="2514600" cy="566928"/>
          </a:xfrm>
          <a:prstGeom prst="rect">
            <a:avLst/>
          </a:prstGeom>
          <a:noFill/>
          <a:ln/>
        </p:spPr>
        <p:txBody>
          <a:bodyPr wrap="square" lIns="635" tIns="635" rIns="635" bIns="635" rtlCol="0" anchor="ctr"/>
          <a:lstStyle/>
          <a:p>
            <a:pPr indent="0" marL="0">
              <a:buNone/>
            </a:pPr>
            <a:r>
              <a:rPr lang="en-US" sz="1700" b="1" dirty="0">
                <a:solidFill>
                  <a:schemeClr val="tx2"/>
                </a:solidFill>
              </a:rPr>
              <a:t>Cross-layer</a:t>
            </a:r>
            <a:endParaRPr lang="en-US" sz="1700" dirty="0"/>
          </a:p>
        </p:txBody>
      </p:sp>
      <p:sp>
        <p:nvSpPr>
          <p:cNvPr id="27" name="Text 25"/>
          <p:cNvSpPr txBox="1"/>
          <p:nvPr/>
        </p:nvSpPr>
        <p:spPr>
          <a:xfrm>
            <a:off x="4572000" y="4572000"/>
            <a:ext cx="3017520" cy="1188720"/>
          </a:xfrm>
          <a:prstGeom prst="rect">
            <a:avLst/>
          </a:prstGeom>
          <a:noFill/>
          <a:ln/>
        </p:spPr>
        <p:txBody>
          <a:bodyPr wrap="square" lIns="635" tIns="635" rIns="635" bIns="635" rtlCol="0" anchor="t"/>
          <a:lstStyle/>
          <a:p>
            <a:pPr indent="0" marL="0">
              <a:buNone/>
            </a:pPr>
            <a:r>
              <a:rPr lang="en-US" sz="1600" dirty="0">
                <a:solidFill>
                  <a:schemeClr val="tx1"/>
                </a:solidFill>
              </a:rPr>
              <a:t>RSSI_Hop_Diff, LatencyHopRatio</a:t>
            </a:r>
            <a:endParaRPr lang="en-US" sz="1600" dirty="0"/>
          </a:p>
        </p:txBody>
      </p:sp>
      <p:sp>
        <p:nvSpPr>
          <p:cNvPr id="28" name="Shape 26"/>
          <p:cNvSpPr/>
          <p:nvPr/>
        </p:nvSpPr>
        <p:spPr>
          <a:xfrm>
            <a:off x="8046720" y="3703320"/>
            <a:ext cx="3520440" cy="2194560"/>
          </a:xfrm>
          <a:prstGeom prst="roundRect">
            <a:avLst>
              <a:gd name="adj" fmla="val 3333"/>
            </a:avLst>
          </a:prstGeom>
          <a:solidFill>
            <a:schemeClr val="bg2"/>
          </a:solidFill>
          <a:ln w="9525">
            <a:solidFill>
              <a:schemeClr val="bg2"/>
            </a:solidFill>
            <a:prstDash val="solid"/>
          </a:ln>
        </p:spPr>
      </p:sp>
      <p:sp>
        <p:nvSpPr>
          <p:cNvPr id="29" name="Shape 27"/>
          <p:cNvSpPr/>
          <p:nvPr/>
        </p:nvSpPr>
        <p:spPr>
          <a:xfrm>
            <a:off x="8275320" y="3931920"/>
            <a:ext cx="502920" cy="502920"/>
          </a:xfrm>
          <a:prstGeom prst="ellipse">
            <a:avLst/>
          </a:prstGeom>
          <a:solidFill>
            <a:schemeClr val="accent2"/>
          </a:solidFill>
          <a:ln w="12700">
            <a:solidFill>
              <a:schemeClr val="accent2"/>
            </a:solidFill>
            <a:prstDash val="solid"/>
          </a:ln>
        </p:spPr>
      </p:sp>
      <p:sp>
        <p:nvSpPr>
          <p:cNvPr id="30" name="Text 28"/>
          <p:cNvSpPr txBox="1"/>
          <p:nvPr/>
        </p:nvSpPr>
        <p:spPr>
          <a:xfrm>
            <a:off x="8275320" y="3931920"/>
            <a:ext cx="502920" cy="502920"/>
          </a:xfrm>
          <a:prstGeom prst="rect">
            <a:avLst/>
          </a:prstGeom>
          <a:noFill/>
          <a:ln/>
        </p:spPr>
        <p:txBody>
          <a:bodyPr wrap="square" lIns="0" tIns="0" rIns="0" bIns="0" rtlCol="0" anchor="ctr"/>
          <a:lstStyle/>
          <a:p>
            <a:pPr algn="ctr" indent="0" marL="0">
              <a:buNone/>
            </a:pPr>
            <a:endParaRPr lang="en-US" sz="1600" dirty="0"/>
          </a:p>
        </p:txBody>
      </p:sp>
      <p:sp>
        <p:nvSpPr>
          <p:cNvPr id="31" name="Text 29"/>
          <p:cNvSpPr txBox="1"/>
          <p:nvPr/>
        </p:nvSpPr>
        <p:spPr>
          <a:xfrm>
            <a:off x="8915400" y="3904488"/>
            <a:ext cx="2514600" cy="566928"/>
          </a:xfrm>
          <a:prstGeom prst="rect">
            <a:avLst/>
          </a:prstGeom>
          <a:noFill/>
          <a:ln/>
        </p:spPr>
        <p:txBody>
          <a:bodyPr wrap="square" lIns="635" tIns="635" rIns="635" bIns="635" rtlCol="0" anchor="ctr"/>
          <a:lstStyle/>
          <a:p>
            <a:pPr indent="0" marL="0">
              <a:buNone/>
            </a:pPr>
            <a:r>
              <a:rPr lang="en-US" sz="1700" b="1" dirty="0">
                <a:solidFill>
                  <a:schemeClr val="tx2"/>
                </a:solidFill>
              </a:rPr>
              <a:t>Tunnel</a:t>
            </a:r>
            <a:endParaRPr lang="en-US" sz="1700" dirty="0"/>
          </a:p>
        </p:txBody>
      </p:sp>
      <p:sp>
        <p:nvSpPr>
          <p:cNvPr id="32" name="Text 30"/>
          <p:cNvSpPr txBox="1"/>
          <p:nvPr/>
        </p:nvSpPr>
        <p:spPr>
          <a:xfrm>
            <a:off x="8321040" y="4572000"/>
            <a:ext cx="3017520" cy="1188720"/>
          </a:xfrm>
          <a:prstGeom prst="rect">
            <a:avLst/>
          </a:prstGeom>
          <a:noFill/>
          <a:ln/>
        </p:spPr>
        <p:txBody>
          <a:bodyPr wrap="square" lIns="635" tIns="635" rIns="635" bIns="635" rtlCol="0" anchor="t"/>
          <a:lstStyle/>
          <a:p>
            <a:pPr indent="0" marL="0">
              <a:buNone/>
            </a:pPr>
            <a:r>
              <a:rPr lang="en-US" sz="1600" dirty="0">
                <a:solidFill>
                  <a:schemeClr val="tx1"/>
                </a:solidFill>
              </a:rPr>
              <a:t>TunnelIntensity, TunnelBytes, TunnelLatency, DuplicateRate</a:t>
            </a:r>
            <a:endParaRPr lang="en-US" sz="16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Analysis plan: EDA, then clustering</a:t>
            </a:r>
            <a:endParaRPr lang="en-US" sz="3000" dirty="0"/>
          </a:p>
        </p:txBody>
      </p:sp>
      <p:sp>
        <p:nvSpPr>
          <p:cNvPr id="3" name="Shape 1"/>
          <p:cNvSpPr/>
          <p:nvPr/>
        </p:nvSpPr>
        <p:spPr>
          <a:xfrm>
            <a:off x="548640" y="1280160"/>
            <a:ext cx="5440680" cy="4800600"/>
          </a:xfrm>
          <a:prstGeom prst="roundRect">
            <a:avLst>
              <a:gd name="adj" fmla="val 1524"/>
            </a:avLst>
          </a:prstGeom>
          <a:solidFill>
            <a:schemeClr val="bg2"/>
          </a:solidFill>
          <a:ln w="9525">
            <a:solidFill>
              <a:schemeClr val="bg2"/>
            </a:solidFill>
            <a:prstDash val="solid"/>
          </a:ln>
        </p:spPr>
        <p:txBody>
          <a:bodyPr/>
          <a:p/>
        </p:txBody>
      </p:sp>
      <p:sp>
        <p:nvSpPr>
          <p:cNvPr id="4" name="Shape 2"/>
          <p:cNvSpPr/>
          <p:nvPr/>
        </p:nvSpPr>
        <p:spPr>
          <a:xfrm>
            <a:off x="777240" y="1508760"/>
            <a:ext cx="502920" cy="502920"/>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777240" y="15087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E</a:t>
            </a:r>
            <a:endParaRPr lang="en-US" sz="1600" dirty="0"/>
          </a:p>
        </p:txBody>
      </p:sp>
      <p:sp>
        <p:nvSpPr>
          <p:cNvPr id="6" name="Text 4"/>
          <p:cNvSpPr txBox="1"/>
          <p:nvPr/>
        </p:nvSpPr>
        <p:spPr>
          <a:xfrm>
            <a:off x="1417320" y="1481328"/>
            <a:ext cx="4434840" cy="566928"/>
          </a:xfrm>
          <a:prstGeom prst="rect">
            <a:avLst/>
          </a:prstGeom>
          <a:noFill/>
          <a:ln/>
        </p:spPr>
        <p:txBody>
          <a:bodyPr wrap="square" lIns="635" tIns="635" rIns="635" bIns="635" rtlCol="0" anchor="ctr"/>
          <a:lstStyle/>
          <a:p>
            <a:pPr indent="0" marL="0">
              <a:buNone/>
            </a:pPr>
            <a:r>
              <a:rPr lang="en-US" sz="1700" b="1" dirty="0">
                <a:solidFill>
                  <a:schemeClr val="tx2"/>
                </a:solidFill>
              </a:rPr>
              <a:t>Exploratory data analysis</a:t>
            </a:r>
            <a:endParaRPr lang="en-US" sz="1700" dirty="0"/>
          </a:p>
        </p:txBody>
      </p:sp>
      <p:sp>
        <p:nvSpPr>
          <p:cNvPr id="7" name="Text 5"/>
          <p:cNvSpPr txBox="1"/>
          <p:nvPr/>
        </p:nvSpPr>
        <p:spPr>
          <a:xfrm>
            <a:off x="822960" y="2148840"/>
            <a:ext cx="4937760" cy="379476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Distributions of ForwardingRatio and RSSI_Hop_Diff by phase and role</a:t>
            </a:r>
            <a:endParaRPr lang="en-US" sz="1500" dirty="0"/>
          </a:p>
          <a:p>
            <a:pPr marL="342900" indent="-342900">
              <a:spcAft>
                <a:spcPts val="600"/>
              </a:spcAft>
              <a:buSzPct val="100000"/>
              <a:buChar char="•"/>
            </a:pPr>
            <a:r>
              <a:rPr lang="en-US" sz="1500" dirty="0">
                <a:solidFill>
                  <a:schemeClr val="tx1"/>
                </a:solidFill>
              </a:rPr>
              <a:t>Time series of PDR, ForwardingRatio and root arrivals over the run</a:t>
            </a:r>
            <a:endParaRPr lang="en-US" sz="1500" dirty="0"/>
          </a:p>
          <a:p>
            <a:pPr marL="342900" indent="-342900">
              <a:spcAft>
                <a:spcPts val="600"/>
              </a:spcAft>
              <a:buSzPct val="100000"/>
              <a:buChar char="•"/>
            </a:pPr>
            <a:r>
              <a:rPr lang="en-US" sz="1500" dirty="0">
                <a:solidFill>
                  <a:schemeClr val="tx1"/>
                </a:solidFill>
              </a:rPr>
              <a:t>Pearson and Spearman correlations: all, baseline only, attack only</a:t>
            </a:r>
            <a:endParaRPr lang="en-US" sz="1500" dirty="0"/>
          </a:p>
          <a:p>
            <a:pPr marL="342900" indent="-342900">
              <a:spcAft>
                <a:spcPts val="600"/>
              </a:spcAft>
              <a:buSzPct val="100000"/>
              <a:buChar char="•"/>
            </a:pPr>
            <a:r>
              <a:rPr lang="en-US" sz="1500" dirty="0">
                <a:solidFill>
                  <a:schemeClr val="tx1"/>
                </a:solidFill>
              </a:rPr>
              <a:t>PCA and t-SNE on z-scored features (clipped at ±5)</a:t>
            </a:r>
            <a:endParaRPr lang="en-US" sz="1500" dirty="0"/>
          </a:p>
          <a:p>
            <a:pPr marL="342900" indent="-342900">
              <a:spcAft>
                <a:spcPts val="600"/>
              </a:spcAft>
              <a:buSzPct val="100000"/>
              <a:buChar char="•"/>
            </a:pPr>
            <a:r>
              <a:rPr lang="en-US" sz="1500" dirty="0">
                <a:solidFill>
                  <a:schemeClr val="tx1"/>
                </a:solidFill>
              </a:rPr>
              <a:t>Descriptive only — no detection claims</a:t>
            </a:r>
            <a:endParaRPr lang="en-US" sz="1500" dirty="0"/>
          </a:p>
        </p:txBody>
      </p:sp>
      <p:sp>
        <p:nvSpPr>
          <p:cNvPr id="8" name="Shape 6"/>
          <p:cNvSpPr/>
          <p:nvPr/>
        </p:nvSpPr>
        <p:spPr>
          <a:xfrm>
            <a:off x="6172200" y="1280160"/>
            <a:ext cx="5440680" cy="4800600"/>
          </a:xfrm>
          <a:prstGeom prst="roundRect">
            <a:avLst>
              <a:gd name="adj" fmla="val 1524"/>
            </a:avLst>
          </a:prstGeom>
          <a:solidFill>
            <a:schemeClr val="bg2"/>
          </a:solidFill>
          <a:ln w="9525">
            <a:solidFill>
              <a:schemeClr val="bg2"/>
            </a:solidFill>
            <a:prstDash val="solid"/>
          </a:ln>
        </p:spPr>
        <p:txBody>
          <a:bodyPr/>
          <a:p/>
        </p:txBody>
      </p:sp>
      <p:sp>
        <p:nvSpPr>
          <p:cNvPr id="9" name="Shape 7"/>
          <p:cNvSpPr/>
          <p:nvPr/>
        </p:nvSpPr>
        <p:spPr>
          <a:xfrm>
            <a:off x="6400800" y="1508760"/>
            <a:ext cx="502920" cy="502920"/>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6400800" y="15087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1" name="Text 9"/>
          <p:cNvSpPr txBox="1"/>
          <p:nvPr/>
        </p:nvSpPr>
        <p:spPr>
          <a:xfrm>
            <a:off x="7040880" y="1481328"/>
            <a:ext cx="4434840" cy="566928"/>
          </a:xfrm>
          <a:prstGeom prst="rect">
            <a:avLst/>
          </a:prstGeom>
          <a:noFill/>
          <a:ln/>
        </p:spPr>
        <p:txBody>
          <a:bodyPr wrap="square" lIns="635" tIns="635" rIns="635" bIns="635" rtlCol="0" anchor="ctr"/>
          <a:lstStyle/>
          <a:p>
            <a:pPr indent="0" marL="0">
              <a:buNone/>
            </a:pPr>
            <a:r>
              <a:rPr lang="en-US" sz="1700" b="1" dirty="0">
                <a:solidFill>
                  <a:schemeClr val="tx2"/>
                </a:solidFill>
              </a:rPr>
              <a:t>Clustering (planned)</a:t>
            </a:r>
            <a:endParaRPr lang="en-US" sz="1700" dirty="0"/>
          </a:p>
        </p:txBody>
      </p:sp>
      <p:sp>
        <p:nvSpPr>
          <p:cNvPr id="12" name="Text 10"/>
          <p:cNvSpPr txBox="1"/>
          <p:nvPr/>
        </p:nvSpPr>
        <p:spPr>
          <a:xfrm>
            <a:off x="6446520" y="2148840"/>
            <a:ext cx="4937760" cy="379476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DBSCAN (primary), K-Means, Ward hierarchical, GMM, spectral</a:t>
            </a:r>
            <a:endParaRPr lang="en-US" sz="1500" dirty="0"/>
          </a:p>
          <a:p>
            <a:pPr marL="342900" indent="-342900">
              <a:spcAft>
                <a:spcPts val="600"/>
              </a:spcAft>
              <a:buSzPct val="100000"/>
              <a:buChar char="•"/>
            </a:pPr>
            <a:r>
              <a:rPr lang="en-US" sz="1500" dirty="0">
                <a:solidFill>
                  <a:schemeClr val="tx1"/>
                </a:solidFill>
              </a:rPr>
              <a:t>Full and reduced feature sets; seeds 42, 7 and 123</a:t>
            </a:r>
            <a:endParaRPr lang="en-US" sz="1500" dirty="0"/>
          </a:p>
          <a:p>
            <a:pPr marL="342900" indent="-342900">
              <a:spcAft>
                <a:spcPts val="600"/>
              </a:spcAft>
              <a:buSzPct val="100000"/>
              <a:buChar char="•"/>
            </a:pPr>
            <a:r>
              <a:rPr lang="en-US" sz="1500" dirty="0">
                <a:solidFill>
                  <a:schemeClr val="tx1"/>
                </a:solidFill>
              </a:rPr>
              <a:t>Internal quality: silhouette, Davies–Bouldin</a:t>
            </a:r>
            <a:endParaRPr lang="en-US" sz="1500" dirty="0"/>
          </a:p>
          <a:p>
            <a:pPr marL="342900" indent="-342900">
              <a:spcAft>
                <a:spcPts val="600"/>
              </a:spcAft>
              <a:buSzPct val="100000"/>
              <a:buChar char="•"/>
            </a:pPr>
            <a:r>
              <a:rPr lang="en-US" sz="1500" dirty="0">
                <a:solidFill>
                  <a:schemeClr val="tx1"/>
                </a:solidFill>
              </a:rPr>
              <a:t>Labels used only afterwards: purity and adjusted Rand index</a:t>
            </a:r>
            <a:endParaRPr lang="en-US" sz="1500" dirty="0"/>
          </a:p>
          <a:p>
            <a:pPr marL="342900" indent="-342900">
              <a:spcAft>
                <a:spcPts val="600"/>
              </a:spcAft>
              <a:buSzPct val="100000"/>
              <a:buChar char="•"/>
            </a:pPr>
            <a:r>
              <a:rPr lang="en-US" sz="1500" dirty="0">
                <a:solidFill>
                  <a:schemeClr val="tx1"/>
                </a:solidFill>
              </a:rPr>
              <a:t>If wormhole windows do not separate, that is reported as a finding</a:t>
            </a:r>
            <a:endParaRPr lang="en-US" sz="15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How every run is validated</a:t>
            </a:r>
            <a:endParaRPr lang="en-US" sz="3000" dirty="0"/>
          </a:p>
        </p:txBody>
      </p:sp>
      <p:sp>
        <p:nvSpPr>
          <p:cNvPr id="3" name="Shape 1"/>
          <p:cNvSpPr/>
          <p:nvPr/>
        </p:nvSpPr>
        <p:spPr>
          <a:xfrm>
            <a:off x="548640" y="1280160"/>
            <a:ext cx="5440680" cy="2194560"/>
          </a:xfrm>
          <a:prstGeom prst="roundRect">
            <a:avLst>
              <a:gd name="adj" fmla="val 3333"/>
            </a:avLst>
          </a:prstGeom>
          <a:solidFill>
            <a:schemeClr val="bg2"/>
          </a:solidFill>
          <a:ln w="9525">
            <a:solidFill>
              <a:schemeClr val="bg2"/>
            </a:solidFill>
            <a:prstDash val="solid"/>
          </a:ln>
        </p:spPr>
        <p:txBody>
          <a:bodyPr/>
          <a:p/>
        </p:txBody>
      </p:sp>
      <p:sp>
        <p:nvSpPr>
          <p:cNvPr id="4" name="Shape 2"/>
          <p:cNvSpPr/>
          <p:nvPr/>
        </p:nvSpPr>
        <p:spPr>
          <a:xfrm>
            <a:off x="777240" y="1508760"/>
            <a:ext cx="502920" cy="502920"/>
          </a:xfrm>
          <a:prstGeom prst="ellipse">
            <a:avLst/>
          </a:prstGeom>
          <a:solidFill>
            <a:schemeClr val="accent6"/>
          </a:solidFill>
          <a:ln w="12700">
            <a:solidFill>
              <a:schemeClr val="accent6"/>
            </a:solidFill>
            <a:prstDash val="solid"/>
          </a:ln>
        </p:spPr>
        <p:txBody>
          <a:bodyPr/>
          <a:p/>
        </p:txBody>
      </p:sp>
      <p:sp>
        <p:nvSpPr>
          <p:cNvPr id="5" name="Text 3"/>
          <p:cNvSpPr txBox="1"/>
          <p:nvPr/>
        </p:nvSpPr>
        <p:spPr>
          <a:xfrm>
            <a:off x="777240" y="15087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417320" y="1481328"/>
            <a:ext cx="4434840" cy="566928"/>
          </a:xfrm>
          <a:prstGeom prst="rect">
            <a:avLst/>
          </a:prstGeom>
          <a:noFill/>
          <a:ln/>
        </p:spPr>
        <p:txBody>
          <a:bodyPr wrap="square" lIns="635" tIns="635" rIns="635" bIns="635" rtlCol="0" anchor="ctr"/>
          <a:lstStyle/>
          <a:p>
            <a:pPr indent="0" marL="0">
              <a:buNone/>
            </a:pPr>
            <a:r>
              <a:rPr lang="en-US" sz="1700" b="1" dirty="0">
                <a:solidFill>
                  <a:schemeClr val="tx2"/>
                </a:solidFill>
              </a:rPr>
              <a:t>3-sigma test</a:t>
            </a:r>
            <a:endParaRPr lang="en-US" sz="1700" dirty="0"/>
          </a:p>
        </p:txBody>
      </p:sp>
      <p:sp>
        <p:nvSpPr>
          <p:cNvPr id="7" name="Text 5"/>
          <p:cNvSpPr txBox="1"/>
          <p:nvPr/>
        </p:nvSpPr>
        <p:spPr>
          <a:xfrm>
            <a:off x="822960" y="2148840"/>
            <a:ext cx="4937760" cy="1188720"/>
          </a:xfrm>
          <a:prstGeom prst="rect">
            <a:avLst/>
          </a:prstGeom>
          <a:noFill/>
          <a:ln/>
        </p:spPr>
        <p:txBody>
          <a:bodyPr wrap="square" lIns="635" tIns="635" rIns="635" bIns="635" rtlCol="0" anchor="t"/>
          <a:lstStyle/>
          <a:p>
            <a:pPr indent="0" marL="0">
              <a:buNone/>
            </a:pPr>
            <a:r>
              <a:rPr lang="en-US" sz="1600" dirty="0">
                <a:solidFill>
                  <a:schemeClr val="tx1"/>
                </a:solidFill>
              </a:rPr>
              <a:t>Attack-phase blocks (5 windows) must lie beyond the baseline mean ± 3 SD (Zhukabayeva et al.); broken baselines are excluded, not scored</a:t>
            </a:r>
            <a:endParaRPr lang="en-US" sz="1600" dirty="0"/>
          </a:p>
        </p:txBody>
      </p:sp>
      <p:sp>
        <p:nvSpPr>
          <p:cNvPr id="8" name="Shape 6"/>
          <p:cNvSpPr/>
          <p:nvPr/>
        </p:nvSpPr>
        <p:spPr>
          <a:xfrm>
            <a:off x="6172200" y="1280160"/>
            <a:ext cx="5440680" cy="2194560"/>
          </a:xfrm>
          <a:prstGeom prst="roundRect">
            <a:avLst>
              <a:gd name="adj" fmla="val 3333"/>
            </a:avLst>
          </a:prstGeom>
          <a:solidFill>
            <a:schemeClr val="bg2"/>
          </a:solidFill>
          <a:ln w="9525">
            <a:solidFill>
              <a:schemeClr val="bg2"/>
            </a:solidFill>
            <a:prstDash val="solid"/>
          </a:ln>
        </p:spPr>
        <p:txBody>
          <a:bodyPr/>
          <a:p/>
        </p:txBody>
      </p:sp>
      <p:sp>
        <p:nvSpPr>
          <p:cNvPr id="9" name="Shape 7"/>
          <p:cNvSpPr/>
          <p:nvPr/>
        </p:nvSpPr>
        <p:spPr>
          <a:xfrm>
            <a:off x="6400800" y="1508760"/>
            <a:ext cx="502920" cy="502920"/>
          </a:xfrm>
          <a:prstGeom prst="ellipse">
            <a:avLst/>
          </a:prstGeom>
          <a:solidFill>
            <a:schemeClr val="accent6"/>
          </a:solidFill>
          <a:ln w="12700">
            <a:solidFill>
              <a:schemeClr val="accent6"/>
            </a:solidFill>
            <a:prstDash val="solid"/>
          </a:ln>
        </p:spPr>
        <p:txBody>
          <a:bodyPr/>
          <a:p/>
        </p:txBody>
      </p:sp>
      <p:sp>
        <p:nvSpPr>
          <p:cNvPr id="10" name="Text 8"/>
          <p:cNvSpPr txBox="1"/>
          <p:nvPr/>
        </p:nvSpPr>
        <p:spPr>
          <a:xfrm>
            <a:off x="6400800" y="15087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7040880" y="1481328"/>
            <a:ext cx="4434840" cy="566928"/>
          </a:xfrm>
          <a:prstGeom prst="rect">
            <a:avLst/>
          </a:prstGeom>
          <a:noFill/>
          <a:ln/>
        </p:spPr>
        <p:txBody>
          <a:bodyPr wrap="square" lIns="635" tIns="635" rIns="635" bIns="635" rtlCol="0" anchor="ctr"/>
          <a:lstStyle/>
          <a:p>
            <a:pPr indent="0" marL="0">
              <a:buNone/>
            </a:pPr>
            <a:r>
              <a:rPr lang="en-US" sz="1700" b="1" dirty="0">
                <a:solidFill>
                  <a:schemeClr val="tx2"/>
                </a:solidFill>
              </a:rPr>
              <a:t>Setup check</a:t>
            </a:r>
            <a:endParaRPr lang="en-US" sz="1700" dirty="0"/>
          </a:p>
        </p:txBody>
      </p:sp>
      <p:sp>
        <p:nvSpPr>
          <p:cNvPr id="12" name="Text 10"/>
          <p:cNvSpPr txBox="1"/>
          <p:nvPr/>
        </p:nvSpPr>
        <p:spPr>
          <a:xfrm>
            <a:off x="6446520" y="2148840"/>
            <a:ext cx="4937760" cy="1188720"/>
          </a:xfrm>
          <a:prstGeom prst="rect">
            <a:avLst/>
          </a:prstGeom>
          <a:noFill/>
          <a:ln/>
        </p:spPr>
        <p:txBody>
          <a:bodyPr wrap="square" lIns="635" tIns="635" rIns="635" bIns="635" rtlCol="0" anchor="t"/>
          <a:lstStyle/>
          <a:p>
            <a:pPr indent="0" marL="0">
              <a:buNone/>
            </a:pPr>
            <a:r>
              <a:rPr lang="en-US" sz="1600" dirty="0">
                <a:solidFill>
                  <a:schemeClr val="tx1"/>
                </a:solidFill>
              </a:rPr>
              <a:t>Topology during the attack, attacker position, victims alive but cut off; for the wormhole, B deeper than A and the wire carried the probes</a:t>
            </a:r>
            <a:endParaRPr lang="en-US" sz="1600" dirty="0"/>
          </a:p>
        </p:txBody>
      </p:sp>
      <p:sp>
        <p:nvSpPr>
          <p:cNvPr id="13" name="Shape 11"/>
          <p:cNvSpPr/>
          <p:nvPr/>
        </p:nvSpPr>
        <p:spPr>
          <a:xfrm>
            <a:off x="548640" y="3703320"/>
            <a:ext cx="5440680" cy="2194560"/>
          </a:xfrm>
          <a:prstGeom prst="roundRect">
            <a:avLst>
              <a:gd name="adj" fmla="val 3333"/>
            </a:avLst>
          </a:prstGeom>
          <a:solidFill>
            <a:schemeClr val="bg2"/>
          </a:solidFill>
          <a:ln w="9525">
            <a:solidFill>
              <a:schemeClr val="bg2"/>
            </a:solidFill>
            <a:prstDash val="solid"/>
          </a:ln>
        </p:spPr>
        <p:txBody>
          <a:bodyPr/>
          <a:p/>
        </p:txBody>
      </p:sp>
      <p:sp>
        <p:nvSpPr>
          <p:cNvPr id="14" name="Shape 12"/>
          <p:cNvSpPr/>
          <p:nvPr/>
        </p:nvSpPr>
        <p:spPr>
          <a:xfrm>
            <a:off x="777240" y="3931920"/>
            <a:ext cx="502920" cy="502920"/>
          </a:xfrm>
          <a:prstGeom prst="ellipse">
            <a:avLst/>
          </a:prstGeom>
          <a:solidFill>
            <a:schemeClr val="accent6"/>
          </a:solidFill>
          <a:ln w="12700">
            <a:solidFill>
              <a:schemeClr val="accent6"/>
            </a:solidFill>
            <a:prstDash val="solid"/>
          </a:ln>
        </p:spPr>
        <p:txBody>
          <a:bodyPr/>
          <a:p/>
        </p:txBody>
      </p:sp>
      <p:sp>
        <p:nvSpPr>
          <p:cNvPr id="15" name="Text 13"/>
          <p:cNvSpPr txBox="1"/>
          <p:nvPr/>
        </p:nvSpPr>
        <p:spPr>
          <a:xfrm>
            <a:off x="777240" y="3931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1417320" y="3904488"/>
            <a:ext cx="4434840" cy="566928"/>
          </a:xfrm>
          <a:prstGeom prst="rect">
            <a:avLst/>
          </a:prstGeom>
          <a:noFill/>
          <a:ln/>
        </p:spPr>
        <p:txBody>
          <a:bodyPr wrap="square" lIns="635" tIns="635" rIns="635" bIns="635" rtlCol="0" anchor="ctr"/>
          <a:lstStyle/>
          <a:p>
            <a:pPr indent="0" marL="0">
              <a:buNone/>
            </a:pPr>
            <a:r>
              <a:rPr lang="en-US" sz="1700" b="1" dirty="0">
                <a:solidFill>
                  <a:schemeClr val="tx2"/>
                </a:solidFill>
              </a:rPr>
              <a:t>Published studies</a:t>
            </a:r>
            <a:endParaRPr lang="en-US" sz="1700" dirty="0"/>
          </a:p>
        </p:txBody>
      </p:sp>
      <p:sp>
        <p:nvSpPr>
          <p:cNvPr id="17" name="Text 15"/>
          <p:cNvSpPr txBox="1"/>
          <p:nvPr/>
        </p:nvSpPr>
        <p:spPr>
          <a:xfrm>
            <a:off x="822960" y="4572000"/>
            <a:ext cx="4937760" cy="1188720"/>
          </a:xfrm>
          <a:prstGeom prst="rect">
            <a:avLst/>
          </a:prstGeom>
          <a:noFill/>
          <a:ln/>
        </p:spPr>
        <p:txBody>
          <a:bodyPr wrap="square" lIns="635" tIns="635" rIns="635" bIns="635" rtlCol="0" anchor="t"/>
          <a:lstStyle/>
          <a:p>
            <a:pPr indent="0" marL="0">
              <a:buNone/>
            </a:pPr>
            <a:r>
              <a:rPr lang="en-US" sz="1600" dirty="0">
                <a:solidFill>
                  <a:schemeClr val="tx1"/>
                </a:solidFill>
              </a:rPr>
              <a:t>Direction and rough size compared with Airehrour, Khan, Zhukabayeva and Ramírez Gómez — consistency, not proof</a:t>
            </a:r>
            <a:endParaRPr lang="en-US" sz="1600" dirty="0"/>
          </a:p>
        </p:txBody>
      </p:sp>
      <p:sp>
        <p:nvSpPr>
          <p:cNvPr id="18" name="Shape 16"/>
          <p:cNvSpPr/>
          <p:nvPr/>
        </p:nvSpPr>
        <p:spPr>
          <a:xfrm>
            <a:off x="6172200" y="3703320"/>
            <a:ext cx="5440680" cy="2194560"/>
          </a:xfrm>
          <a:prstGeom prst="roundRect">
            <a:avLst>
              <a:gd name="adj" fmla="val 3333"/>
            </a:avLst>
          </a:prstGeom>
          <a:solidFill>
            <a:schemeClr val="bg2"/>
          </a:solidFill>
          <a:ln w="9525">
            <a:solidFill>
              <a:schemeClr val="bg2"/>
            </a:solidFill>
            <a:prstDash val="solid"/>
          </a:ln>
        </p:spPr>
        <p:txBody>
          <a:bodyPr/>
          <a:p/>
        </p:txBody>
      </p:sp>
      <p:sp>
        <p:nvSpPr>
          <p:cNvPr id="19" name="Shape 17"/>
          <p:cNvSpPr/>
          <p:nvPr/>
        </p:nvSpPr>
        <p:spPr>
          <a:xfrm>
            <a:off x="6400800" y="3931920"/>
            <a:ext cx="502920" cy="502920"/>
          </a:xfrm>
          <a:prstGeom prst="ellipse">
            <a:avLst/>
          </a:prstGeom>
          <a:solidFill>
            <a:schemeClr val="accent6"/>
          </a:solidFill>
          <a:ln w="12700">
            <a:solidFill>
              <a:schemeClr val="accent6"/>
            </a:solidFill>
            <a:prstDash val="solid"/>
          </a:ln>
        </p:spPr>
        <p:txBody>
          <a:bodyPr/>
          <a:p/>
        </p:txBody>
      </p:sp>
      <p:sp>
        <p:nvSpPr>
          <p:cNvPr id="20" name="Text 18"/>
          <p:cNvSpPr txBox="1"/>
          <p:nvPr/>
        </p:nvSpPr>
        <p:spPr>
          <a:xfrm>
            <a:off x="6400800" y="3931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7040880" y="3904488"/>
            <a:ext cx="4434840" cy="566928"/>
          </a:xfrm>
          <a:prstGeom prst="rect">
            <a:avLst/>
          </a:prstGeom>
          <a:noFill/>
          <a:ln/>
        </p:spPr>
        <p:txBody>
          <a:bodyPr wrap="square" lIns="635" tIns="635" rIns="635" bIns="635" rtlCol="0" anchor="ctr"/>
          <a:lstStyle/>
          <a:p>
            <a:pPr indent="0" marL="0">
              <a:buNone/>
            </a:pPr>
            <a:r>
              <a:rPr lang="en-US" sz="1700" b="1" dirty="0">
                <a:solidFill>
                  <a:schemeClr val="tx2"/>
                </a:solidFill>
              </a:rPr>
              <a:t>Leakage audit</a:t>
            </a:r>
            <a:endParaRPr lang="en-US" sz="1700" dirty="0"/>
          </a:p>
        </p:txBody>
      </p:sp>
      <p:sp>
        <p:nvSpPr>
          <p:cNvPr id="22" name="Text 20"/>
          <p:cNvSpPr txBox="1"/>
          <p:nvPr/>
        </p:nvSpPr>
        <p:spPr>
          <a:xfrm>
            <a:off x="6446520" y="4572000"/>
            <a:ext cx="4937760" cy="1188720"/>
          </a:xfrm>
          <a:prstGeom prst="rect">
            <a:avLst/>
          </a:prstGeom>
          <a:noFill/>
          <a:ln/>
        </p:spPr>
        <p:txBody>
          <a:bodyPr wrap="square" lIns="635" tIns="635" rIns="635" bIns="635" rtlCol="0" anchor="t"/>
          <a:lstStyle/>
          <a:p>
            <a:pPr indent="0" marL="0">
              <a:buNone/>
            </a:pPr>
            <a:r>
              <a:rPr lang="en-US" sz="1600" dirty="0">
                <a:solidFill>
                  <a:schemeClr val="tx1"/>
                </a:solidFill>
              </a:rPr>
              <a:t>Can one feature alone separate attack from normal? If so, it is reported, not hidden</a:t>
            </a:r>
            <a:endParaRPr lang="en-US" sz="16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2103120" y="2331720"/>
            <a:ext cx="9326880" cy="1097280"/>
          </a:xfrm>
          <a:prstGeom prst="rect">
            <a:avLst/>
          </a:prstGeom>
          <a:noFill/>
          <a:ln/>
        </p:spPr>
        <p:txBody>
          <a:bodyPr wrap="square" rtlCol="0" anchor="ctr"/>
          <a:lstStyle/>
          <a:p>
            <a:pPr algn="l" indent="0" marL="0">
              <a:buNone/>
            </a:pPr>
            <a:r>
              <a:rPr lang="en-US" sz="4000" b="1" dirty="0">
                <a:solidFill>
                  <a:schemeClr val="bg1"/>
                </a:solidFill>
                <a:latin typeface="Arial" pitchFamily="34" charset="0"/>
                <a:ea typeface="Arial" pitchFamily="34" charset="-122"/>
                <a:cs typeface="Arial" pitchFamily="34" charset="-120"/>
              </a:rPr>
              <a:t>Results so far</a:t>
            </a:r>
            <a:endParaRPr lang="en-US" sz="4000" dirty="0"/>
          </a:p>
        </p:txBody>
      </p:sp>
      <p:sp>
        <p:nvSpPr>
          <p:cNvPr id="3" name="Text 0"/>
          <p:cNvSpPr/>
          <p:nvPr>
            <p:ph idx="101" type="body" hasCustomPrompt="1"/>
          </p:nvPr>
        </p:nvSpPr>
        <p:spPr>
          <a:xfrm>
            <a:off x="2103120" y="3474720"/>
            <a:ext cx="9326880" cy="1463040"/>
          </a:xfrm>
          <a:prstGeom prst="rect">
            <a:avLst/>
          </a:prstGeom>
          <a:noFill/>
          <a:ln/>
        </p:spPr>
        <p:txBody>
          <a:bodyPr wrap="square" rtlCol="0" anchor="t"/>
          <a:lstStyle/>
          <a:p>
            <a:pPr indent="0" marL="0">
              <a:buNone/>
            </a:pPr>
            <a:r>
              <a:rPr lang="en-US" sz="1800" dirty="0">
                <a:solidFill>
                  <a:schemeClr val="bg2"/>
                </a:solidFill>
              </a:rPr>
              <a:t>Run status, verified attacks, first EDA and how our numbers compare — provisional until all 81 runs are in</a:t>
            </a:r>
            <a:endParaRPr lang="en-US" sz="1800" dirty="0"/>
          </a:p>
        </p:txBody>
      </p:sp>
      <p:sp>
        <p:nvSpPr>
          <p:cNvPr id="4" name="Shape 2"/>
          <p:cNvSpPr/>
          <p:nvPr/>
        </p:nvSpPr>
        <p:spPr>
          <a:xfrm>
            <a:off x="822960" y="2514600"/>
            <a:ext cx="868680" cy="868680"/>
          </a:xfrm>
          <a:prstGeom prst="ellipse">
            <a:avLst/>
          </a:prstGeom>
          <a:solidFill>
            <a:schemeClr val="accent2"/>
          </a:solidFill>
          <a:ln w="12700">
            <a:solidFill>
              <a:schemeClr val="accent2"/>
            </a:solidFill>
            <a:prstDash val="solid"/>
          </a:ln>
        </p:spPr>
      </p:sp>
      <p:sp>
        <p:nvSpPr>
          <p:cNvPr id="5" name="Text 3"/>
          <p:cNvSpPr txBox="1"/>
          <p:nvPr/>
        </p:nvSpPr>
        <p:spPr>
          <a:xfrm>
            <a:off x="822960" y="2514600"/>
            <a:ext cx="868680" cy="868680"/>
          </a:xfrm>
          <a:prstGeom prst="rect">
            <a:avLst/>
          </a:prstGeom>
          <a:noFill/>
          <a:ln/>
        </p:spPr>
        <p:txBody>
          <a:bodyPr wrap="square" lIns="0" tIns="0" rIns="0" bIns="0" rtlCol="0" anchor="ctr"/>
          <a:lstStyle/>
          <a:p>
            <a:pPr algn="ctr" indent="0" marL="0">
              <a:buNone/>
            </a:pPr>
            <a:r>
              <a:rPr lang="en-US" sz="2600" b="1" dirty="0">
                <a:solidFill>
                  <a:schemeClr val="bg1"/>
                </a:solidFill>
              </a:rPr>
              <a:t>5</a:t>
            </a:r>
            <a:endParaRPr lang="en-US" sz="26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Campaign status, October 20, 2026</a:t>
            </a:r>
            <a:endParaRPr lang="en-US" sz="3000" dirty="0"/>
          </a:p>
        </p:txBody>
      </p:sp>
      <p:graphicFrame>
        <p:nvGraphicFramePr>
          <p:cNvPr id="3" name="Chart 0" descr=""/>
          <p:cNvGraphicFramePr/>
          <p:nvPr/>
        </p:nvGraphicFramePr>
        <p:xfrm>
          <a:off x="548640" y="123444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680960" y="1188720"/>
            <a:ext cx="3931920" cy="914400"/>
          </a:xfrm>
          <a:prstGeom prst="rect">
            <a:avLst/>
          </a:prstGeom>
          <a:noFill/>
          <a:ln/>
        </p:spPr>
        <p:txBody>
          <a:bodyPr wrap="square" lIns="635" tIns="635" rIns="635" bIns="635" rtlCol="0" anchor="b"/>
          <a:lstStyle/>
          <a:p>
            <a:pPr indent="0" marL="0">
              <a:buNone/>
            </a:pPr>
            <a:r>
              <a:rPr lang="en-US" sz="4800" b="1" dirty="0">
                <a:solidFill>
                  <a:schemeClr val="accent1"/>
                </a:solidFill>
                <a:latin typeface="Arial" pitchFamily="34" charset="0"/>
                <a:ea typeface="Arial" pitchFamily="34" charset="-122"/>
                <a:cs typeface="Arial" pitchFamily="34" charset="-120"/>
              </a:rPr>
              <a:t>44 / 72</a:t>
            </a:r>
            <a:endParaRPr lang="en-US" sz="4800" dirty="0"/>
          </a:p>
        </p:txBody>
      </p:sp>
      <p:sp>
        <p:nvSpPr>
          <p:cNvPr id="5" name="Text 2"/>
          <p:cNvSpPr txBox="1"/>
          <p:nvPr/>
        </p:nvSpPr>
        <p:spPr>
          <a:xfrm>
            <a:off x="7680960" y="2121408"/>
            <a:ext cx="3931920" cy="685800"/>
          </a:xfrm>
          <a:prstGeom prst="rect">
            <a:avLst/>
          </a:prstGeom>
          <a:noFill/>
          <a:ln/>
        </p:spPr>
        <p:txBody>
          <a:bodyPr wrap="square" lIns="635" tIns="635" rIns="635" bIns="635" rtlCol="0" anchor="t"/>
          <a:lstStyle/>
          <a:p>
            <a:pPr indent="0" marL="0">
              <a:buNone/>
            </a:pPr>
            <a:r>
              <a:rPr lang="en-US" sz="1400" dirty="0">
                <a:solidFill>
                  <a:schemeClr val="tx1"/>
                </a:solidFill>
              </a:rPr>
              <a:t>attack runs processed: 35 blackhole + 9 wormhole</a:t>
            </a:r>
            <a:endParaRPr lang="en-US" sz="1400" dirty="0"/>
          </a:p>
        </p:txBody>
      </p:sp>
      <p:sp>
        <p:nvSpPr>
          <p:cNvPr id="6" name="Text 3"/>
          <p:cNvSpPr txBox="1"/>
          <p:nvPr/>
        </p:nvSpPr>
        <p:spPr>
          <a:xfrm>
            <a:off x="7680960" y="2743200"/>
            <a:ext cx="3931920" cy="914400"/>
          </a:xfrm>
          <a:prstGeom prst="rect">
            <a:avLst/>
          </a:prstGeom>
          <a:noFill/>
          <a:ln/>
        </p:spPr>
        <p:txBody>
          <a:bodyPr wrap="square" lIns="635" tIns="635" rIns="635" bIns="635" rtlCol="0" anchor="b"/>
          <a:lstStyle/>
          <a:p>
            <a:pPr indent="0" marL="0">
              <a:buNone/>
            </a:pPr>
            <a:r>
              <a:rPr lang="en-US" sz="4800" b="1" dirty="0">
                <a:solidFill>
                  <a:schemeClr val="accent3"/>
                </a:solidFill>
                <a:latin typeface="Arial" pitchFamily="34" charset="0"/>
                <a:ea typeface="Arial" pitchFamily="34" charset="-122"/>
                <a:cs typeface="Arial" pitchFamily="34" charset="-120"/>
              </a:rPr>
              <a:t>0 / 9</a:t>
            </a:r>
            <a:endParaRPr lang="en-US" sz="4800" dirty="0"/>
          </a:p>
        </p:txBody>
      </p:sp>
      <p:sp>
        <p:nvSpPr>
          <p:cNvPr id="7" name="Text 4"/>
          <p:cNvSpPr txBox="1"/>
          <p:nvPr/>
        </p:nvSpPr>
        <p:spPr>
          <a:xfrm>
            <a:off x="7680960" y="3675888"/>
            <a:ext cx="3931920" cy="685800"/>
          </a:xfrm>
          <a:prstGeom prst="rect">
            <a:avLst/>
          </a:prstGeom>
          <a:noFill/>
          <a:ln/>
        </p:spPr>
        <p:txBody>
          <a:bodyPr wrap="square" lIns="635" tIns="635" rIns="635" bIns="635" rtlCol="0" anchor="t"/>
          <a:lstStyle/>
          <a:p>
            <a:pPr indent="0" marL="0">
              <a:buNone/>
            </a:pPr>
            <a:r>
              <a:rPr lang="en-US" sz="1400" dirty="0">
                <a:solidFill>
                  <a:schemeClr val="tx1"/>
                </a:solidFill>
              </a:rPr>
              <a:t>matched benign runs captured</a:t>
            </a:r>
            <a:endParaRPr lang="en-US" sz="1400" dirty="0"/>
          </a:p>
        </p:txBody>
      </p:sp>
      <p:sp>
        <p:nvSpPr>
          <p:cNvPr id="8" name="Text 5"/>
          <p:cNvSpPr txBox="1"/>
          <p:nvPr/>
        </p:nvSpPr>
        <p:spPr>
          <a:xfrm>
            <a:off x="7680960" y="4434840"/>
            <a:ext cx="3931920" cy="1645920"/>
          </a:xfrm>
          <a:prstGeom prst="rect">
            <a:avLst/>
          </a:prstGeom>
          <a:noFill/>
          <a:ln/>
        </p:spPr>
        <p:txBody>
          <a:bodyPr wrap="square" lIns="635" tIns="635" rIns="635" bIns="635" rtlCol="0" anchor="t"/>
          <a:lstStyle/>
          <a:p>
            <a:pPr indent="0" marL="0">
              <a:buNone/>
            </a:pPr>
            <a:r>
              <a:rPr lang="en-US" sz="1400" dirty="0">
                <a:solidFill>
                  <a:schemeClr val="tx1"/>
                </a:solidFill>
              </a:rPr>
              <a:t>5 captures held out: tree/G402/highload (one board has no data), wormhole tree/DLSU (4 boards &lt; 95%), and 3 wormhole runs not yet analysed. 37 runs remain.</a:t>
            </a:r>
            <a:endParaRPr lang="en-US" sz="14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44 of 46 analysed runs pass the verifier</a:t>
            </a:r>
            <a:endParaRPr lang="en-US" sz="3000" dirty="0"/>
          </a:p>
        </p:txBody>
      </p:sp>
      <p:sp>
        <p:nvSpPr>
          <p:cNvPr id="3" name="Text 1"/>
          <p:cNvSpPr txBox="1"/>
          <p:nvPr/>
        </p:nvSpPr>
        <p:spPr>
          <a:xfrm>
            <a:off x="548640" y="1280160"/>
            <a:ext cx="3474720" cy="914400"/>
          </a:xfrm>
          <a:prstGeom prst="rect">
            <a:avLst/>
          </a:prstGeom>
          <a:noFill/>
          <a:ln/>
        </p:spPr>
        <p:txBody>
          <a:bodyPr wrap="square" lIns="635" tIns="635" rIns="635" bIns="635" rtlCol="0" anchor="b"/>
          <a:lstStyle/>
          <a:p>
            <a:pPr indent="0" marL="0">
              <a:buNone/>
            </a:pPr>
            <a:r>
              <a:rPr lang="en-US" sz="4800" b="1" dirty="0">
                <a:solidFill>
                  <a:schemeClr val="accent3"/>
                </a:solidFill>
                <a:latin typeface="Arial" pitchFamily="34" charset="0"/>
                <a:ea typeface="Arial" pitchFamily="34" charset="-122"/>
                <a:cs typeface="Arial" pitchFamily="34" charset="-120"/>
              </a:rPr>
              <a:t>35 / 35</a:t>
            </a:r>
            <a:endParaRPr lang="en-US" sz="4800" dirty="0"/>
          </a:p>
        </p:txBody>
      </p:sp>
      <p:sp>
        <p:nvSpPr>
          <p:cNvPr id="4" name="Text 2"/>
          <p:cNvSpPr txBox="1"/>
          <p:nvPr/>
        </p:nvSpPr>
        <p:spPr>
          <a:xfrm>
            <a:off x="548640" y="2212848"/>
            <a:ext cx="3474720" cy="685800"/>
          </a:xfrm>
          <a:prstGeom prst="rect">
            <a:avLst/>
          </a:prstGeom>
          <a:noFill/>
          <a:ln/>
        </p:spPr>
        <p:txBody>
          <a:bodyPr wrap="square" lIns="635" tIns="635" rIns="635" bIns="635" rtlCol="0" anchor="t"/>
          <a:lstStyle/>
          <a:p>
            <a:pPr indent="0" marL="0">
              <a:buNone/>
            </a:pPr>
            <a:r>
              <a:rPr lang="en-US" sz="1400" dirty="0">
                <a:solidFill>
                  <a:schemeClr val="tx1"/>
                </a:solidFill>
              </a:rPr>
              <a:t>blackhole runs PASS: signature, setup and data complete</a:t>
            </a:r>
            <a:endParaRPr lang="en-US" sz="1400" dirty="0"/>
          </a:p>
        </p:txBody>
      </p:sp>
      <p:sp>
        <p:nvSpPr>
          <p:cNvPr id="5" name="Text 3"/>
          <p:cNvSpPr txBox="1"/>
          <p:nvPr/>
        </p:nvSpPr>
        <p:spPr>
          <a:xfrm>
            <a:off x="4343400" y="1280160"/>
            <a:ext cx="3474720" cy="914400"/>
          </a:xfrm>
          <a:prstGeom prst="rect">
            <a:avLst/>
          </a:prstGeom>
          <a:noFill/>
          <a:ln/>
        </p:spPr>
        <p:txBody>
          <a:bodyPr wrap="square" lIns="635" tIns="635" rIns="635" bIns="635" rtlCol="0" anchor="b"/>
          <a:lstStyle/>
          <a:p>
            <a:pPr indent="0" marL="0">
              <a:buNone/>
            </a:pPr>
            <a:r>
              <a:rPr lang="en-US" sz="4800" b="1" dirty="0">
                <a:solidFill>
                  <a:schemeClr val="accent2"/>
                </a:solidFill>
                <a:latin typeface="Arial" pitchFamily="34" charset="0"/>
                <a:ea typeface="Arial" pitchFamily="34" charset="-122"/>
                <a:cs typeface="Arial" pitchFamily="34" charset="-120"/>
              </a:rPr>
              <a:t>9 / 9</a:t>
            </a:r>
            <a:endParaRPr lang="en-US" sz="4800" dirty="0"/>
          </a:p>
        </p:txBody>
      </p:sp>
      <p:sp>
        <p:nvSpPr>
          <p:cNvPr id="6" name="Text 4"/>
          <p:cNvSpPr txBox="1"/>
          <p:nvPr/>
        </p:nvSpPr>
        <p:spPr>
          <a:xfrm>
            <a:off x="4343400" y="2212848"/>
            <a:ext cx="3474720" cy="685800"/>
          </a:xfrm>
          <a:prstGeom prst="rect">
            <a:avLst/>
          </a:prstGeom>
          <a:noFill/>
          <a:ln/>
        </p:spPr>
        <p:txBody>
          <a:bodyPr wrap="square" lIns="635" tIns="635" rIns="635" bIns="635" rtlCol="0" anchor="t"/>
          <a:lstStyle/>
          <a:p>
            <a:pPr indent="0" marL="0">
              <a:buNone/>
            </a:pPr>
            <a:r>
              <a:rPr lang="en-US" sz="1400" dirty="0">
                <a:solidFill>
                  <a:schemeClr val="tx1"/>
                </a:solidFill>
              </a:rPr>
              <a:t>wormhole runs PASS on the linear chain</a:t>
            </a:r>
            <a:endParaRPr lang="en-US" sz="1400" dirty="0"/>
          </a:p>
        </p:txBody>
      </p:sp>
      <p:sp>
        <p:nvSpPr>
          <p:cNvPr id="7" name="Text 5"/>
          <p:cNvSpPr txBox="1"/>
          <p:nvPr/>
        </p:nvSpPr>
        <p:spPr>
          <a:xfrm>
            <a:off x="8138160" y="1280160"/>
            <a:ext cx="3474720" cy="914400"/>
          </a:xfrm>
          <a:prstGeom prst="rect">
            <a:avLst/>
          </a:prstGeom>
          <a:noFill/>
          <a:ln/>
        </p:spPr>
        <p:txBody>
          <a:bodyPr wrap="square" lIns="635" tIns="635" rIns="635" bIns="635" rtlCol="0" anchor="b"/>
          <a:lstStyle/>
          <a:p>
            <a:pPr indent="0" marL="0">
              <a:buNone/>
            </a:pPr>
            <a:r>
              <a:rPr lang="en-US" sz="4800" b="1" dirty="0">
                <a:solidFill>
                  <a:schemeClr val="accent1"/>
                </a:solidFill>
                <a:latin typeface="Arial" pitchFamily="34" charset="0"/>
                <a:ea typeface="Arial" pitchFamily="34" charset="-122"/>
                <a:cs typeface="Arial" pitchFamily="34" charset="-120"/>
              </a:rPr>
              <a:t>0</a:t>
            </a:r>
            <a:endParaRPr lang="en-US" sz="4800" dirty="0"/>
          </a:p>
        </p:txBody>
      </p:sp>
      <p:sp>
        <p:nvSpPr>
          <p:cNvPr id="8" name="Text 6"/>
          <p:cNvSpPr txBox="1"/>
          <p:nvPr/>
        </p:nvSpPr>
        <p:spPr>
          <a:xfrm>
            <a:off x="8138160" y="2212848"/>
            <a:ext cx="3474720" cy="685800"/>
          </a:xfrm>
          <a:prstGeom prst="rect">
            <a:avLst/>
          </a:prstGeom>
          <a:noFill/>
          <a:ln/>
        </p:spPr>
        <p:txBody>
          <a:bodyPr wrap="square" lIns="635" tIns="635" rIns="635" bIns="635" rtlCol="0" anchor="t"/>
          <a:lstStyle/>
          <a:p>
            <a:pPr indent="0" marL="0">
              <a:buNone/>
            </a:pPr>
            <a:r>
              <a:rPr lang="en-US" sz="1400" dirty="0">
                <a:solidFill>
                  <a:schemeClr val="tx1"/>
                </a:solidFill>
              </a:rPr>
              <a:t>parent switches or hop changes inside any wormhole attack window</a:t>
            </a:r>
            <a:endParaRPr lang="en-US" sz="1400" dirty="0"/>
          </a:p>
        </p:txBody>
      </p:sp>
      <p:sp>
        <p:nvSpPr>
          <p:cNvPr id="9" name="Shape 7"/>
          <p:cNvSpPr/>
          <p:nvPr/>
        </p:nvSpPr>
        <p:spPr>
          <a:xfrm>
            <a:off x="548640" y="3246120"/>
            <a:ext cx="11064240" cy="2834640"/>
          </a:xfrm>
          <a:prstGeom prst="roundRect">
            <a:avLst>
              <a:gd name="adj" fmla="val 2581"/>
            </a:avLst>
          </a:prstGeom>
          <a:solidFill>
            <a:schemeClr val="bg2"/>
          </a:solidFill>
          <a:ln w="9525">
            <a:solidFill>
              <a:schemeClr val="bg2"/>
            </a:solidFill>
            <a:prstDash val="solid"/>
          </a:ln>
        </p:spPr>
        <p:txBody>
          <a:bodyPr/>
          <a:p/>
        </p:txBody>
      </p:sp>
      <p:sp>
        <p:nvSpPr>
          <p:cNvPr id="10" name="Text 8"/>
          <p:cNvSpPr txBox="1"/>
          <p:nvPr/>
        </p:nvSpPr>
        <p:spPr>
          <a:xfrm>
            <a:off x="777240" y="3429000"/>
            <a:ext cx="10607040" cy="256032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chemeClr val="tx1"/>
                </a:solidFill>
              </a:rPr>
              <a:t>Blackhole: the attacker forwards at most 4 probes (≤ 0.1%) in any run; victims lose delivery while bystanders keep it</a:t>
            </a:r>
            <a:endParaRPr lang="en-US" sz="1600" dirty="0"/>
          </a:p>
          <a:p>
            <a:pPr marL="342900" indent="-342900">
              <a:spcAft>
                <a:spcPts val="600"/>
              </a:spcAft>
              <a:buSzPct val="100000"/>
              <a:buChar char="•"/>
            </a:pPr>
            <a:r>
              <a:rPr lang="en-US" sz="1600" dirty="0">
                <a:solidFill>
                  <a:schemeClr val="tx1"/>
                </a:solidFill>
              </a:rPr>
              <a:t>Wormhole: the wire delivered 99–101% of Node B's frames; the root logged B's probes twice in 179–180 attack windows per run, never outside the attack</a:t>
            </a:r>
            <a:endParaRPr lang="en-US" sz="1600" dirty="0"/>
          </a:p>
          <a:p>
            <a:pPr marL="342900" indent="-342900">
              <a:spcAft>
                <a:spcPts val="600"/>
              </a:spcAft>
              <a:buSzPct val="100000"/>
              <a:buChar char="•"/>
            </a:pPr>
            <a:r>
              <a:rPr lang="en-US" sz="1600" dirty="0">
                <a:solidFill>
                  <a:schemeClr val="tx1"/>
                </a:solidFill>
              </a:rPr>
              <a:t>Partial mesh: in all nine runs each node stayed under one parent during the attack, so these runs behave as trees</a:t>
            </a:r>
            <a:endParaRPr lang="en-US" sz="1600" dirty="0"/>
          </a:p>
          <a:p>
            <a:pPr marL="342900" indent="-342900">
              <a:spcAft>
                <a:spcPts val="600"/>
              </a:spcAft>
              <a:buSzPct val="100000"/>
              <a:buChar char="•"/>
            </a:pPr>
            <a:r>
              <a:rPr lang="en-US" sz="1600" dirty="0">
                <a:solidFill>
                  <a:schemeClr val="tx1"/>
                </a:solidFill>
              </a:rPr>
              <a:t>Two runs rated INCONCLUSIVE and held out; nothing in the processed set relies on them</a:t>
            </a:r>
            <a:endParaRPr lang="en-US" sz="16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Blackhole example: G402, linear, stationary</a:t>
            </a:r>
            <a:endParaRPr lang="en-US" sz="3000" dirty="0"/>
          </a:p>
        </p:txBody>
      </p:sp>
      <p:graphicFrame>
        <p:nvGraphicFramePr>
          <p:cNvPr id="3" name="Chart 0" descr=""/>
          <p:cNvGraphicFramePr/>
          <p:nvPr/>
        </p:nvGraphicFramePr>
        <p:xfrm>
          <a:off x="548640" y="1234440"/>
          <a:ext cx="658368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498080" y="1280160"/>
            <a:ext cx="4114800" cy="457200"/>
          </a:xfrm>
          <a:prstGeom prst="rect">
            <a:avLst/>
          </a:prstGeom>
          <a:noFill/>
          <a:ln/>
        </p:spPr>
        <p:txBody>
          <a:bodyPr wrap="square" lIns="635" tIns="635" rIns="635" bIns="635" rtlCol="0" anchor="t"/>
          <a:lstStyle/>
          <a:p>
            <a:pPr indent="0" marL="0">
              <a:buNone/>
            </a:pPr>
            <a:r>
              <a:rPr lang="en-US" sz="1700" b="1" dirty="0">
                <a:solidFill>
                  <a:schemeClr val="tx2"/>
                </a:solidFill>
              </a:rPr>
              <a:t>Root → attacker → six victims in a chain</a:t>
            </a:r>
            <a:endParaRPr lang="en-US" sz="1700" dirty="0"/>
          </a:p>
        </p:txBody>
      </p:sp>
      <p:sp>
        <p:nvSpPr>
          <p:cNvPr id="5" name="Text 2"/>
          <p:cNvSpPr txBox="1"/>
          <p:nvPr/>
        </p:nvSpPr>
        <p:spPr>
          <a:xfrm>
            <a:off x="7498080" y="1783080"/>
            <a:ext cx="4114800" cy="429768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The attacker received 1,077 probes in the attack and forwarded 1</a:t>
            </a:r>
            <a:endParaRPr lang="en-US" sz="1500" dirty="0"/>
          </a:p>
          <a:p>
            <a:pPr marL="342900" indent="-342900">
              <a:spcAft>
                <a:spcPts val="600"/>
              </a:spcAft>
              <a:buSzPct val="100000"/>
              <a:buChar char="•"/>
            </a:pPr>
            <a:r>
              <a:rPr lang="en-US" sz="1500" dirty="0">
                <a:solidFill>
                  <a:schemeClr val="tx1"/>
                </a:solidFill>
              </a:rPr>
              <a:t>All six victims fell from PDR 1.000 to 0.000, then recovered in cooldown</a:t>
            </a:r>
            <a:endParaRPr lang="en-US" sz="1500" dirty="0"/>
          </a:p>
          <a:p>
            <a:pPr marL="342900" indent="-342900">
              <a:spcAft>
                <a:spcPts val="600"/>
              </a:spcAft>
              <a:buSzPct val="100000"/>
              <a:buChar char="•"/>
            </a:pPr>
            <a:r>
              <a:rPr lang="en-US" sz="1500" dirty="0">
                <a:solidFill>
                  <a:schemeClr val="tx1"/>
                </a:solidFill>
              </a:rPr>
              <a:t>Baseline never varied (sd = 0), so the move is beyond any sigma</a:t>
            </a:r>
            <a:endParaRPr lang="en-US" sz="1500" dirty="0"/>
          </a:p>
          <a:p>
            <a:pPr marL="342900" indent="-342900">
              <a:spcAft>
                <a:spcPts val="600"/>
              </a:spcAft>
              <a:buSzPct val="100000"/>
              <a:buChar char="•"/>
            </a:pPr>
            <a:r>
              <a:rPr lang="en-US" sz="1500" dirty="0">
                <a:solidFill>
                  <a:schemeClr val="tx1"/>
                </a:solidFill>
              </a:rPr>
              <a:t>Neighbours confirm it: the attacker's children handed it probes its parent never received</a:t>
            </a:r>
            <a:endParaRPr lang="en-US" sz="15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Wormhole example: the second copy</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766560" cy="914400"/>
        </p:xfrm>
        <a:graphic>
          <a:graphicData uri="http://schemas.openxmlformats.org/drawingml/2006/table">
            <a:tbl>
              <a:tblPr/>
              <a:tblGrid>
                <a:gridCol w="1737360"/>
                <a:gridCol w="1371600"/>
                <a:gridCol w="1554480"/>
                <a:gridCol w="21031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Site</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B2E3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Scenario</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B2E3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 → A frames</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B2E3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Attack windows with duplicates</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B2E3C"/>
                    </a:solidFill>
                  </a:tcPr>
                </a:tc>
              </a:tr>
              <a:tr h="384048">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DLSU Library</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stationary</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180 / 180</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180</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DLSU Library</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burst</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179 / 179</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179</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r>
              <a:tr h="384048">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DLSU Library</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highload</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720 / 720</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180</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G402</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stationary</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179 / 180</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179</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r>
              <a:tr h="384048">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G402</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burst</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180 / 180</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180</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G402</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highload</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716 / 720</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179</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r>
              <a:tr h="384048">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Yuchengco</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stationary</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179 / 179</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179</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Yuchengco</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burst</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180 / 180</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180</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r>
              <a:tr h="384048">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Yuchengco</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highload</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720 / 716</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329"/>
                          </a:solidFill>
                          <a:latin typeface="Calibri" pitchFamily="34" charset="0"/>
                          <a:ea typeface="Calibri" pitchFamily="34" charset="-122"/>
                          <a:cs typeface="Calibri" pitchFamily="34" charset="-120"/>
                        </a:rPr>
                        <a:t>180</a:t>
                      </a:r>
                      <a:endParaRPr lang="en-US" sz="1300" dirty="0">
                        <a:latin typeface="Calibri" charset="0"/>
                        <a:ea typeface="Calibri" charset="0"/>
                        <a:cs typeface="Calibri" charset="0"/>
                      </a:endParaRPr>
                    </a:p>
                  </a:txBody>
                  <a:tcPr marL="91440" marR="91440" marT="45720" marB="45720">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7680960" y="1280160"/>
            <a:ext cx="3931920" cy="457200"/>
          </a:xfrm>
          <a:prstGeom prst="rect">
            <a:avLst/>
          </a:prstGeom>
          <a:noFill/>
          <a:ln/>
        </p:spPr>
        <p:txBody>
          <a:bodyPr wrap="square" lIns="635" tIns="635" rIns="635" bIns="635" rtlCol="0" anchor="t"/>
          <a:lstStyle/>
          <a:p>
            <a:pPr indent="0" marL="0">
              <a:buNone/>
            </a:pPr>
            <a:r>
              <a:rPr lang="en-US" sz="1700" b="1" dirty="0">
                <a:solidFill>
                  <a:schemeClr val="tx2"/>
                </a:solidFill>
              </a:rPr>
              <a:t>Linear chain, all nine runs</a:t>
            </a:r>
            <a:endParaRPr lang="en-US" sz="1700" dirty="0"/>
          </a:p>
        </p:txBody>
      </p:sp>
      <p:sp>
        <p:nvSpPr>
          <p:cNvPr id="5" name="Text 2"/>
          <p:cNvSpPr txBox="1"/>
          <p:nvPr/>
        </p:nvSpPr>
        <p:spPr>
          <a:xfrm>
            <a:off x="7680960" y="1783080"/>
            <a:ext cx="3931920" cy="429768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DLSU stationary: the root saw both copies in 180 attack windows, about 3.6 ms apart</a:t>
            </a:r>
            <a:endParaRPr lang="en-US" sz="1500" dirty="0"/>
          </a:p>
          <a:p>
            <a:pPr marL="342900" indent="-342900">
              <a:spcAft>
                <a:spcPts val="600"/>
              </a:spcAft>
              <a:buSzPct val="100000"/>
              <a:buChar char="•"/>
            </a:pPr>
            <a:r>
              <a:rPr lang="en-US" sz="1500" dirty="0">
                <a:solidFill>
                  <a:schemeClr val="tx1"/>
                </a:solidFill>
              </a:rPr>
              <a:t>Node B: no duplicates in baseline or cooldown</a:t>
            </a:r>
            <a:endParaRPr lang="en-US" sz="1500" dirty="0"/>
          </a:p>
          <a:p>
            <a:pPr marL="342900" indent="-342900">
              <a:spcAft>
                <a:spcPts val="600"/>
              </a:spcAft>
              <a:buSzPct val="100000"/>
              <a:buChar char="•"/>
            </a:pPr>
            <a:r>
              <a:rPr lang="en-US" sz="1500" dirty="0">
                <a:solidFill>
                  <a:schemeClr val="tx1"/>
                </a:solidFill>
              </a:rPr>
              <a:t>TunnelIntensity (0 → 1, or 4 in highload) and DuplicateRate (0 → 1) both rise from zero</a:t>
            </a:r>
            <a:endParaRPr lang="en-US" sz="1500" dirty="0"/>
          </a:p>
          <a:p>
            <a:pPr marL="342900" indent="-342900">
              <a:spcAft>
                <a:spcPts val="600"/>
              </a:spcAft>
              <a:buSzPct val="100000"/>
              <a:buChar char="•"/>
            </a:pPr>
            <a:r>
              <a:rPr lang="en-US" sz="1500" dirty="0">
                <a:solidFill>
                  <a:schemeClr val="tx1"/>
                </a:solidFill>
              </a:rPr>
              <a:t>TunnelLatency is reported, not tested: it has no baseline to test against</a:t>
            </a:r>
            <a:endParaRPr lang="en-US" sz="15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First EDA view: attack windows sit apart</a:t>
            </a:r>
            <a:endParaRPr lang="en-US" sz="3000" dirty="0"/>
          </a:p>
        </p:txBody>
      </p:sp>
      <p:pic>
        <p:nvPicPr>
          <p:cNvPr id="3" name="Image 0" descr="C:\Users\Basti\AppData\Local\Temp\claude\s--My-Work-Business-Claude-AI-OS\0ab24a58-0f30-461e-a540-2897b1eafd74\scratchpad\deck\img\bh_pca.png">    </p:cNvPr>
          <p:cNvPicPr>
            <a:picLocks noChangeAspect="1"/>
          </p:cNvPicPr>
          <p:nvPr/>
        </p:nvPicPr>
        <p:blipFill>
          <a:blip r:embed="rId1"/>
          <a:stretch>
            <a:fillRect/>
          </a:stretch>
        </p:blipFill>
        <p:spPr>
          <a:xfrm>
            <a:off x="1493520" y="1234440"/>
            <a:ext cx="9174480" cy="3931920"/>
          </a:xfrm>
          <a:prstGeom prst="rect">
            <a:avLst/>
          </a:prstGeom>
        </p:spPr>
      </p:pic>
      <p:sp>
        <p:nvSpPr>
          <p:cNvPr id="4" name="Text 1"/>
          <p:cNvSpPr txBox="1"/>
          <p:nvPr/>
        </p:nvSpPr>
        <p:spPr>
          <a:xfrm>
            <a:off x="548640" y="5212080"/>
            <a:ext cx="11064240" cy="502920"/>
          </a:xfrm>
          <a:prstGeom prst="rect">
            <a:avLst/>
          </a:prstGeom>
          <a:noFill/>
          <a:ln/>
        </p:spPr>
        <p:txBody>
          <a:bodyPr wrap="square" lIns="635" tIns="635" rIns="635" bIns="635" rtlCol="0" anchor="t"/>
          <a:lstStyle/>
          <a:p>
            <a:pPr indent="0" marL="0">
              <a:buNone/>
            </a:pPr>
            <a:r>
              <a:rPr lang="en-US" sz="1300" dirty="0">
                <a:solidFill>
                  <a:schemeClr val="accent5"/>
                </a:solidFill>
              </a:rPr>
              <a:t>PCA (left) and t-SNE (right) of the G402 linear stationary blackhole run, z-scored features. Red = attack windows, blue = baseline, orange = cooldown.</a:t>
            </a:r>
            <a:endParaRPr lang="en-US" sz="1300" dirty="0"/>
          </a:p>
        </p:txBody>
      </p:sp>
      <p:sp>
        <p:nvSpPr>
          <p:cNvPr id="5" name="Text 2"/>
          <p:cNvSpPr txBox="1"/>
          <p:nvPr/>
        </p:nvSpPr>
        <p:spPr>
          <a:xfrm>
            <a:off x="548640" y="5715000"/>
            <a:ext cx="11064240" cy="457200"/>
          </a:xfrm>
          <a:prstGeom prst="rect">
            <a:avLst/>
          </a:prstGeom>
          <a:noFill/>
          <a:ln/>
        </p:spPr>
        <p:txBody>
          <a:bodyPr wrap="square" lIns="635" tIns="635" rIns="635" bIns="635" rtlCol="0" anchor="t"/>
          <a:lstStyle/>
          <a:p>
            <a:pPr indent="0" marL="0">
              <a:buNone/>
            </a:pPr>
            <a:r>
              <a:rPr lang="en-US" sz="1500" b="1" dirty="0">
                <a:solidFill>
                  <a:schemeClr val="tx2"/>
                </a:solidFill>
              </a:rPr>
              <a:t>This describes a picture of one run. It is not a detection result; the pooled clustering will test it.</a:t>
            </a:r>
            <a:endParaRPr lang="en-US" sz="15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Can one feature decide it? The leakage audit</a:t>
            </a:r>
            <a:endParaRPr lang="en-US" sz="3000" dirty="0"/>
          </a:p>
        </p:txBody>
      </p:sp>
      <p:graphicFrame>
        <p:nvGraphicFramePr>
          <p:cNvPr id="3" name="Chart 0" descr=""/>
          <p:cNvGraphicFramePr/>
          <p:nvPr/>
        </p:nvGraphicFramePr>
        <p:xfrm>
          <a:off x="548640" y="123444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680960" y="1280160"/>
            <a:ext cx="3931920" cy="457200"/>
          </a:xfrm>
          <a:prstGeom prst="rect">
            <a:avLst/>
          </a:prstGeom>
          <a:noFill/>
          <a:ln/>
        </p:spPr>
        <p:txBody>
          <a:bodyPr wrap="square" lIns="635" tIns="635" rIns="635" bIns="635" rtlCol="0" anchor="t"/>
          <a:lstStyle/>
          <a:p>
            <a:pPr indent="0" marL="0">
              <a:buNone/>
            </a:pPr>
            <a:r>
              <a:rPr lang="en-US" sz="1700" b="1" dirty="0">
                <a:solidFill>
                  <a:schemeClr val="tx2"/>
                </a:solidFill>
              </a:rPr>
              <a:t>Majority-class rate ≈ 0.70</a:t>
            </a:r>
            <a:endParaRPr lang="en-US" sz="1700" dirty="0"/>
          </a:p>
        </p:txBody>
      </p:sp>
      <p:sp>
        <p:nvSpPr>
          <p:cNvPr id="5" name="Text 2"/>
          <p:cNvSpPr txBox="1"/>
          <p:nvPr/>
        </p:nvSpPr>
        <p:spPr>
          <a:xfrm>
            <a:off x="7680960" y="1783080"/>
            <a:ext cx="3931920" cy="429768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PDR and LatencyHopRatio reach ≥ 0.95 in 12 runs each (9 star + 3 linear)</a:t>
            </a:r>
            <a:endParaRPr lang="en-US" sz="1500" dirty="0"/>
          </a:p>
          <a:p>
            <a:pPr marL="342900" indent="-342900">
              <a:spcAft>
                <a:spcPts val="600"/>
              </a:spcAft>
              <a:buSzPct val="100000"/>
              <a:buChar char="•"/>
            </a:pPr>
            <a:r>
              <a:rPr lang="en-US" sz="1500" dirty="0">
                <a:solidFill>
                  <a:schemeClr val="tx1"/>
                </a:solidFill>
              </a:rPr>
              <a:t>Expected: a blackhole drops everything, so the collapse is separable by construction</a:t>
            </a:r>
            <a:endParaRPr lang="en-US" sz="1500" dirty="0"/>
          </a:p>
          <a:p>
            <a:pPr marL="342900" indent="-342900">
              <a:spcAft>
                <a:spcPts val="600"/>
              </a:spcAft>
              <a:buSzPct val="100000"/>
              <a:buChar char="•"/>
            </a:pPr>
            <a:r>
              <a:rPr lang="en-US" sz="1500" dirty="0">
                <a:solidFill>
                  <a:schemeClr val="tx1"/>
                </a:solidFill>
              </a:rPr>
              <a:t>RSSI and hop features stay at the majority rate</a:t>
            </a:r>
            <a:endParaRPr lang="en-US" sz="1500" dirty="0"/>
          </a:p>
          <a:p>
            <a:pPr marL="342900" indent="-342900">
              <a:spcAft>
                <a:spcPts val="600"/>
              </a:spcAft>
              <a:buSzPct val="100000"/>
              <a:buChar char="•"/>
            </a:pPr>
            <a:r>
              <a:rPr lang="en-US" sz="1500" dirty="0">
                <a:solidFill>
                  <a:schemeClr val="tx1"/>
                </a:solidFill>
              </a:rPr>
              <a:t>Pooled audit over all runs follows once collection ends</a:t>
            </a:r>
            <a:endParaRPr lang="en-US" sz="15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How our numbers compare with published work</a:t>
            </a:r>
            <a:endParaRPr lang="en-US" sz="3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743200"/>
                <a:gridCol w="2377440"/>
                <a:gridCol w="3108960"/>
                <a:gridCol w="283464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Measure</a:t>
                      </a:r>
                      <a:endParaRPr lang="en-US" sz="1400" dirty="0">
                        <a:latin typeface="Calibri" charset="0"/>
                        <a:ea typeface="Calibri" charset="0"/>
                        <a:cs typeface="Calibri" charset="0"/>
                      </a:endParaRPr>
                    </a:p>
                  </a:txBody>
                  <a:tcPr marL="91440" marR="91440" marT="45720" marB="4572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B2E3C"/>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Published</a:t>
                      </a:r>
                      <a:endParaRPr lang="en-US" sz="1400" dirty="0">
                        <a:latin typeface="Calibri" charset="0"/>
                        <a:ea typeface="Calibri" charset="0"/>
                        <a:cs typeface="Calibri" charset="0"/>
                      </a:endParaRPr>
                    </a:p>
                  </a:txBody>
                  <a:tcPr marL="91440" marR="91440" marT="45720" marB="4572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B2E3C"/>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Our dataset</a:t>
                      </a:r>
                      <a:endParaRPr lang="en-US" sz="1400" dirty="0">
                        <a:latin typeface="Calibri" charset="0"/>
                        <a:ea typeface="Calibri" charset="0"/>
                        <a:cs typeface="Calibri" charset="0"/>
                      </a:endParaRPr>
                    </a:p>
                  </a:txBody>
                  <a:tcPr marL="91440" marR="91440" marT="45720" marB="4572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B2E3C"/>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Reading</a:t>
                      </a:r>
                      <a:endParaRPr lang="en-US" sz="1400" dirty="0">
                        <a:latin typeface="Calibri" charset="0"/>
                        <a:ea typeface="Calibri" charset="0"/>
                        <a:cs typeface="Calibri" charset="0"/>
                      </a:endParaRPr>
                    </a:p>
                  </a:txBody>
                  <a:tcPr marL="91440" marR="91440" marT="45720" marB="4572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B2E3C"/>
                    </a:solidFill>
                  </a:tcPr>
                </a:tc>
              </a:tr>
              <a:tr h="868680">
                <a:tc>
                  <a:txBody>
                    <a:bodyPr/>
                    <a:lstStyle/>
                    <a:p>
                      <a:pPr indent="0" marL="0">
                        <a:buNone/>
                      </a:pPr>
                      <a:r>
                        <a:rPr lang="en-US" sz="1400" dirty="0">
                          <a:solidFill>
                            <a:srgbClr val="1B2329"/>
                          </a:solidFill>
                          <a:latin typeface="Calibri" pitchFamily="34" charset="0"/>
                          <a:ea typeface="Calibri" pitchFamily="34" charset="-122"/>
                          <a:cs typeface="Calibri" pitchFamily="34" charset="-120"/>
                        </a:rPr>
                        <a:t>Loss under an unmitigated blackhole</a:t>
                      </a:r>
                      <a:endParaRPr lang="en-US" sz="1400" dirty="0">
                        <a:latin typeface="Calibri" charset="0"/>
                        <a:ea typeface="Calibri" charset="0"/>
                        <a:cs typeface="Calibri" charset="0"/>
                      </a:endParaRPr>
                    </a:p>
                  </a:txBody>
                  <a:tcPr marL="91440" marR="91440" marT="45720" marB="4572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400" dirty="0">
                          <a:solidFill>
                            <a:srgbClr val="1B2329"/>
                          </a:solidFill>
                          <a:latin typeface="Calibri" pitchFamily="34" charset="0"/>
                          <a:ea typeface="Calibri" pitchFamily="34" charset="-122"/>
                          <a:cs typeface="Calibri" pitchFamily="34" charset="-120"/>
                        </a:rPr>
                        <a:t>60–75% [70]</a:t>
                      </a:r>
                      <a:endParaRPr lang="en-US" sz="1400" dirty="0">
                        <a:latin typeface="Calibri" charset="0"/>
                        <a:ea typeface="Calibri" charset="0"/>
                        <a:cs typeface="Calibri" charset="0"/>
                      </a:endParaRPr>
                    </a:p>
                  </a:txBody>
                  <a:tcPr marL="91440" marR="91440" marT="45720" marB="4572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400" dirty="0">
                          <a:solidFill>
                            <a:srgbClr val="1B2329"/>
                          </a:solidFill>
                          <a:latin typeface="Calibri" pitchFamily="34" charset="0"/>
                          <a:ea typeface="Calibri" pitchFamily="34" charset="-122"/>
                          <a:cs typeface="Calibri" pitchFamily="34" charset="-120"/>
                        </a:rPr>
                        <a:t>100% (six victims 1.000 → 0.000)</a:t>
                      </a:r>
                      <a:endParaRPr lang="en-US" sz="1400" dirty="0">
                        <a:latin typeface="Calibri" charset="0"/>
                        <a:ea typeface="Calibri" charset="0"/>
                        <a:cs typeface="Calibri" charset="0"/>
                      </a:endParaRPr>
                    </a:p>
                  </a:txBody>
                  <a:tcPr marL="91440" marR="91440" marT="45720" marB="4572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400" dirty="0">
                          <a:solidFill>
                            <a:srgbClr val="1B2329"/>
                          </a:solidFill>
                          <a:latin typeface="Calibri" pitchFamily="34" charset="0"/>
                          <a:ea typeface="Calibri" pitchFamily="34" charset="-122"/>
                          <a:cs typeface="Calibri" pitchFamily="34" charset="-120"/>
                        </a:rPr>
                        <a:t>Above the range: every routed probe is lost</a:t>
                      </a:r>
                      <a:endParaRPr lang="en-US" sz="1400" dirty="0">
                        <a:latin typeface="Calibri" charset="0"/>
                        <a:ea typeface="Calibri" charset="0"/>
                        <a:cs typeface="Calibri" charset="0"/>
                      </a:endParaRPr>
                    </a:p>
                  </a:txBody>
                  <a:tcPr marL="91440" marR="91440" marT="45720" marB="4572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868680">
                <a:tc>
                  <a:txBody>
                    <a:bodyPr/>
                    <a:lstStyle/>
                    <a:p>
                      <a:pPr indent="0" marL="0">
                        <a:buNone/>
                      </a:pPr>
                      <a:r>
                        <a:rPr lang="en-US" sz="1400" dirty="0">
                          <a:solidFill>
                            <a:srgbClr val="1B2329"/>
                          </a:solidFill>
                          <a:latin typeface="Calibri" pitchFamily="34" charset="0"/>
                          <a:ea typeface="Calibri" pitchFamily="34" charset="-122"/>
                          <a:cs typeface="Calibri" pitchFamily="34" charset="-120"/>
                        </a:rPr>
                        <a:t>Healthy delivery, same ESP32 platform</a:t>
                      </a:r>
                      <a:endParaRPr lang="en-US" sz="1400" dirty="0">
                        <a:latin typeface="Calibri" charset="0"/>
                        <a:ea typeface="Calibri" charset="0"/>
                        <a:cs typeface="Calibri" charset="0"/>
                      </a:endParaRPr>
                    </a:p>
                  </a:txBody>
                  <a:tcPr marL="91440" marR="91440" marT="45720" marB="4572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c>
                  <a:txBody>
                    <a:bodyPr/>
                    <a:lstStyle/>
                    <a:p>
                      <a:pPr indent="0" marL="0">
                        <a:buNone/>
                      </a:pPr>
                      <a:r>
                        <a:rPr lang="en-US" sz="1400" dirty="0">
                          <a:solidFill>
                            <a:srgbClr val="1B2329"/>
                          </a:solidFill>
                          <a:latin typeface="Calibri" pitchFamily="34" charset="0"/>
                          <a:ea typeface="Calibri" pitchFamily="34" charset="-122"/>
                          <a:cs typeface="Calibri" pitchFamily="34" charset="-120"/>
                        </a:rPr>
                        <a:t>&gt; 97% [22]</a:t>
                      </a:r>
                      <a:endParaRPr lang="en-US" sz="1400" dirty="0">
                        <a:latin typeface="Calibri" charset="0"/>
                        <a:ea typeface="Calibri" charset="0"/>
                        <a:cs typeface="Calibri" charset="0"/>
                      </a:endParaRPr>
                    </a:p>
                  </a:txBody>
                  <a:tcPr marL="91440" marR="91440" marT="45720" marB="4572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c>
                  <a:txBody>
                    <a:bodyPr/>
                    <a:lstStyle/>
                    <a:p>
                      <a:pPr indent="0" marL="0">
                        <a:buNone/>
                      </a:pPr>
                      <a:r>
                        <a:rPr lang="en-US" sz="1400" dirty="0">
                          <a:solidFill>
                            <a:srgbClr val="1B2329"/>
                          </a:solidFill>
                          <a:latin typeface="Calibri" pitchFamily="34" charset="0"/>
                          <a:ea typeface="Calibri" pitchFamily="34" charset="-122"/>
                          <a:cs typeface="Calibri" pitchFamily="34" charset="-120"/>
                        </a:rPr>
                        <a:t>Baseline PDR 1.000 (G402); 0.998 mean over all victims</a:t>
                      </a:r>
                      <a:endParaRPr lang="en-US" sz="1400" dirty="0">
                        <a:latin typeface="Calibri" charset="0"/>
                        <a:ea typeface="Calibri" charset="0"/>
                        <a:cs typeface="Calibri" charset="0"/>
                      </a:endParaRPr>
                    </a:p>
                  </a:txBody>
                  <a:tcPr marL="91440" marR="91440" marT="45720" marB="4572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c>
                  <a:txBody>
                    <a:bodyPr/>
                    <a:lstStyle/>
                    <a:p>
                      <a:pPr indent="0" marL="0">
                        <a:buNone/>
                      </a:pPr>
                      <a:r>
                        <a:rPr lang="en-US" sz="1400" dirty="0">
                          <a:solidFill>
                            <a:srgbClr val="1B2329"/>
                          </a:solidFill>
                          <a:latin typeface="Calibri" pitchFamily="34" charset="0"/>
                          <a:ea typeface="Calibri" pitchFamily="34" charset="-122"/>
                          <a:cs typeface="Calibri" pitchFamily="34" charset="-120"/>
                        </a:rPr>
                        <a:t>At or above the benchmark</a:t>
                      </a:r>
                      <a:endParaRPr lang="en-US" sz="1400" dirty="0">
                        <a:latin typeface="Calibri" charset="0"/>
                        <a:ea typeface="Calibri" charset="0"/>
                        <a:cs typeface="Calibri" charset="0"/>
                      </a:endParaRPr>
                    </a:p>
                  </a:txBody>
                  <a:tcPr marL="91440" marR="91440" marT="45720" marB="4572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r>
              <a:tr h="868680">
                <a:tc>
                  <a:txBody>
                    <a:bodyPr/>
                    <a:lstStyle/>
                    <a:p>
                      <a:pPr indent="0" marL="0">
                        <a:buNone/>
                      </a:pPr>
                      <a:r>
                        <a:rPr lang="en-US" sz="1400" dirty="0">
                          <a:solidFill>
                            <a:srgbClr val="1B2329"/>
                          </a:solidFill>
                          <a:latin typeface="Calibri" pitchFamily="34" charset="0"/>
                          <a:ea typeface="Calibri" pitchFamily="34" charset="-122"/>
                          <a:cs typeface="Calibri" pitchFamily="34" charset="-120"/>
                        </a:rPr>
                        <a:t>Routing instability under attack</a:t>
                      </a:r>
                      <a:endParaRPr lang="en-US" sz="1400" dirty="0">
                        <a:latin typeface="Calibri" charset="0"/>
                        <a:ea typeface="Calibri" charset="0"/>
                        <a:cs typeface="Calibri" charset="0"/>
                      </a:endParaRPr>
                    </a:p>
                  </a:txBody>
                  <a:tcPr marL="91440" marR="91440" marT="45720" marB="4572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400" dirty="0">
                          <a:solidFill>
                            <a:srgbClr val="1B2329"/>
                          </a:solidFill>
                          <a:latin typeface="Calibri" pitchFamily="34" charset="0"/>
                          <a:ea typeface="Calibri" pitchFamily="34" charset="-122"/>
                          <a:cs typeface="Calibri" pitchFamily="34" charset="-120"/>
                        </a:rPr>
                        <a:t>16–246 rank changes [70]</a:t>
                      </a:r>
                      <a:endParaRPr lang="en-US" sz="1400" dirty="0">
                        <a:latin typeface="Calibri" charset="0"/>
                        <a:ea typeface="Calibri" charset="0"/>
                        <a:cs typeface="Calibri" charset="0"/>
                      </a:endParaRPr>
                    </a:p>
                  </a:txBody>
                  <a:tcPr marL="91440" marR="91440" marT="45720" marB="4572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400" dirty="0">
                          <a:solidFill>
                            <a:srgbClr val="1B2329"/>
                          </a:solidFill>
                          <a:latin typeface="Calibri" pitchFamily="34" charset="0"/>
                          <a:ea typeface="Calibri" pitchFamily="34" charset="-122"/>
                          <a:cs typeface="Calibri" pitchFamily="34" charset="-120"/>
                        </a:rPr>
                        <a:t>Almost no parent switches</a:t>
                      </a:r>
                      <a:endParaRPr lang="en-US" sz="1400" dirty="0">
                        <a:latin typeface="Calibri" charset="0"/>
                        <a:ea typeface="Calibri" charset="0"/>
                        <a:cs typeface="Calibri" charset="0"/>
                      </a:endParaRPr>
                    </a:p>
                  </a:txBody>
                  <a:tcPr marL="91440" marR="91440" marT="45720" marB="4572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400" dirty="0">
                          <a:solidFill>
                            <a:srgbClr val="1B2329"/>
                          </a:solidFill>
                          <a:latin typeface="Calibri" pitchFamily="34" charset="0"/>
                          <a:ea typeface="Calibri" pitchFamily="34" charset="-122"/>
                          <a:cs typeface="Calibri" pitchFamily="34" charset="-120"/>
                        </a:rPr>
                        <a:t>Differs: suppression does not change routes</a:t>
                      </a:r>
                      <a:endParaRPr lang="en-US" sz="1400" dirty="0">
                        <a:latin typeface="Calibri" charset="0"/>
                        <a:ea typeface="Calibri" charset="0"/>
                        <a:cs typeface="Calibri" charset="0"/>
                      </a:endParaRPr>
                    </a:p>
                  </a:txBody>
                  <a:tcPr marL="91440" marR="91440" marT="45720" marB="4572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868680">
                <a:tc>
                  <a:txBody>
                    <a:bodyPr/>
                    <a:lstStyle/>
                    <a:p>
                      <a:pPr indent="0" marL="0">
                        <a:buNone/>
                      </a:pPr>
                      <a:r>
                        <a:rPr lang="en-US" sz="1400" dirty="0">
                          <a:solidFill>
                            <a:srgbClr val="1B2329"/>
                          </a:solidFill>
                          <a:latin typeface="Calibri" pitchFamily="34" charset="0"/>
                          <a:ea typeface="Calibri" pitchFamily="34" charset="-122"/>
                          <a:cs typeface="Calibri" pitchFamily="34" charset="-120"/>
                        </a:rPr>
                        <a:t>Wormhole effect</a:t>
                      </a:r>
                      <a:endParaRPr lang="en-US" sz="1400" dirty="0">
                        <a:latin typeface="Calibri" charset="0"/>
                        <a:ea typeface="Calibri" charset="0"/>
                        <a:cs typeface="Calibri" charset="0"/>
                      </a:endParaRPr>
                    </a:p>
                  </a:txBody>
                  <a:tcPr marL="91440" marR="91440" marT="45720" marB="4572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c>
                  <a:txBody>
                    <a:bodyPr/>
                    <a:lstStyle/>
                    <a:p>
                      <a:pPr indent="0" marL="0">
                        <a:buNone/>
                      </a:pPr>
                      <a:r>
                        <a:rPr lang="en-US" sz="1400" dirty="0">
                          <a:solidFill>
                            <a:srgbClr val="1B2329"/>
                          </a:solidFill>
                          <a:latin typeface="Calibri" pitchFamily="34" charset="0"/>
                          <a:ea typeface="Calibri" pitchFamily="34" charset="-122"/>
                          <a:cs typeface="Calibri" pitchFamily="34" charset="-120"/>
                        </a:rPr>
                        <a:t>Hop count 4 → 3, delay up ~40% [71]</a:t>
                      </a:r>
                      <a:endParaRPr lang="en-US" sz="1400" dirty="0">
                        <a:latin typeface="Calibri" charset="0"/>
                        <a:ea typeface="Calibri" charset="0"/>
                        <a:cs typeface="Calibri" charset="0"/>
                      </a:endParaRPr>
                    </a:p>
                  </a:txBody>
                  <a:tcPr marL="91440" marR="91440" marT="45720" marB="4572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c>
                  <a:txBody>
                    <a:bodyPr/>
                    <a:lstStyle/>
                    <a:p>
                      <a:pPr indent="0" marL="0">
                        <a:buNone/>
                      </a:pPr>
                      <a:r>
                        <a:rPr lang="en-US" sz="1400" dirty="0">
                          <a:solidFill>
                            <a:srgbClr val="1B2329"/>
                          </a:solidFill>
                          <a:latin typeface="Calibri" pitchFamily="34" charset="0"/>
                          <a:ea typeface="Calibri" pitchFamily="34" charset="-122"/>
                          <a:cs typeface="Calibri" pitchFamily="34" charset="-120"/>
                        </a:rPr>
                        <a:t>Duplicate arrivals, no hop change</a:t>
                      </a:r>
                      <a:endParaRPr lang="en-US" sz="1400" dirty="0">
                        <a:latin typeface="Calibri" charset="0"/>
                        <a:ea typeface="Calibri" charset="0"/>
                        <a:cs typeface="Calibri" charset="0"/>
                      </a:endParaRPr>
                    </a:p>
                  </a:txBody>
                  <a:tcPr marL="91440" marR="91440" marT="45720" marB="4572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c>
                  <a:txBody>
                    <a:bodyPr/>
                    <a:lstStyle/>
                    <a:p>
                      <a:pPr indent="0" marL="0">
                        <a:buNone/>
                      </a:pPr>
                      <a:r>
                        <a:rPr lang="en-US" sz="1400" dirty="0">
                          <a:solidFill>
                            <a:srgbClr val="1B2329"/>
                          </a:solidFill>
                          <a:latin typeface="Calibri" pitchFamily="34" charset="0"/>
                          <a:ea typeface="Calibri" pitchFamily="34" charset="-122"/>
                          <a:cs typeface="Calibri" pitchFamily="34" charset="-120"/>
                        </a:rPr>
                        <a:t>Partly matches: the copy, not the shortcut</a:t>
                      </a:r>
                      <a:endParaRPr lang="en-US" sz="1400" dirty="0">
                        <a:latin typeface="Calibri" charset="0"/>
                        <a:ea typeface="Calibri" charset="0"/>
                        <a:cs typeface="Calibri" charset="0"/>
                      </a:endParaRPr>
                    </a:p>
                  </a:txBody>
                  <a:tcPr marL="91440" marR="91440" marT="45720" marB="4572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AF2F3"/>
                    </a:solidFill>
                  </a:tcPr>
                </a:tc>
              </a:tr>
            </a:tbl>
          </a:graphicData>
        </a:graphic>
      </p:graphicFrame>
      <p:sp>
        <p:nvSpPr>
          <p:cNvPr id="4" name="Text 1"/>
          <p:cNvSpPr txBox="1"/>
          <p:nvPr/>
        </p:nvSpPr>
        <p:spPr>
          <a:xfrm>
            <a:off x="548640" y="5577840"/>
            <a:ext cx="11064240" cy="502920"/>
          </a:xfrm>
          <a:prstGeom prst="rect">
            <a:avLst/>
          </a:prstGeom>
          <a:noFill/>
          <a:ln/>
        </p:spPr>
        <p:txBody>
          <a:bodyPr wrap="square" lIns="635" tIns="635" rIns="635" bIns="635" rtlCol="0" anchor="t"/>
          <a:lstStyle/>
          <a:p>
            <a:pPr indent="0" marL="0">
              <a:buNone/>
            </a:pPr>
            <a:r>
              <a:rPr lang="en-US" sz="1400" dirty="0">
                <a:solidFill>
                  <a:schemeClr val="accent5"/>
                </a:solidFill>
              </a:rPr>
              <a:t>Platforms, scales and protocols differ, so the comparison is about direction and rough size, not equal values.</a:t>
            </a:r>
            <a:endParaRPr lang="en-US" sz="14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Predictions we tested and did not see</a:t>
            </a:r>
            <a:endParaRPr lang="en-US" sz="3000" dirty="0"/>
          </a:p>
        </p:txBody>
      </p:sp>
      <p:sp>
        <p:nvSpPr>
          <p:cNvPr id="3" name="Shape 1"/>
          <p:cNvSpPr/>
          <p:nvPr/>
        </p:nvSpPr>
        <p:spPr>
          <a:xfrm>
            <a:off x="548640" y="1280160"/>
            <a:ext cx="5440680" cy="3291840"/>
          </a:xfrm>
          <a:prstGeom prst="roundRect">
            <a:avLst>
              <a:gd name="adj" fmla="val 2222"/>
            </a:avLst>
          </a:prstGeom>
          <a:solidFill>
            <a:schemeClr val="bg2"/>
          </a:solidFill>
          <a:ln w="9525">
            <a:solidFill>
              <a:schemeClr val="bg2"/>
            </a:solidFill>
            <a:prstDash val="solid"/>
          </a:ln>
        </p:spPr>
        <p:txBody>
          <a:bodyPr/>
          <a:p/>
        </p:txBody>
      </p:sp>
      <p:sp>
        <p:nvSpPr>
          <p:cNvPr id="4" name="Shape 2"/>
          <p:cNvSpPr/>
          <p:nvPr/>
        </p:nvSpPr>
        <p:spPr>
          <a:xfrm>
            <a:off x="777240" y="1508760"/>
            <a:ext cx="502920" cy="502920"/>
          </a:xfrm>
          <a:prstGeom prst="ellipse">
            <a:avLst/>
          </a:prstGeom>
          <a:solidFill>
            <a:schemeClr val="accent3"/>
          </a:solidFill>
          <a:ln w="12700">
            <a:solidFill>
              <a:schemeClr val="accent3"/>
            </a:solidFill>
            <a:prstDash val="solid"/>
          </a:ln>
        </p:spPr>
        <p:txBody>
          <a:bodyPr/>
          <a:p/>
        </p:txBody>
      </p:sp>
      <p:sp>
        <p:nvSpPr>
          <p:cNvPr id="5" name="Text 3"/>
          <p:cNvSpPr txBox="1"/>
          <p:nvPr/>
        </p:nvSpPr>
        <p:spPr>
          <a:xfrm>
            <a:off x="777240" y="15087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417320" y="1481328"/>
            <a:ext cx="4434840" cy="566928"/>
          </a:xfrm>
          <a:prstGeom prst="rect">
            <a:avLst/>
          </a:prstGeom>
          <a:noFill/>
          <a:ln/>
        </p:spPr>
        <p:txBody>
          <a:bodyPr wrap="square" lIns="635" tIns="635" rIns="635" bIns="635" rtlCol="0" anchor="ctr"/>
          <a:lstStyle/>
          <a:p>
            <a:pPr indent="0" marL="0">
              <a:buNone/>
            </a:pPr>
            <a:r>
              <a:rPr lang="en-US" sz="1700" b="1" dirty="0">
                <a:solidFill>
                  <a:schemeClr val="tx2"/>
                </a:solidFill>
              </a:rPr>
              <a:t>Victims retransmit more (blackhole)</a:t>
            </a:r>
            <a:endParaRPr lang="en-US" sz="1700" dirty="0"/>
          </a:p>
        </p:txBody>
      </p:sp>
      <p:sp>
        <p:nvSpPr>
          <p:cNvPr id="7" name="Text 5"/>
          <p:cNvSpPr txBox="1"/>
          <p:nvPr/>
        </p:nvSpPr>
        <p:spPr>
          <a:xfrm>
            <a:off x="822960" y="2148840"/>
            <a:ext cx="4937760" cy="228600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Not observed: the attacker still acknowledges every frame at the link layer</a:t>
            </a:r>
            <a:endParaRPr lang="en-US" sz="1500" dirty="0"/>
          </a:p>
          <a:p>
            <a:pPr marL="342900" indent="-342900">
              <a:spcAft>
                <a:spcPts val="600"/>
              </a:spcAft>
              <a:buSzPct val="100000"/>
              <a:buChar char="•"/>
            </a:pPr>
            <a:r>
              <a:rPr lang="en-US" sz="1500" dirty="0">
                <a:solidFill>
                  <a:schemeClr val="tx1"/>
                </a:solidFill>
              </a:rPr>
              <a:t>Sniffer: no consistent rise where it covered a run; count being recomputed</a:t>
            </a:r>
            <a:endParaRPr lang="en-US" sz="1500" dirty="0"/>
          </a:p>
          <a:p>
            <a:pPr marL="342900" indent="-342900">
              <a:spcAft>
                <a:spcPts val="600"/>
              </a:spcAft>
              <a:buSzPct val="100000"/>
              <a:buChar char="•"/>
            </a:pPr>
            <a:r>
              <a:rPr lang="en-US" sz="1500" dirty="0">
                <a:solidFill>
                  <a:schemeClr val="tx1"/>
                </a:solidFill>
              </a:rPr>
              <a:t>App counters: essentially flat across all 35 runs</a:t>
            </a:r>
            <a:endParaRPr lang="en-US" sz="1500" dirty="0"/>
          </a:p>
        </p:txBody>
      </p:sp>
      <p:sp>
        <p:nvSpPr>
          <p:cNvPr id="8" name="Shape 6"/>
          <p:cNvSpPr/>
          <p:nvPr/>
        </p:nvSpPr>
        <p:spPr>
          <a:xfrm>
            <a:off x="6172200" y="1280160"/>
            <a:ext cx="5440680" cy="3291840"/>
          </a:xfrm>
          <a:prstGeom prst="roundRect">
            <a:avLst>
              <a:gd name="adj" fmla="val 2222"/>
            </a:avLst>
          </a:prstGeom>
          <a:solidFill>
            <a:schemeClr val="bg2"/>
          </a:solidFill>
          <a:ln w="9525">
            <a:solidFill>
              <a:schemeClr val="bg2"/>
            </a:solidFill>
            <a:prstDash val="solid"/>
          </a:ln>
        </p:spPr>
        <p:txBody>
          <a:bodyPr/>
          <a:p/>
        </p:txBody>
      </p:sp>
      <p:sp>
        <p:nvSpPr>
          <p:cNvPr id="9" name="Shape 7"/>
          <p:cNvSpPr/>
          <p:nvPr/>
        </p:nvSpPr>
        <p:spPr>
          <a:xfrm>
            <a:off x="6400800" y="1508760"/>
            <a:ext cx="502920" cy="502920"/>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6400800" y="15087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7040880" y="1481328"/>
            <a:ext cx="4434840" cy="566928"/>
          </a:xfrm>
          <a:prstGeom prst="rect">
            <a:avLst/>
          </a:prstGeom>
          <a:noFill/>
          <a:ln/>
        </p:spPr>
        <p:txBody>
          <a:bodyPr wrap="square" lIns="635" tIns="635" rIns="635" bIns="635" rtlCol="0" anchor="ctr"/>
          <a:lstStyle/>
          <a:p>
            <a:pPr indent="0" marL="0">
              <a:buNone/>
            </a:pPr>
            <a:r>
              <a:rPr lang="en-US" sz="1700" b="1" dirty="0">
                <a:solidFill>
                  <a:schemeClr val="tx2"/>
                </a:solidFill>
              </a:rPr>
              <a:t>Topology distorts (wormhole)</a:t>
            </a:r>
            <a:endParaRPr lang="en-US" sz="1700" dirty="0"/>
          </a:p>
        </p:txBody>
      </p:sp>
      <p:sp>
        <p:nvSpPr>
          <p:cNvPr id="12" name="Text 10"/>
          <p:cNvSpPr txBox="1"/>
          <p:nvPr/>
        </p:nvSpPr>
        <p:spPr>
          <a:xfrm>
            <a:off x="6446520" y="2148840"/>
            <a:ext cx="4937760" cy="228600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Not observed: no parent switch or hop change inside any attack window</a:t>
            </a:r>
            <a:endParaRPr lang="en-US" sz="1500" dirty="0"/>
          </a:p>
          <a:p>
            <a:pPr marL="342900" indent="-342900">
              <a:spcAft>
                <a:spcPts val="600"/>
              </a:spcAft>
              <a:buSzPct val="100000"/>
              <a:buChar char="•"/>
            </a:pPr>
            <a:r>
              <a:rPr lang="en-US" sz="1500" dirty="0">
                <a:solidFill>
                  <a:schemeClr val="tx1"/>
                </a:solidFill>
              </a:rPr>
              <a:t>The mesh never routes over the wire, so the tree stays the same</a:t>
            </a:r>
            <a:endParaRPr lang="en-US" sz="1500" dirty="0"/>
          </a:p>
          <a:p>
            <a:pPr marL="342900" indent="-342900">
              <a:spcAft>
                <a:spcPts val="600"/>
              </a:spcAft>
              <a:buSzPct val="100000"/>
              <a:buChar char="•"/>
            </a:pPr>
            <a:r>
              <a:rPr lang="en-US" sz="1500" dirty="0">
                <a:solidFill>
                  <a:schemeClr val="tx1"/>
                </a:solidFill>
              </a:rPr>
              <a:t>The tunnel reproduces the duplicate-delivery signature without the topological one</a:t>
            </a:r>
            <a:endParaRPr lang="en-US" sz="1500" dirty="0"/>
          </a:p>
        </p:txBody>
      </p:sp>
      <p:sp>
        <p:nvSpPr>
          <p:cNvPr id="13" name="Shape 11"/>
          <p:cNvSpPr/>
          <p:nvPr/>
        </p:nvSpPr>
        <p:spPr>
          <a:xfrm>
            <a:off x="548640" y="4800600"/>
            <a:ext cx="11064240" cy="1280160"/>
          </a:xfrm>
          <a:prstGeom prst="roundRect">
            <a:avLst>
              <a:gd name="adj" fmla="val 5714"/>
            </a:avLst>
          </a:prstGeom>
          <a:solidFill>
            <a:schemeClr val="bg1"/>
          </a:solidFill>
          <a:ln w="9525">
            <a:solidFill>
              <a:schemeClr val="accent1"/>
            </a:solidFill>
            <a:prstDash val="solid"/>
          </a:ln>
        </p:spPr>
        <p:txBody>
          <a:bodyPr/>
          <a:p/>
        </p:txBody>
      </p:sp>
      <p:sp>
        <p:nvSpPr>
          <p:cNvPr id="14" name="Text 12"/>
          <p:cNvSpPr txBox="1"/>
          <p:nvPr/>
        </p:nvSpPr>
        <p:spPr>
          <a:xfrm>
            <a:off x="777240" y="4892040"/>
            <a:ext cx="10607040" cy="1097280"/>
          </a:xfrm>
          <a:prstGeom prst="rect">
            <a:avLst/>
          </a:prstGeom>
          <a:noFill/>
          <a:ln/>
        </p:spPr>
        <p:txBody>
          <a:bodyPr wrap="square" lIns="635" tIns="635" rIns="635" bIns="635" rtlCol="0" anchor="ctr"/>
          <a:lstStyle/>
          <a:p>
            <a:pPr indent="0" marL="0">
              <a:buNone/>
            </a:pPr>
            <a:r>
              <a:rPr lang="en-US" sz="1500" b="1" dirty="0">
                <a:solidFill>
                  <a:schemeClr val="accent1"/>
                </a:solidFill>
              </a:rPr>
              <a:t>Why keep them: </a:t>
            </a:r>
            <a:pPr indent="0" marL="0">
              <a:buNone/>
            </a:pPr>
            <a:r>
              <a:rPr lang="en-US" sz="1500" dirty="0">
                <a:solidFill>
                  <a:schemeClr val="tx1"/>
                </a:solidFill>
              </a:rPr>
              <a:t>Tables 3.4 and 3.5 were written before any capture. Reporting what did not happen is part of the result. The sniffer count is being recomputed after a re-analysis dropped the sniffer column.</a:t>
            </a:r>
            <a:endParaRPr lang="en-US" sz="15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Limits we state in the paper</a:t>
            </a:r>
            <a:endParaRPr lang="en-US" sz="3000" dirty="0"/>
          </a:p>
        </p:txBody>
      </p:sp>
      <p:sp>
        <p:nvSpPr>
          <p:cNvPr id="3" name="Shape 1"/>
          <p:cNvSpPr/>
          <p:nvPr/>
        </p:nvSpPr>
        <p:spPr>
          <a:xfrm>
            <a:off x="548640" y="1280160"/>
            <a:ext cx="3520440" cy="2194560"/>
          </a:xfrm>
          <a:prstGeom prst="roundRect">
            <a:avLst>
              <a:gd name="adj" fmla="val 3333"/>
            </a:avLst>
          </a:prstGeom>
          <a:solidFill>
            <a:schemeClr val="bg2"/>
          </a:solidFill>
          <a:ln w="9525">
            <a:solidFill>
              <a:schemeClr val="bg2"/>
            </a:solidFill>
            <a:prstDash val="solid"/>
          </a:ln>
        </p:spPr>
      </p:sp>
      <p:sp>
        <p:nvSpPr>
          <p:cNvPr id="4" name="Shape 2"/>
          <p:cNvSpPr/>
          <p:nvPr/>
        </p:nvSpPr>
        <p:spPr>
          <a:xfrm>
            <a:off x="777240" y="1508760"/>
            <a:ext cx="502920" cy="502920"/>
          </a:xfrm>
          <a:prstGeom prst="ellipse">
            <a:avLst/>
          </a:prstGeom>
          <a:solidFill>
            <a:schemeClr val="accent5"/>
          </a:solidFill>
          <a:ln w="12700">
            <a:solidFill>
              <a:schemeClr val="accent5"/>
            </a:solidFill>
            <a:prstDash val="solid"/>
          </a:ln>
        </p:spPr>
      </p:sp>
      <p:sp>
        <p:nvSpPr>
          <p:cNvPr id="5" name="Text 3"/>
          <p:cNvSpPr txBox="1"/>
          <p:nvPr/>
        </p:nvSpPr>
        <p:spPr>
          <a:xfrm>
            <a:off x="777240" y="15087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6" name="Text 4"/>
          <p:cNvSpPr txBox="1"/>
          <p:nvPr/>
        </p:nvSpPr>
        <p:spPr>
          <a:xfrm>
            <a:off x="1417320" y="1481328"/>
            <a:ext cx="2514600" cy="566928"/>
          </a:xfrm>
          <a:prstGeom prst="rect">
            <a:avLst/>
          </a:prstGeom>
          <a:noFill/>
          <a:ln/>
        </p:spPr>
        <p:txBody>
          <a:bodyPr wrap="square" lIns="635" tIns="635" rIns="635" bIns="635" rtlCol="0" anchor="ctr"/>
          <a:lstStyle/>
          <a:p>
            <a:pPr indent="0" marL="0">
              <a:buNone/>
            </a:pPr>
            <a:r>
              <a:rPr lang="en-US" sz="1700" b="1" dirty="0">
                <a:solidFill>
                  <a:schemeClr val="tx2"/>
                </a:solidFill>
              </a:rPr>
              <a:t>Emulated attacks</a:t>
            </a:r>
            <a:endParaRPr lang="en-US" sz="1700" dirty="0"/>
          </a:p>
        </p:txBody>
      </p:sp>
      <p:sp>
        <p:nvSpPr>
          <p:cNvPr id="7" name="Text 5"/>
          <p:cNvSpPr txBox="1"/>
          <p:nvPr/>
        </p:nvSpPr>
        <p:spPr>
          <a:xfrm>
            <a:off x="822960" y="2148840"/>
            <a:ext cx="3017520" cy="1188720"/>
          </a:xfrm>
          <a:prstGeom prst="rect">
            <a:avLst/>
          </a:prstGeom>
          <a:noFill/>
          <a:ln/>
        </p:spPr>
        <p:txBody>
          <a:bodyPr wrap="square" lIns="635" tIns="635" rIns="635" bIns="635" rtlCol="0" anchor="t"/>
          <a:lstStyle/>
          <a:p>
            <a:pPr indent="0" marL="0">
              <a:buNone/>
            </a:pPr>
            <a:r>
              <a:rPr lang="en-US" sz="1600" dirty="0">
                <a:solidFill>
                  <a:schemeClr val="tx1"/>
                </a:solidFill>
              </a:rPr>
              <a:t>No route attraction (blackhole) and no false neighbour (wormhole) — D-20</a:t>
            </a:r>
            <a:endParaRPr lang="en-US" sz="1600" dirty="0"/>
          </a:p>
        </p:txBody>
      </p:sp>
      <p:sp>
        <p:nvSpPr>
          <p:cNvPr id="8" name="Shape 6"/>
          <p:cNvSpPr/>
          <p:nvPr/>
        </p:nvSpPr>
        <p:spPr>
          <a:xfrm>
            <a:off x="4297680" y="1280160"/>
            <a:ext cx="3520440" cy="2194560"/>
          </a:xfrm>
          <a:prstGeom prst="roundRect">
            <a:avLst>
              <a:gd name="adj" fmla="val 3333"/>
            </a:avLst>
          </a:prstGeom>
          <a:solidFill>
            <a:schemeClr val="bg2"/>
          </a:solidFill>
          <a:ln w="9525">
            <a:solidFill>
              <a:schemeClr val="bg2"/>
            </a:solidFill>
            <a:prstDash val="solid"/>
          </a:ln>
        </p:spPr>
      </p:sp>
      <p:sp>
        <p:nvSpPr>
          <p:cNvPr id="9" name="Shape 7"/>
          <p:cNvSpPr/>
          <p:nvPr/>
        </p:nvSpPr>
        <p:spPr>
          <a:xfrm>
            <a:off x="4526280" y="1508760"/>
            <a:ext cx="502920" cy="502920"/>
          </a:xfrm>
          <a:prstGeom prst="ellipse">
            <a:avLst/>
          </a:prstGeom>
          <a:solidFill>
            <a:schemeClr val="accent5"/>
          </a:solidFill>
          <a:ln w="12700">
            <a:solidFill>
              <a:schemeClr val="accent5"/>
            </a:solidFill>
            <a:prstDash val="solid"/>
          </a:ln>
        </p:spPr>
      </p:sp>
      <p:sp>
        <p:nvSpPr>
          <p:cNvPr id="10" name="Text 8"/>
          <p:cNvSpPr txBox="1"/>
          <p:nvPr/>
        </p:nvSpPr>
        <p:spPr>
          <a:xfrm>
            <a:off x="4526280" y="15087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1" name="Text 9"/>
          <p:cNvSpPr txBox="1"/>
          <p:nvPr/>
        </p:nvSpPr>
        <p:spPr>
          <a:xfrm>
            <a:off x="5166360" y="1481328"/>
            <a:ext cx="2514600" cy="566928"/>
          </a:xfrm>
          <a:prstGeom prst="rect">
            <a:avLst/>
          </a:prstGeom>
          <a:noFill/>
          <a:ln/>
        </p:spPr>
        <p:txBody>
          <a:bodyPr wrap="square" lIns="635" tIns="635" rIns="635" bIns="635" rtlCol="0" anchor="ctr"/>
          <a:lstStyle/>
          <a:p>
            <a:pPr indent="0" marL="0">
              <a:buNone/>
            </a:pPr>
            <a:r>
              <a:rPr lang="en-US" sz="1700" b="1" dirty="0">
                <a:solidFill>
                  <a:schemeClr val="tx2"/>
                </a:solidFill>
              </a:rPr>
              <a:t>One run per cell</a:t>
            </a:r>
            <a:endParaRPr lang="en-US" sz="1700" dirty="0"/>
          </a:p>
        </p:txBody>
      </p:sp>
      <p:sp>
        <p:nvSpPr>
          <p:cNvPr id="12" name="Text 10"/>
          <p:cNvSpPr txBox="1"/>
          <p:nvPr/>
        </p:nvSpPr>
        <p:spPr>
          <a:xfrm>
            <a:off x="4572000" y="2148840"/>
            <a:ext cx="3017520" cy="1188720"/>
          </a:xfrm>
          <a:prstGeom prst="rect">
            <a:avLst/>
          </a:prstGeom>
          <a:noFill/>
          <a:ln/>
        </p:spPr>
        <p:txBody>
          <a:bodyPr wrap="square" lIns="635" tIns="635" rIns="635" bIns="635" rtlCol="0" anchor="t"/>
          <a:lstStyle/>
          <a:p>
            <a:pPr indent="0" marL="0">
              <a:buNone/>
            </a:pPr>
            <a:r>
              <a:rPr lang="en-US" sz="1600" dirty="0">
                <a:solidFill>
                  <a:schemeClr val="tx1"/>
                </a:solidFill>
              </a:rPr>
              <a:t>Sites act as repeats; site and run noise cannot be separated</a:t>
            </a:r>
            <a:endParaRPr lang="en-US" sz="1600" dirty="0"/>
          </a:p>
        </p:txBody>
      </p:sp>
      <p:sp>
        <p:nvSpPr>
          <p:cNvPr id="13" name="Shape 11"/>
          <p:cNvSpPr/>
          <p:nvPr/>
        </p:nvSpPr>
        <p:spPr>
          <a:xfrm>
            <a:off x="8046720" y="1280160"/>
            <a:ext cx="3520440" cy="2194560"/>
          </a:xfrm>
          <a:prstGeom prst="roundRect">
            <a:avLst>
              <a:gd name="adj" fmla="val 3333"/>
            </a:avLst>
          </a:prstGeom>
          <a:solidFill>
            <a:schemeClr val="bg2"/>
          </a:solidFill>
          <a:ln w="9525">
            <a:solidFill>
              <a:schemeClr val="bg2"/>
            </a:solidFill>
            <a:prstDash val="solid"/>
          </a:ln>
        </p:spPr>
      </p:sp>
      <p:sp>
        <p:nvSpPr>
          <p:cNvPr id="14" name="Shape 12"/>
          <p:cNvSpPr/>
          <p:nvPr/>
        </p:nvSpPr>
        <p:spPr>
          <a:xfrm>
            <a:off x="8275320" y="1508760"/>
            <a:ext cx="502920" cy="502920"/>
          </a:xfrm>
          <a:prstGeom prst="ellipse">
            <a:avLst/>
          </a:prstGeom>
          <a:solidFill>
            <a:schemeClr val="accent5"/>
          </a:solidFill>
          <a:ln w="12700">
            <a:solidFill>
              <a:schemeClr val="accent5"/>
            </a:solidFill>
            <a:prstDash val="solid"/>
          </a:ln>
        </p:spPr>
      </p:sp>
      <p:sp>
        <p:nvSpPr>
          <p:cNvPr id="15" name="Text 13"/>
          <p:cNvSpPr txBox="1"/>
          <p:nvPr/>
        </p:nvSpPr>
        <p:spPr>
          <a:xfrm>
            <a:off x="8275320" y="15087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6" name="Text 14"/>
          <p:cNvSpPr txBox="1"/>
          <p:nvPr/>
        </p:nvSpPr>
        <p:spPr>
          <a:xfrm>
            <a:off x="8915400" y="1481328"/>
            <a:ext cx="2514600" cy="566928"/>
          </a:xfrm>
          <a:prstGeom prst="rect">
            <a:avLst/>
          </a:prstGeom>
          <a:noFill/>
          <a:ln/>
        </p:spPr>
        <p:txBody>
          <a:bodyPr wrap="square" lIns="635" tIns="635" rIns="635" bIns="635" rtlCol="0" anchor="ctr"/>
          <a:lstStyle/>
          <a:p>
            <a:pPr indent="0" marL="0">
              <a:buNone/>
            </a:pPr>
            <a:r>
              <a:rPr lang="en-US" sz="1700" b="1" dirty="0">
                <a:solidFill>
                  <a:schemeClr val="tx2"/>
                </a:solidFill>
              </a:rPr>
              <a:t>Fixed schedule</a:t>
            </a:r>
            <a:endParaRPr lang="en-US" sz="1700" dirty="0"/>
          </a:p>
        </p:txBody>
      </p:sp>
      <p:sp>
        <p:nvSpPr>
          <p:cNvPr id="17" name="Text 15"/>
          <p:cNvSpPr txBox="1"/>
          <p:nvPr/>
        </p:nvSpPr>
        <p:spPr>
          <a:xfrm>
            <a:off x="8321040" y="2148840"/>
            <a:ext cx="3017520" cy="1188720"/>
          </a:xfrm>
          <a:prstGeom prst="rect">
            <a:avLst/>
          </a:prstGeom>
          <a:noFill/>
          <a:ln/>
        </p:spPr>
        <p:txBody>
          <a:bodyPr wrap="square" lIns="635" tIns="635" rIns="635" bIns="635" rtlCol="0" anchor="t"/>
          <a:lstStyle/>
          <a:p>
            <a:pPr indent="0" marL="0">
              <a:buNone/>
            </a:pPr>
            <a:r>
              <a:rPr lang="en-US" sz="1600" dirty="0">
                <a:solidFill>
                  <a:schemeClr val="tx1"/>
                </a:solidFill>
              </a:rPr>
              <a:t>The attack starts at the same time in every run, so position is kept out of model inputs</a:t>
            </a:r>
            <a:endParaRPr lang="en-US" sz="1600" dirty="0"/>
          </a:p>
        </p:txBody>
      </p:sp>
      <p:sp>
        <p:nvSpPr>
          <p:cNvPr id="18" name="Shape 16"/>
          <p:cNvSpPr/>
          <p:nvPr/>
        </p:nvSpPr>
        <p:spPr>
          <a:xfrm>
            <a:off x="548640" y="3703320"/>
            <a:ext cx="3520440" cy="2194560"/>
          </a:xfrm>
          <a:prstGeom prst="roundRect">
            <a:avLst>
              <a:gd name="adj" fmla="val 3333"/>
            </a:avLst>
          </a:prstGeom>
          <a:solidFill>
            <a:schemeClr val="bg2"/>
          </a:solidFill>
          <a:ln w="9525">
            <a:solidFill>
              <a:schemeClr val="bg2"/>
            </a:solidFill>
            <a:prstDash val="solid"/>
          </a:ln>
        </p:spPr>
      </p:sp>
      <p:sp>
        <p:nvSpPr>
          <p:cNvPr id="19" name="Shape 17"/>
          <p:cNvSpPr/>
          <p:nvPr/>
        </p:nvSpPr>
        <p:spPr>
          <a:xfrm>
            <a:off x="777240" y="3931920"/>
            <a:ext cx="502920" cy="502920"/>
          </a:xfrm>
          <a:prstGeom prst="ellipse">
            <a:avLst/>
          </a:prstGeom>
          <a:solidFill>
            <a:schemeClr val="accent5"/>
          </a:solidFill>
          <a:ln w="12700">
            <a:solidFill>
              <a:schemeClr val="accent5"/>
            </a:solidFill>
            <a:prstDash val="solid"/>
          </a:ln>
        </p:spPr>
      </p:sp>
      <p:sp>
        <p:nvSpPr>
          <p:cNvPr id="20" name="Text 18"/>
          <p:cNvSpPr txBox="1"/>
          <p:nvPr/>
        </p:nvSpPr>
        <p:spPr>
          <a:xfrm>
            <a:off x="777240" y="3931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1" name="Text 19"/>
          <p:cNvSpPr txBox="1"/>
          <p:nvPr/>
        </p:nvSpPr>
        <p:spPr>
          <a:xfrm>
            <a:off x="1417320" y="3904488"/>
            <a:ext cx="2514600" cy="566928"/>
          </a:xfrm>
          <a:prstGeom prst="rect">
            <a:avLst/>
          </a:prstGeom>
          <a:noFill/>
          <a:ln/>
        </p:spPr>
        <p:txBody>
          <a:bodyPr wrap="square" lIns="635" tIns="635" rIns="635" bIns="635" rtlCol="0" anchor="ctr"/>
          <a:lstStyle/>
          <a:p>
            <a:pPr indent="0" marL="0">
              <a:buNone/>
            </a:pPr>
            <a:r>
              <a:rPr lang="en-US" sz="1700" b="1" dirty="0">
                <a:solidFill>
                  <a:schemeClr val="tx2"/>
                </a:solidFill>
              </a:rPr>
              <a:t>Partial mesh = tree</a:t>
            </a:r>
            <a:endParaRPr lang="en-US" sz="1700" dirty="0"/>
          </a:p>
        </p:txBody>
      </p:sp>
      <p:sp>
        <p:nvSpPr>
          <p:cNvPr id="22" name="Text 20"/>
          <p:cNvSpPr txBox="1"/>
          <p:nvPr/>
        </p:nvSpPr>
        <p:spPr>
          <a:xfrm>
            <a:off x="822960" y="4572000"/>
            <a:ext cx="3017520" cy="1188720"/>
          </a:xfrm>
          <a:prstGeom prst="rect">
            <a:avLst/>
          </a:prstGeom>
          <a:noFill/>
          <a:ln/>
        </p:spPr>
        <p:txBody>
          <a:bodyPr wrap="square" lIns="635" tIns="635" rIns="635" bIns="635" rtlCol="0" anchor="t"/>
          <a:lstStyle/>
          <a:p>
            <a:pPr indent="0" marL="0">
              <a:buNone/>
            </a:pPr>
            <a:r>
              <a:rPr lang="en-US" sz="1600" dirty="0">
                <a:solidFill>
                  <a:schemeClr val="tx1"/>
                </a:solidFill>
              </a:rPr>
              <a:t>No node used a second parent in nine runs</a:t>
            </a:r>
            <a:endParaRPr lang="en-US" sz="1600" dirty="0"/>
          </a:p>
        </p:txBody>
      </p:sp>
      <p:sp>
        <p:nvSpPr>
          <p:cNvPr id="23" name="Shape 21"/>
          <p:cNvSpPr/>
          <p:nvPr/>
        </p:nvSpPr>
        <p:spPr>
          <a:xfrm>
            <a:off x="4297680" y="3703320"/>
            <a:ext cx="3520440" cy="2194560"/>
          </a:xfrm>
          <a:prstGeom prst="roundRect">
            <a:avLst>
              <a:gd name="adj" fmla="val 3333"/>
            </a:avLst>
          </a:prstGeom>
          <a:solidFill>
            <a:schemeClr val="bg2"/>
          </a:solidFill>
          <a:ln w="9525">
            <a:solidFill>
              <a:schemeClr val="bg2"/>
            </a:solidFill>
            <a:prstDash val="solid"/>
          </a:ln>
        </p:spPr>
      </p:sp>
      <p:sp>
        <p:nvSpPr>
          <p:cNvPr id="24" name="Shape 22"/>
          <p:cNvSpPr/>
          <p:nvPr/>
        </p:nvSpPr>
        <p:spPr>
          <a:xfrm>
            <a:off x="4526280" y="3931920"/>
            <a:ext cx="502920" cy="502920"/>
          </a:xfrm>
          <a:prstGeom prst="ellipse">
            <a:avLst/>
          </a:prstGeom>
          <a:solidFill>
            <a:schemeClr val="accent5"/>
          </a:solidFill>
          <a:ln w="12700">
            <a:solidFill>
              <a:schemeClr val="accent5"/>
            </a:solidFill>
            <a:prstDash val="solid"/>
          </a:ln>
        </p:spPr>
      </p:sp>
      <p:sp>
        <p:nvSpPr>
          <p:cNvPr id="25" name="Text 23"/>
          <p:cNvSpPr txBox="1"/>
          <p:nvPr/>
        </p:nvSpPr>
        <p:spPr>
          <a:xfrm>
            <a:off x="4526280" y="3931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6" name="Text 24"/>
          <p:cNvSpPr txBox="1"/>
          <p:nvPr/>
        </p:nvSpPr>
        <p:spPr>
          <a:xfrm>
            <a:off x="5166360" y="3904488"/>
            <a:ext cx="2514600" cy="566928"/>
          </a:xfrm>
          <a:prstGeom prst="rect">
            <a:avLst/>
          </a:prstGeom>
          <a:noFill/>
          <a:ln/>
        </p:spPr>
        <p:txBody>
          <a:bodyPr wrap="square" lIns="635" tIns="635" rIns="635" bIns="635" rtlCol="0" anchor="ctr"/>
          <a:lstStyle/>
          <a:p>
            <a:pPr indent="0" marL="0">
              <a:buNone/>
            </a:pPr>
            <a:r>
              <a:rPr lang="en-US" sz="1700" b="1" dirty="0">
                <a:solidFill>
                  <a:schemeClr val="tx2"/>
                </a:solidFill>
              </a:rPr>
              <a:t>Small testbed</a:t>
            </a:r>
            <a:endParaRPr lang="en-US" sz="1700" dirty="0"/>
          </a:p>
        </p:txBody>
      </p:sp>
      <p:sp>
        <p:nvSpPr>
          <p:cNvPr id="27" name="Text 25"/>
          <p:cNvSpPr txBox="1"/>
          <p:nvPr/>
        </p:nvSpPr>
        <p:spPr>
          <a:xfrm>
            <a:off x="4572000" y="4572000"/>
            <a:ext cx="3017520" cy="1188720"/>
          </a:xfrm>
          <a:prstGeom prst="rect">
            <a:avLst/>
          </a:prstGeom>
          <a:noFill/>
          <a:ln/>
        </p:spPr>
        <p:txBody>
          <a:bodyPr wrap="square" lIns="635" tIns="635" rIns="635" bIns="635" rtlCol="0" anchor="t"/>
          <a:lstStyle/>
          <a:p>
            <a:pPr indent="0" marL="0">
              <a:buNone/>
            </a:pPr>
            <a:r>
              <a:rPr lang="en-US" sz="1600" dirty="0">
                <a:solidFill>
                  <a:schemeClr val="tx1"/>
                </a:solidFill>
              </a:rPr>
              <a:t>8 boards indoors; not a large or outdoor network</a:t>
            </a:r>
            <a:endParaRPr lang="en-US" sz="1600" dirty="0"/>
          </a:p>
        </p:txBody>
      </p:sp>
      <p:sp>
        <p:nvSpPr>
          <p:cNvPr id="28" name="Shape 26"/>
          <p:cNvSpPr/>
          <p:nvPr/>
        </p:nvSpPr>
        <p:spPr>
          <a:xfrm>
            <a:off x="8046720" y="3703320"/>
            <a:ext cx="3520440" cy="2194560"/>
          </a:xfrm>
          <a:prstGeom prst="roundRect">
            <a:avLst>
              <a:gd name="adj" fmla="val 3333"/>
            </a:avLst>
          </a:prstGeom>
          <a:solidFill>
            <a:schemeClr val="bg2"/>
          </a:solidFill>
          <a:ln w="9525">
            <a:solidFill>
              <a:schemeClr val="bg2"/>
            </a:solidFill>
            <a:prstDash val="solid"/>
          </a:ln>
        </p:spPr>
      </p:sp>
      <p:sp>
        <p:nvSpPr>
          <p:cNvPr id="29" name="Shape 27"/>
          <p:cNvSpPr/>
          <p:nvPr/>
        </p:nvSpPr>
        <p:spPr>
          <a:xfrm>
            <a:off x="8275320" y="3931920"/>
            <a:ext cx="502920" cy="502920"/>
          </a:xfrm>
          <a:prstGeom prst="ellipse">
            <a:avLst/>
          </a:prstGeom>
          <a:solidFill>
            <a:schemeClr val="accent5"/>
          </a:solidFill>
          <a:ln w="12700">
            <a:solidFill>
              <a:schemeClr val="accent5"/>
            </a:solidFill>
            <a:prstDash val="solid"/>
          </a:ln>
        </p:spPr>
      </p:sp>
      <p:sp>
        <p:nvSpPr>
          <p:cNvPr id="30" name="Text 28"/>
          <p:cNvSpPr txBox="1"/>
          <p:nvPr/>
        </p:nvSpPr>
        <p:spPr>
          <a:xfrm>
            <a:off x="8275320" y="3931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1" name="Text 29"/>
          <p:cNvSpPr txBox="1"/>
          <p:nvPr/>
        </p:nvSpPr>
        <p:spPr>
          <a:xfrm>
            <a:off x="8915400" y="3904488"/>
            <a:ext cx="2514600" cy="566928"/>
          </a:xfrm>
          <a:prstGeom prst="rect">
            <a:avLst/>
          </a:prstGeom>
          <a:noFill/>
          <a:ln/>
        </p:spPr>
        <p:txBody>
          <a:bodyPr wrap="square" lIns="635" tIns="635" rIns="635" bIns="635" rtlCol="0" anchor="ctr"/>
          <a:lstStyle/>
          <a:p>
            <a:pPr indent="0" marL="0">
              <a:buNone/>
            </a:pPr>
            <a:r>
              <a:rPr lang="en-US" sz="1700" b="1" dirty="0">
                <a:solidFill>
                  <a:schemeClr val="tx2"/>
                </a:solidFill>
              </a:rPr>
              <a:t>Open checks</a:t>
            </a:r>
            <a:endParaRPr lang="en-US" sz="1700" dirty="0"/>
          </a:p>
        </p:txBody>
      </p:sp>
      <p:sp>
        <p:nvSpPr>
          <p:cNvPr id="32" name="Text 30"/>
          <p:cNvSpPr txBox="1"/>
          <p:nvPr/>
        </p:nvSpPr>
        <p:spPr>
          <a:xfrm>
            <a:off x="8321040" y="4572000"/>
            <a:ext cx="3017520" cy="1188720"/>
          </a:xfrm>
          <a:prstGeom prst="rect">
            <a:avLst/>
          </a:prstGeom>
          <a:noFill/>
          <a:ln/>
        </p:spPr>
        <p:txBody>
          <a:bodyPr wrap="square" lIns="635" tIns="635" rIns="635" bIns="635" rtlCol="0" anchor="t"/>
          <a:lstStyle/>
          <a:p>
            <a:pPr indent="0" marL="0">
              <a:buNone/>
            </a:pPr>
            <a:r>
              <a:rPr lang="en-US" sz="1600" dirty="0">
                <a:solidFill>
                  <a:schemeClr val="tx1"/>
                </a:solidFill>
              </a:rPr>
              <a:t>SD fsync mid-run reset test (D-13); star wormhole design (D-28)</a:t>
            </a:r>
            <a:endParaRPr lang="en-US" sz="16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What is left before the final paper</a:t>
            </a:r>
            <a:endParaRPr lang="en-US" sz="3000" dirty="0"/>
          </a:p>
        </p:txBody>
      </p:sp>
      <p:sp>
        <p:nvSpPr>
          <p:cNvPr id="3" name="Shape 1"/>
          <p:cNvSpPr/>
          <p:nvPr/>
        </p:nvSpPr>
        <p:spPr>
          <a:xfrm>
            <a:off x="548640" y="1417320"/>
            <a:ext cx="731520" cy="731520"/>
          </a:xfrm>
          <a:prstGeom prst="ellipse">
            <a:avLst/>
          </a:prstGeom>
          <a:solidFill>
            <a:schemeClr val="accent2"/>
          </a:solidFill>
          <a:ln w="12700">
            <a:solidFill>
              <a:schemeClr val="accent2"/>
            </a:solidFill>
            <a:prstDash val="solid"/>
          </a:ln>
        </p:spPr>
      </p:sp>
      <p:sp>
        <p:nvSpPr>
          <p:cNvPr id="4" name="Text 2"/>
          <p:cNvSpPr txBox="1"/>
          <p:nvPr/>
        </p:nvSpPr>
        <p:spPr>
          <a:xfrm>
            <a:off x="548640" y="141732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463040" y="1325880"/>
            <a:ext cx="2011680" cy="914400"/>
          </a:xfrm>
          <a:prstGeom prst="rect">
            <a:avLst/>
          </a:prstGeom>
          <a:noFill/>
          <a:ln/>
        </p:spPr>
        <p:txBody>
          <a:bodyPr wrap="square" lIns="635" tIns="635" rIns="635" bIns="635" rtlCol="0" anchor="ctr"/>
          <a:lstStyle/>
          <a:p>
            <a:pPr indent="0" marL="0">
              <a:buNone/>
            </a:pPr>
            <a:r>
              <a:rPr lang="en-US" sz="2000" b="1" dirty="0">
                <a:solidFill>
                  <a:schemeClr val="tx2"/>
                </a:solidFill>
              </a:rPr>
              <a:t>Capture</a:t>
            </a:r>
            <a:endParaRPr lang="en-US" sz="2000" dirty="0"/>
          </a:p>
        </p:txBody>
      </p:sp>
      <p:sp>
        <p:nvSpPr>
          <p:cNvPr id="6" name="Text 4"/>
          <p:cNvSpPr txBox="1"/>
          <p:nvPr/>
        </p:nvSpPr>
        <p:spPr>
          <a:xfrm>
            <a:off x="3474720" y="1325880"/>
            <a:ext cx="8138160" cy="914400"/>
          </a:xfrm>
          <a:prstGeom prst="rect">
            <a:avLst/>
          </a:prstGeom>
          <a:noFill/>
          <a:ln/>
        </p:spPr>
        <p:txBody>
          <a:bodyPr wrap="square" lIns="635" tIns="635" rIns="635" bIns="635" rtlCol="0" anchor="ctr"/>
          <a:lstStyle/>
          <a:p>
            <a:pPr indent="0" marL="0">
              <a:buNone/>
            </a:pPr>
            <a:r>
              <a:rPr lang="en-US" sz="1600" dirty="0">
                <a:solidFill>
                  <a:schemeClr val="tx1"/>
                </a:solidFill>
              </a:rPr>
              <a:t>37 runs: wormhole on star, tree and partial mesh, plus all 9 benign runs</a:t>
            </a:r>
            <a:endParaRPr lang="en-US" sz="1600" dirty="0"/>
          </a:p>
        </p:txBody>
      </p:sp>
      <p:sp>
        <p:nvSpPr>
          <p:cNvPr id="7" name="Shape 5"/>
          <p:cNvSpPr/>
          <p:nvPr/>
        </p:nvSpPr>
        <p:spPr>
          <a:xfrm>
            <a:off x="548640" y="2606040"/>
            <a:ext cx="731520" cy="731520"/>
          </a:xfrm>
          <a:prstGeom prst="ellipse">
            <a:avLst/>
          </a:prstGeom>
          <a:solidFill>
            <a:schemeClr val="accent2"/>
          </a:solidFill>
          <a:ln w="12700">
            <a:solidFill>
              <a:schemeClr val="accent2"/>
            </a:solidFill>
            <a:prstDash val="solid"/>
          </a:ln>
        </p:spPr>
      </p:sp>
      <p:sp>
        <p:nvSpPr>
          <p:cNvPr id="8" name="Text 6"/>
          <p:cNvSpPr txBox="1"/>
          <p:nvPr/>
        </p:nvSpPr>
        <p:spPr>
          <a:xfrm>
            <a:off x="548640" y="260604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7"/>
          <p:cNvSpPr txBox="1"/>
          <p:nvPr/>
        </p:nvSpPr>
        <p:spPr>
          <a:xfrm>
            <a:off x="1463040" y="2514600"/>
            <a:ext cx="2011680" cy="914400"/>
          </a:xfrm>
          <a:prstGeom prst="rect">
            <a:avLst/>
          </a:prstGeom>
          <a:noFill/>
          <a:ln/>
        </p:spPr>
        <p:txBody>
          <a:bodyPr wrap="square" lIns="635" tIns="635" rIns="635" bIns="635" rtlCol="0" anchor="ctr"/>
          <a:lstStyle/>
          <a:p>
            <a:pPr indent="0" marL="0">
              <a:buNone/>
            </a:pPr>
            <a:r>
              <a:rPr lang="en-US" sz="2000" b="1" dirty="0">
                <a:solidFill>
                  <a:schemeClr val="tx2"/>
                </a:solidFill>
              </a:rPr>
              <a:t>Re-analyse</a:t>
            </a:r>
            <a:endParaRPr lang="en-US" sz="2000" dirty="0"/>
          </a:p>
        </p:txBody>
      </p:sp>
      <p:sp>
        <p:nvSpPr>
          <p:cNvPr id="10" name="Text 8"/>
          <p:cNvSpPr txBox="1"/>
          <p:nvPr/>
        </p:nvSpPr>
        <p:spPr>
          <a:xfrm>
            <a:off x="3474720" y="2514600"/>
            <a:ext cx="8138160" cy="914400"/>
          </a:xfrm>
          <a:prstGeom prst="rect">
            <a:avLst/>
          </a:prstGeom>
          <a:noFill/>
          <a:ln/>
        </p:spPr>
        <p:txBody>
          <a:bodyPr wrap="square" lIns="635" tIns="635" rIns="635" bIns="635" rtlCol="0" anchor="ctr"/>
          <a:lstStyle/>
          <a:p>
            <a:pPr indent="0" marL="0">
              <a:buNone/>
            </a:pPr>
            <a:r>
              <a:rPr lang="en-US" sz="1600" dirty="0">
                <a:solidFill>
                  <a:schemeClr val="tx1"/>
                </a:solidFill>
              </a:rPr>
              <a:t>Merge the sniffer captures back, then recompute MacRetryRate results</a:t>
            </a:r>
            <a:endParaRPr lang="en-US" sz="1600" dirty="0"/>
          </a:p>
        </p:txBody>
      </p:sp>
      <p:sp>
        <p:nvSpPr>
          <p:cNvPr id="11" name="Shape 9"/>
          <p:cNvSpPr/>
          <p:nvPr/>
        </p:nvSpPr>
        <p:spPr>
          <a:xfrm>
            <a:off x="548640" y="3794760"/>
            <a:ext cx="731520" cy="731520"/>
          </a:xfrm>
          <a:prstGeom prst="ellipse">
            <a:avLst/>
          </a:prstGeom>
          <a:solidFill>
            <a:schemeClr val="accent2"/>
          </a:solidFill>
          <a:ln w="12700">
            <a:solidFill>
              <a:schemeClr val="accent2"/>
            </a:solidFill>
            <a:prstDash val="solid"/>
          </a:ln>
        </p:spPr>
      </p:sp>
      <p:sp>
        <p:nvSpPr>
          <p:cNvPr id="12" name="Text 10"/>
          <p:cNvSpPr txBox="1"/>
          <p:nvPr/>
        </p:nvSpPr>
        <p:spPr>
          <a:xfrm>
            <a:off x="548640" y="379476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 11"/>
          <p:cNvSpPr txBox="1"/>
          <p:nvPr/>
        </p:nvSpPr>
        <p:spPr>
          <a:xfrm>
            <a:off x="1463040" y="3703320"/>
            <a:ext cx="2011680" cy="914400"/>
          </a:xfrm>
          <a:prstGeom prst="rect">
            <a:avLst/>
          </a:prstGeom>
          <a:noFill/>
          <a:ln/>
        </p:spPr>
        <p:txBody>
          <a:bodyPr wrap="square" lIns="635" tIns="635" rIns="635" bIns="635" rtlCol="0" anchor="ctr"/>
          <a:lstStyle/>
          <a:p>
            <a:pPr indent="0" marL="0">
              <a:buNone/>
            </a:pPr>
            <a:r>
              <a:rPr lang="en-US" sz="2000" b="1" dirty="0">
                <a:solidFill>
                  <a:schemeClr val="tx2"/>
                </a:solidFill>
              </a:rPr>
              <a:t>Cluster</a:t>
            </a:r>
            <a:endParaRPr lang="en-US" sz="2000" dirty="0"/>
          </a:p>
        </p:txBody>
      </p:sp>
      <p:sp>
        <p:nvSpPr>
          <p:cNvPr id="14" name="Text 12"/>
          <p:cNvSpPr txBox="1"/>
          <p:nvPr/>
        </p:nvSpPr>
        <p:spPr>
          <a:xfrm>
            <a:off x="3474720" y="3703320"/>
            <a:ext cx="8138160" cy="914400"/>
          </a:xfrm>
          <a:prstGeom prst="rect">
            <a:avLst/>
          </a:prstGeom>
          <a:noFill/>
          <a:ln/>
        </p:spPr>
        <p:txBody>
          <a:bodyPr wrap="square" lIns="635" tIns="635" rIns="635" bIns="635" rtlCol="0" anchor="ctr"/>
          <a:lstStyle/>
          <a:p>
            <a:pPr indent="0" marL="0">
              <a:buNone/>
            </a:pPr>
            <a:r>
              <a:rPr lang="en-US" sz="1600" dirty="0">
                <a:solidFill>
                  <a:schemeClr val="tx1"/>
                </a:solidFill>
              </a:rPr>
              <a:t>Run the five algorithms on the pooled table and report purity and ARI</a:t>
            </a:r>
            <a:endParaRPr lang="en-US" sz="1600" dirty="0"/>
          </a:p>
        </p:txBody>
      </p:sp>
      <p:sp>
        <p:nvSpPr>
          <p:cNvPr id="15" name="Shape 13"/>
          <p:cNvSpPr/>
          <p:nvPr/>
        </p:nvSpPr>
        <p:spPr>
          <a:xfrm>
            <a:off x="548640" y="4983480"/>
            <a:ext cx="731520" cy="731520"/>
          </a:xfrm>
          <a:prstGeom prst="ellipse">
            <a:avLst/>
          </a:prstGeom>
          <a:solidFill>
            <a:schemeClr val="accent2"/>
          </a:solidFill>
          <a:ln w="12700">
            <a:solidFill>
              <a:schemeClr val="accent2"/>
            </a:solidFill>
            <a:prstDash val="solid"/>
          </a:ln>
        </p:spPr>
      </p:sp>
      <p:sp>
        <p:nvSpPr>
          <p:cNvPr id="16" name="Text 14"/>
          <p:cNvSpPr txBox="1"/>
          <p:nvPr/>
        </p:nvSpPr>
        <p:spPr>
          <a:xfrm>
            <a:off x="548640" y="498348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7" name="Text 15"/>
          <p:cNvSpPr txBox="1"/>
          <p:nvPr/>
        </p:nvSpPr>
        <p:spPr>
          <a:xfrm>
            <a:off x="1463040" y="4892040"/>
            <a:ext cx="2011680" cy="914400"/>
          </a:xfrm>
          <a:prstGeom prst="rect">
            <a:avLst/>
          </a:prstGeom>
          <a:noFill/>
          <a:ln/>
        </p:spPr>
        <p:txBody>
          <a:bodyPr wrap="square" lIns="635" tIns="635" rIns="635" bIns="635" rtlCol="0" anchor="ctr"/>
          <a:lstStyle/>
          <a:p>
            <a:pPr indent="0" marL="0">
              <a:buNone/>
            </a:pPr>
            <a:r>
              <a:rPr lang="en-US" sz="2000" b="1" dirty="0">
                <a:solidFill>
                  <a:schemeClr val="tx2"/>
                </a:solidFill>
              </a:rPr>
              <a:t>Write</a:t>
            </a:r>
            <a:endParaRPr lang="en-US" sz="2000" dirty="0"/>
          </a:p>
        </p:txBody>
      </p:sp>
      <p:sp>
        <p:nvSpPr>
          <p:cNvPr id="18" name="Text 16"/>
          <p:cNvSpPr txBox="1"/>
          <p:nvPr/>
        </p:nvSpPr>
        <p:spPr>
          <a:xfrm>
            <a:off x="3474720" y="4892040"/>
            <a:ext cx="8138160" cy="914400"/>
          </a:xfrm>
          <a:prstGeom prst="rect">
            <a:avLst/>
          </a:prstGeom>
          <a:noFill/>
          <a:ln/>
        </p:spPr>
        <p:txBody>
          <a:bodyPr wrap="square" lIns="635" tIns="635" rIns="635" bIns="635" rtlCol="0" anchor="ctr"/>
          <a:lstStyle/>
          <a:p>
            <a:pPr indent="0" marL="0">
              <a:buNone/>
            </a:pPr>
            <a:r>
              <a:rPr lang="en-US" sz="1600" dirty="0">
                <a:solidFill>
                  <a:schemeClr val="tx1"/>
                </a:solidFill>
              </a:rPr>
              <a:t>Chapter 5 from the final tables only; pooled leakage audit; clear every placeholder</a:t>
            </a:r>
            <a:endParaRPr lang="en-US" sz="1600" dirty="0"/>
          </a:p>
        </p:txBody>
      </p:sp>
      <p:sp>
        <p:nvSpPr>
          <p:cNvPr id="25" name="Slide Number Placeholder 0"/>
          <p:cNvSpPr>
            <a:spLocks noGrp="1"/>
          </p:cNvSpPr>
          <p:nvPr>
            <p:ph type="sldNum" sz="quarter" idx="4294967295"/>
          </p:nvPr>
        </p:nvSpPr>
        <p:spPr>
          <a:xfrm>
            <a:off x="110642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737360"/>
          </a:xfrm>
          <a:prstGeom prst="rect">
            <a:avLst/>
          </a:prstGeom>
          <a:noFill/>
          <a:ln/>
        </p:spPr>
        <p:txBody>
          <a:bodyPr wrap="square" rtlCol="0" anchor="b"/>
          <a:lstStyle/>
          <a:p>
            <a:pPr algn="l" indent="0" marL="0">
              <a:buNone/>
            </a:pPr>
            <a:r>
              <a:rPr lang="en-US" sz="4000" b="1" dirty="0">
                <a:solidFill>
                  <a:schemeClr val="bg1"/>
                </a:solidFill>
                <a:latin typeface="Arial" pitchFamily="34" charset="0"/>
                <a:ea typeface="Arial" pitchFamily="34" charset="-122"/>
                <a:cs typeface="Arial" pitchFamily="34" charset="-120"/>
              </a:rPr>
              <a:t>A labelled, cross-layer dataset from a real ESP32 mesh</a:t>
            </a:r>
            <a:endParaRPr lang="en-US" sz="4000" dirty="0"/>
          </a:p>
        </p:txBody>
      </p:sp>
      <p:sp>
        <p:nvSpPr>
          <p:cNvPr id="3" name="Text 0"/>
          <p:cNvSpPr/>
          <p:nvPr>
            <p:ph idx="101" type="body" hasCustomPrompt="1"/>
          </p:nvPr>
        </p:nvSpPr>
        <p:spPr>
          <a:xfrm>
            <a:off x="731520" y="3794760"/>
            <a:ext cx="10698480" cy="2194560"/>
          </a:xfrm>
          <a:prstGeom prst="rect">
            <a:avLst/>
          </a:prstGeom>
          <a:noFill/>
          <a:ln/>
        </p:spPr>
        <p:txBody>
          <a:bodyPr wrap="square" rtlCol="0" anchor="t"/>
          <a:lstStyle/>
          <a:p>
            <a:pPr indent="0" marL="0">
              <a:buNone/>
            </a:pPr>
            <a:r>
              <a:rPr lang="en-US" sz="1800" dirty="0">
                <a:solidFill>
                  <a:schemeClr val="bg2"/>
                </a:solidFill>
              </a:rPr>
              <a:t>44 verified attack runs so far: blackhole on four topologies, wormhole on the linear chain, three sites — every run checked before it enters the dataset.</a:t>
            </a:r>
            <a:endParaRPr lang="en-US" sz="1800" dirty="0"/>
          </a:p>
          <a:p>
            <a:pPr indent="0" marL="0">
              <a:buNone/>
            </a:pPr>
            <a:r>
              <a:rPr lang="en-US" sz="1800" dirty="0">
                <a:solidFill>
                  <a:schemeClr val="bg2"/>
                </a:solidFill>
              </a:rPr>
              <a:t> </a:t>
            </a:r>
            <a:endParaRPr lang="en-US" sz="1800" dirty="0"/>
          </a:p>
          <a:p>
            <a:pPr indent="0" marL="0">
              <a:buNone/>
            </a:pPr>
            <a:r>
              <a:rPr lang="en-US" sz="2400" b="1" dirty="0">
                <a:solidFill>
                  <a:schemeClr val="bg2"/>
                </a:solidFill>
              </a:rPr>
              <a:t>Thank you. Questions?</a:t>
            </a:r>
            <a:endParaRPr lang="en-US" sz="1800" dirty="0"/>
          </a:p>
        </p:txBody>
      </p:sp>
    </p:spTree>
  </p:cSld>
  <p:clrMapOvr>
    <a:masterClrMapping/>
  </p:clrMapOvr>
</p:sld>
</file>

<file path=ppt/theme/theme1.xml><?xml version="1.0" encoding="utf-8"?>
<a:theme xmlns:a="http://schemas.openxmlformats.org/drawingml/2006/main" name="NIS16 Mesh">
  <a:themeElements>
    <a:clrScheme name="NIS16 Mesh">
      <a:dk1>
        <a:srgbClr val="1B2329"/>
      </a:dk1>
      <a:lt1>
        <a:srgbClr val="FFFFFF"/>
      </a:lt1>
      <a:dk2>
        <a:srgbClr val="0B2E3C"/>
      </a:dk2>
      <a:lt2>
        <a:srgbClr val="EAF2F3"/>
      </a:lt2>
      <a:accent1>
        <a:srgbClr val="0E7C86"/>
      </a:accent1>
      <a:accent2>
        <a:srgbClr val="E89B2D"/>
      </a:accent2>
      <a:accent3>
        <a:srgbClr val="C8414F"/>
      </a:accent3>
      <a:accent4>
        <a:srgbClr val="4E8F55"/>
      </a:accent4>
      <a:accent5>
        <a:srgbClr val="6B7C8A"/>
      </a:accent5>
      <a:accent6>
        <a:srgbClr val="1F5568"/>
      </a:accent6>
      <a:hlink>
        <a:srgbClr val="0E7C86"/>
      </a:hlink>
      <a:folHlink>
        <a:srgbClr val="6B7C8A"/>
      </a:folHlink>
    </a:clrScheme>
    <a:fontScheme name="NIS16 Mes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3 Defense - Cross-Layer ESP32 Mesh Dataset</dc:title>
  <dc:subject>PptxGenJS Presentation</dc:subject>
  <dc:creator>NIS16</dc:creator>
  <cp:lastModifiedBy>NIS16</cp:lastModifiedBy>
  <cp:revision>1</cp:revision>
  <dcterms:created xsi:type="dcterms:W3CDTF">2026-10-20T14:24:39Z</dcterms:created>
  <dcterms:modified xsi:type="dcterms:W3CDTF">2026-10-20T14:24:39Z</dcterms:modified>
</cp:coreProperties>
</file>