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ad6ab13-9136-7718-fe38-b6b07415bc66}">
          <p14:sldIdLst>
            <p14:sldId id="256"/>
            <p14:sldId id="257"/>
          </p14:sldIdLst>
        </p14:section>
        <p14:section name="Recap: Chapters 1-3" id="{eb64911c-353c-0295-9fc6-395d92226223}">
          <p14:sldIdLst>
            <p14:sldId id="258"/>
            <p14:sldId id="259"/>
            <p14:sldId id="260"/>
            <p14:sldId id="261"/>
            <p14:sldId id="262"/>
          </p14:sldIdLst>
        </p14:section>
        <p14:section name="Chapter 4: Research Design" id="{c089f743-0097-55ad-ee35-09befa2cf8a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esults so far" id="{7d5153c3-672c-5131-b9e1-0ae184a9c918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3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E3C"/>
                </a:solidFill>
                <a:latin typeface="+mn-lt"/>
              </a:rPr>
              <a:t>Attack runs per topology (18 planned each)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Blackhole processed</c:v>
                </c:pt>
              </c:strCache>
            </c:strRef>
          </c:tx>
          <c:spPr>
            <a:solidFill>
              <a:srgbClr val="C8414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</c:v>
                  </c:pt>
                  <c:pt idx="1">
                    <c:v>Star</c:v>
                  </c:pt>
                  <c:pt idx="2">
                    <c:v>Tree</c:v>
                  </c:pt>
                  <c:pt idx="3">
                    <c:v>Partial mesh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9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Wormhole processed</c:v>
                </c:pt>
              </c:strCache>
            </c:strRef>
          </c:tx>
          <c:spPr>
            <a:solidFill>
              <a:srgbClr val="E89B2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</c:v>
                  </c:pt>
                  <c:pt idx="1">
                    <c:v>Star</c:v>
                  </c:pt>
                  <c:pt idx="2">
                    <c:v>Tree</c:v>
                  </c:pt>
                  <c:pt idx="3">
                    <c:v>Partial mesh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Still to capture</c:v>
                </c:pt>
              </c:strCache>
            </c:strRef>
          </c:tx>
          <c:spPr>
            <a:solidFill>
              <a:srgbClr val="D5DEE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</c:v>
                  </c:pt>
                  <c:pt idx="1">
                    <c:v>Star</c:v>
                  </c:pt>
                  <c:pt idx="2">
                    <c:v>Tree</c:v>
                  </c:pt>
                  <c:pt idx="3">
                    <c:v>Partial mesh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9</c:v>
                </c:pt>
                <c:pt idx="2">
                  <c:v>10</c:v>
                </c:pt>
                <c:pt idx="3">
                  <c:v>9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6350" cap="flat">
              <a:solidFill>
                <a:srgbClr val="D5DE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3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E3C"/>
                </a:solidFill>
                <a:latin typeface="+mn-lt"/>
              </a:rPr>
              <a:t>Per-phase values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Attacker ForwardingRatio</c:v>
                </c:pt>
              </c:strCache>
            </c:strRef>
          </c:tx>
          <c:spPr>
            <a:solidFill>
              <a:srgbClr val="C841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Attack</c:v>
                  </c:pt>
                  <c:pt idx="2">
                    <c:v>Cooldown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0.001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Victims' PDR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Attack</c:v>
                  </c:pt>
                  <c:pt idx="2">
                    <c:v>Cooldown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0.999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5DEE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3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E3C"/>
                </a:solidFill>
                <a:latin typeface="+mn-lt"/>
              </a:rPr>
              <a:t>Single-threshold accuracy per run, mean (34 runs, Oct. 15)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accuracy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PDR</c:v>
                  </c:pt>
                  <c:pt idx="1">
                    <c:v>LatencyHopRatio</c:v>
                  </c:pt>
                  <c:pt idx="2">
                    <c:v>ConsistencyScore</c:v>
                  </c:pt>
                  <c:pt idx="3">
                    <c:v>ForwardingRatio</c:v>
                  </c:pt>
                  <c:pt idx="4">
                    <c:v>IngressEgressDelta</c:v>
                  </c:pt>
                  <c:pt idx="5">
                    <c:v>RSSI_mean</c:v>
                  </c:pt>
                  <c:pt idx="6">
                    <c:v>HopChangeCount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0.863</c:v>
                </c:pt>
                <c:pt idx="1">
                  <c:v>0.851</c:v>
                </c:pt>
                <c:pt idx="2">
                  <c:v>0.845</c:v>
                </c:pt>
                <c:pt idx="3">
                  <c:v>0.845</c:v>
                </c:pt>
                <c:pt idx="4">
                  <c:v>0.735</c:v>
                </c:pt>
                <c:pt idx="5">
                  <c:v>0.702</c:v>
                </c:pt>
                <c:pt idx="6">
                  <c:v>0.7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b"/>
        <c:majorGridlines>
          <c:spPr>
            <a:ln w="6350" cap="flat">
              <a:solidFill>
                <a:srgbClr val="D5DEE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title and team. Say up front: chapters 1 to 3 are a short refresher, because the panel last saw them months ago; most of the time goes to chapter 4 (how the dataset is built and validated) and the results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of the 9 months. Thesis 2 approved the design; Thesis 3 is the build and the data campaign. Highlight what changed since the panel last saw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 in one slide: simulation-based datasets do not show how routing attacks look on ESP32 hardware across layers. That is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unchanged from the approved paper. Stress the scope line: we build and analyse a dataset; we do not deploy an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takeaways from the review of related literature. The dataset gap (bottom-left) is the one the study answers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framework: normal behaviour is a set of consistent relationships; an attack breaks specific ones. That is why the features are ratios and mismatches, not raw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The data collector is a file import after the run, not live collection over the mesh — so an attack cannot destroy its own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truth comes from the schedule, not from the data. Formation rows are excluded. Since Oct. 17 the root holds the baseline until the gates pass and someone types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Blackhole is an application-layer emulation. Be ready for the question "why not route attraction?": there is no API to write the routing table, so the attacker position is an experimental variable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wire plays the role of the GSM/GPRS tunnel in Zhukabayeva et al. Only Node B's own probes are tunnelled, so a wormhole run has no victims; every other node is "not tunnelled". Be honest that the false-neighbour effect is not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4.4 and 4.5. We list the criteria that fail as well — the route-attraction and false-neighbour parts — because they follow from the application-layer emulation.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4.17, 4.19, 4.21, 4.23. Mention that the partial mesh behaved as a plain tree in all nine runs — no node was seen under a second parent during the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4.16, 4.18, 4.20, 4.22. The star wormhole is the open design question: D-28 hub-star. First hub-star attempts on Oct. 20 failed because the hub board browned out — hardware, not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matrix. Scenarios exist so traffic volume alone cannot reveal an attack. Single run per cell is a limitation we state: site and run-to-run noise cannot be separated.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4.8 to 4.12. Be precise about MAC: ESP-IDF exposes no per-link retry counter, so real MAC retries come only from the sniffer.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4.2.4.1. The sequence-number join matters: clocks drift by minutes between 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4.17. Each group maps to a Chapter 3 relationship. RetryRate (app counters) is a dataset column only; MacRetryRate comes from the sniffer.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 never guide the clustering; they are used only to interpret clusters afterwards. Clustering runs once collection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4.1.3. A run that fails the setup check is "not confirmed" however clear the statistics look. Outcome per run: PASS, FAIL or INCONCLUSIVE.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Blackhole is complete except one held-out tree run. Wormhole is done on the linear chain at all sites and scenarios; star, tree and partial still need captures. Benign runs are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tools/verify_attack.py run on all campus runs on Oct. 20, 2026 (verification #71).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Verifier output, verification #71. Cooldown PDR 0.999 is from the cooldown windows of the same feature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 delivery from the verifier's UART check. Highload sends 4 probes a second, so ~720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Per-cell EDA output from the analysis pipeline. Stress the wording: a description, not a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4.21, provisional. This answers the Thesis 2 panel concern that one feature might decide everything: it does in some runs, and we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4.23, corrected on Oct. 20 (the earlier 76% figure was from an old capture). Our baseline PDR is per one-second window; Khan's comes from a five-day stability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4.1.3.4. Be upfront: the sniffer figure is from the Oct. 19 tables and must be recomputed once the PCAPs are merged back (checklist B-mrr).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1.4.1 and 4.1.3.5. Naming limits first takes the sting out of panel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5 is written only from the final tables. The jitter scenario is out (team decision, Oct. 20); the remaining open design question for the adviser is the hub-star wormhole (D-28).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contribution and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331720"/>
            <a:ext cx="9326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474720"/>
            <a:ext cx="9326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NIS16 · Cross-Layer Dataset of an ESP32 ESP-WIFI-MESH Network · Thesis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Dataset Design and Exploratory Analysis of an ESP32-Based ESP-WIFI-MESH Network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Thesis 3 defense · NIS16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Calpoporo, Jose Angelo C. · Carlos, Miguel Sebastian C. · Ong, Kyle Edward M. · Reinante, Christian Victor 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Adviser: Mr. Gregory G. Cu · College of Computer Studies, De La Salle University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October 24,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months in four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31720" y="1988820"/>
            <a:ext cx="19202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Thesis 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606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Proposal: the gap, the objectives, the planned testbed and features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66360" y="1988820"/>
            <a:ext cx="19202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38328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Thesis 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063240"/>
            <a:ext cx="2606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Approved design paper (March 15, 2026); panel comments listed for Thesis 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01000" y="1988820"/>
            <a:ext cx="19202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21792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063240"/>
            <a:ext cx="2606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Firmware for both attacks, microSD logging, 20 MHz radio, verifier and analysis pipeline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966960" y="16002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6696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Thesis 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063240"/>
            <a:ext cx="2606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campaign at three DLSU sites (Sept. 30 – now) and this final paper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892040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changed since Thesis 2: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boards per run (root + 7 children), three campus sites, three traffic scenarios, an SD-card copy of every log, an independent sniffer, and a 3-sigma verifier that checks every run before it enters the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33172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of Chapters 1 to 3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47472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Problem, objectives, literature and the theory the dataset rests on — in four slides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1-3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no real ESP32 mesh attack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ESP32 mesh networks are cheap and used in IoT monitoring, but attack research on them is done in simulation.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000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Simulated 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30175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Most IDS datasets come from simulators or IP networks (KDD, NSL-KDD, UNR-IDD), not from mesh hardware.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37744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5000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Missing layers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30175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Packet or flow datasets do not hold the PHY, MAC and network signals of a microcontroller mesh together.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377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35000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Real attacks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017520"/>
            <a:ext cx="30175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Blackhole and wormhole attacks are well studied in theory; how they look on real ESP32 boards is not documented.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Gap this study fills: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hardware-derived, labelled, cross-layer dataset from a real ESP-WIFI-MESH network under normal operation and two controlled attacks.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General objective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50292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Design, generate and analyse a cross-layer dataset from an ESP32 mesh to explore how normal operation differs from controlled attacks.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Specific objectives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337560"/>
            <a:ext cx="4434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an ESP32 mesh testbed with normal and attack traffic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206240"/>
            <a:ext cx="4434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Collect PHY, MAC and network features into a labelled dataset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74920"/>
            <a:ext cx="4434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the dataset with EDA and unsupervised clustering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234440"/>
            <a:ext cx="5212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Scope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737360"/>
            <a:ext cx="52120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attacks: blackhole (forwarding suppression) and wormhole (out-of-band tunnel), emulated at the application layer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 ESP32 boards per run: one root and seven children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Three indoor DLSU sites on an isolated mesh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dataset and its exploratory analysis — not an intrusion detection system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literature told us (Chapter 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Attacks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937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Blackhole and wormhole detection is mature in simulation (e.g. Bhatti: 98–99% in ns-2), weaker on real systems.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Datasets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48840"/>
            <a:ext cx="4937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Existing datasets lack ESP-WIFI-MESH behaviour, cross-layer metrics, real-hardware attacks and several topologies.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5020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Platform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4937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ESP32 mesh is proven in the field: Khan et al. report delivery above 97% on a campus deployment.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7764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95020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Method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17720"/>
            <a:ext cx="4937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Labelled attack data is scarce in IoT, which motivates EDA and unsupervised clustering.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behind the dataset (Chapter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Normal mesh traffic keeps a set of cross-layer relationships. An attack breaks some of them, and the features measure the break.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Relationship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Under normal operation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When it breaks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5176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6888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Received ≈ forwarded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468880"/>
            <a:ext cx="3840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relay passes on what it gets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46888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Blackhole: received ≫ forwarded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38328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copy per probe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3383280"/>
            <a:ext cx="3840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probe reaches the root once, by one path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Wormhole: a second copy through the tunnel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480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9768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Delay follows hops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297680"/>
            <a:ext cx="3840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Deeper nodes take longer to reach the root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29768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Wormhole: a shortcut breaks the pattern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39496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394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21208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Parent layer &lt; child layer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tree stays consistent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5212080"/>
            <a:ext cx="3657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Watched: not expected to change here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33172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4: Research Design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47472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the testbed runs, how both attacks are built, how data is collected, turned into features and checked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boards to dataset</a:t>
            </a:r>
            <a:endParaRPr lang="en-US" sz="3000" dirty="0"/>
          </a:p>
        </p:txBody>
      </p:sp>
      <p:pic>
        <p:nvPicPr>
          <p:cNvPr id="3" name="Image 0" descr="C:\Users\Basti\AppData\Local\Temp\claude\s--My-Work-Business-Claude-AI-OS\0ab24a58-0f30-461e-a540-2897b1eafd74\scratchpad\deck\img\image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0316"/>
            <a:ext cx="6400800" cy="2985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Figure 4.1 Architecture Design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1216152"/>
            <a:ext cx="37490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board logs at 10 Hz to flash and a microSD card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21762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112264"/>
            <a:ext cx="37490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Logs are imported after the run (card reader or USB)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0" y="30723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3008376"/>
            <a:ext cx="37490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Preprocessing: one-second windows, labels kept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0" y="39684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3904488"/>
            <a:ext cx="37490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Features: forwarding, delivery, topology, RSSI, tunnel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15200" y="4864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4800600"/>
            <a:ext cx="37490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EDA and clustering on the windowed table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64008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937760"/>
            <a:ext cx="6035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Independent check: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laptop sniffer outside the mesh records the 802.11 frames, so attack evidence never rests only on the attacker counting its own drops.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follows the same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15568" cy="1188720"/>
          </a:xfrm>
          <a:prstGeom prst="roundRect">
            <a:avLst>
              <a:gd name="adj" fmla="val 65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11556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Formation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≥ 60 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115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label 255, excluded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417320"/>
            <a:ext cx="3767328" cy="118872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1417320"/>
            <a:ext cx="376732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Baseline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300 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697480"/>
            <a:ext cx="376732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label 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417320"/>
            <a:ext cx="2304288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1417320"/>
            <a:ext cx="230428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Attack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180 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697480"/>
            <a:ext cx="23042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label 1 blackhole / 2 wormhole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1572768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417320"/>
            <a:ext cx="157276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Cooldown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120 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2697480"/>
            <a:ext cx="15727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label 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1417320"/>
            <a:ext cx="1463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→ Terminate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630168"/>
            <a:ext cx="2560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Root controls it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297680"/>
            <a:ext cx="3063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Phase sent to every node in 5 rounds, 100 ms apart, one sequence number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Repeated every 10 s for nodes that rejoin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97680" y="342900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657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630168"/>
            <a:ext cx="2560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Gates before START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297680"/>
            <a:ext cx="3063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child present, tree attacker has a child, wormhole ends report UART OK with A shallower (D-22)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Operator types START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46720" y="342900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65760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3630168"/>
            <a:ext cx="2560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Labels by schedule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297680"/>
            <a:ext cx="3063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row carries the phase it was logged 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Labels never come from a feature threshold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Blackhole: forwarding suppression</a:t>
            </a:r>
            <a:endParaRPr lang="en-US" sz="3000" dirty="0"/>
          </a:p>
        </p:txBody>
      </p:sp>
      <p:pic>
        <p:nvPicPr>
          <p:cNvPr id="3" name="Image 0" descr="C:\Users\Basti\AppData\Local\Temp\claude\s--My-Work-Business-Claude-AI-OS\0ab24a58-0f30-461e-a540-2897b1eafd74\scratchpad\deck\img\image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46" y="1280160"/>
            <a:ext cx="4713668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Figure 4.4 Attacker as intentional relay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280160"/>
            <a:ext cx="5943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node relays its children's probes one hop up and counts received, forwarded and dropped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attacker runs the same relay; in the attack phase it simply does not call esp_mesh_send()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still acknowledges every frame at the link layer, so victims see no send failure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Received = forwarded + dropped on every node, so forwarding features exist on all relays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0" y="4892040"/>
            <a:ext cx="5943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4956048"/>
            <a:ext cx="55778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Not reproduced: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luring traffic with a false route. ESP-WIFI-MESH lets an app read its routing table but not write it, so the attacker is a placed relay (D-20).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Wormhole: an out-of-band tunnel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2011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0" y="201168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4960" y="201168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2011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54480" y="2423160"/>
            <a:ext cx="731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3108960" y="2423160"/>
            <a:ext cx="731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2423160"/>
            <a:ext cx="731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2423160"/>
            <a:ext cx="731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2697480" y="3154680"/>
            <a:ext cx="46634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2697480" y="2834640"/>
            <a:ext cx="0" cy="320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60920" y="2834640"/>
            <a:ext cx="0" cy="320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743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UART wire, 115200 baud, 30-byte frames with CRC32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normal path: hop by hop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840480"/>
            <a:ext cx="69494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Node B (deeper) sends each probe normally and, in the attack phase, also writes it to the wire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Node A (shallower) re-injects it toward the root, tagged so the root keeps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root receives every B probe twice, by two paths, with different delays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Ends are chosen at run time by mesh depth and locked at phase 0 (D-17)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63840" y="1280160"/>
            <a:ext cx="3749040" cy="480060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it shows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1828800"/>
            <a:ext cx="32918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packet-level signature of a wormhole: duplicate arrivals and a delay mismatch.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What it does not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3657600"/>
            <a:ext cx="32918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mesh never routes over the wire, so no false neighbour appears and the tree does not change (D-20).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published definitions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40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Blackhole vs Airehrour et al. [70]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83664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the forwarding path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96896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96312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Receives, then drops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10128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09544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Stays protocol-compliant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23360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22776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Delivery collapses, node reachable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736592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✗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36008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Attracts traffic with a false route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234440"/>
            <a:ext cx="5440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Wormhole vs Hu, Perrig &amp; Johnson [46]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72200" y="1783080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883664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1783080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colluding endpoints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72200" y="2496312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596896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496312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Out-of-band channel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72200" y="3209544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310128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3209544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Captured at one end, replayed at the other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3922776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023360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0936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3922776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keys or hosts compromised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172200" y="4636008"/>
            <a:ext cx="54406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736592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936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✗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4636008"/>
            <a:ext cx="466344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Creates a false neighbour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Evidence: G402 linear stationary — attacker forwarded 1 of 1,077 probes and all six victims fell from PDR 1.000 to 0.000. All nine linear wormhole runs — the root saw duplicate arrivals in 179–193 attack windows each, none in baseline or cooldown.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topologies under the blackhole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4" name="Image 0" descr="C:\Users\Basti\AppData\Local\Temp\claude\s--My-Work-Business-Claude-AI-OS\0ab24a58-0f30-461e-a540-2897b1eafd74\scratchpad\deck\img\topology_star_blackh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43050"/>
            <a:ext cx="2560320" cy="2537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364992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7" name="Image 1" descr="C:\Users\Basti\AppData\Local\Temp\claude\s--My-Work-Business-Claude-AI-OS\0ab24a58-0f30-461e-a540-2897b1eafd74\scratchpad\deck\img\topology_tree_blackh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789717"/>
            <a:ext cx="2560320" cy="204412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64992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181344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10" name="Image 2" descr="C:\Users\Basti\AppData\Local\Temp\claude\s--My-Work-Business-Claude-AI-OS\0ab24a58-0f30-461e-a540-2897b1eafd74\scratchpad\deck\img\topology_linear_blackh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01704"/>
            <a:ext cx="2560320" cy="122015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81344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Linear chain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997696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13" name="Image 3" descr="C:\Users\Basti\AppData\Local\Temp\claude\s--My-Work-Business-Claude-AI-OS\0ab24a58-0f30-461e-a540-2897b1eafd74\scratchpad\deck\img\topology_partial_blackho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1789717"/>
            <a:ext cx="2560320" cy="204412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97696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Partial mesh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Layouts come from board placement plus the ESP-IDF topology option; the mesh still builds its own tree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Star: the attacker is the hub and the root sits one hop behind it (D-16)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attacker's depth and number of victims vary by run; the drawings show one example layout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topologies under the wormhole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4" name="Image 0" descr="C:\Users\Basti\AppData\Local\Temp\claude\s--My-Work-Business-Claude-AI-OS\0ab24a58-0f30-461e-a540-2897b1eafd74\scratchpad\deck\img\topology_star_wormh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43050"/>
            <a:ext cx="2560320" cy="2537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364992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7" name="Image 1" descr="C:\Users\Basti\AppData\Local\Temp\claude\s--My-Work-Business-Claude-AI-OS\0ab24a58-0f30-461e-a540-2897b1eafd74\scratchpad\deck\img\topology_tree_wormh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789717"/>
            <a:ext cx="2560320" cy="204412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64992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181344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10" name="Image 2" descr="C:\Users\Basti\AppData\Local\Temp\claude\s--My-Work-Business-Claude-AI-OS\0ab24a58-0f30-461e-a540-2897b1eafd74\scratchpad\deck\img\topology_linear_wormh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01704"/>
            <a:ext cx="2560320" cy="122015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81344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Linear chain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997696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2"/>
            </a:solidFill>
            <a:prstDash val="solid"/>
          </a:ln>
        </p:spPr>
      </p:sp>
      <p:pic>
        <p:nvPicPr>
          <p:cNvPr id="13" name="Image 3" descr="C:\Users\Basti\AppData\Local\Temp\claude\s--My-Work-Business-Claude-AI-OS\0ab24a58-0f30-461e-a540-2897b1eafd74\scratchpad\deck\img\topology_partial_wormho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1789717"/>
            <a:ext cx="2560320" cy="204412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97696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Partial mesh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tunnel must skip hops, so Node A must sit shallower than Node 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 a flat star both ends are at hop 1 and nothing is skipped: the team proposes making end A the hub with the root behind it (D-28, adviser to confirm)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nine processed wormhole runs are on the linear chain so far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Sites, scenarios and the run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Three sites — different Wi-Fi interference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37360"/>
            <a:ext cx="4663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G402 (GCCS)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Controlled classroom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4864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06040"/>
            <a:ext cx="4663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DLSU Library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Small area of a busy library, heavy Wi-Fi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Yuchengco Building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Area within the building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Three traffic scenarios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5303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73736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Stationary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Probe every 1 s — the reference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606040"/>
            <a:ext cx="5303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743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6060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Burst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300 probes back to back, 60 s into the attack window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3474720"/>
            <a:ext cx="5303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611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47472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Highload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child probes every 250 ms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617720"/>
            <a:ext cx="10607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 topologies × 2 attacks × 3 sites × 3 scenarios = 72 attack runs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+ 9 matched benign runs (one per scenario at every site) = 81 runs. Each cell is run once, so the three sites act as the repeats.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board records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21488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RSSI to the parent, 10 Hz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Radio fixed at 20 MHz (HT20) so the sniffer can decode frames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4992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3592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33672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MAC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148840"/>
            <a:ext cx="21488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MacRetryRate from the sniffer's 802.11 Retry bit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retry_count / tx_count are app counters, kept but not analysed (D-15)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81344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15087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50024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Network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148840"/>
            <a:ext cx="21488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Layer / hop, parent MAC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Probes sent, received, forwarded, dropped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Root logs every probe arrival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Tunnel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148840"/>
            <a:ext cx="21488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Frames written (B), received and re-injected (A)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Wormhole runs only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892040"/>
            <a:ext cx="10607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Storage: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flash plus a microSD mirror (fsync every 5 s). Nothing is streamed over the mesh during a run, so the attack cannot destroy its own evidence. None of the 435 campus capture files is empty.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rows to one-second windows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Align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280160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Boards share no clock, so each node is aligned to its own exit from phase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12848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Window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212848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Non-overlapping 1 s windows on a 10 Hz grid; fewer than 8 of 10 samples = discarded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45536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Fill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145536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Gaps of 1–2 samples inside a kept window are filled (D-9)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513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78224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078224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Cumulative counters become per-window deltas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8406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010912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5010912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PDR joins root arrivals to each node on the sequence number, never on time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63840" y="1280160"/>
            <a:ext cx="3749040" cy="4800600"/>
          </a:xfrm>
          <a:prstGeom prst="roundRect">
            <a:avLst>
              <a:gd name="adj" fmla="val 195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1463040"/>
            <a:ext cx="32918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One row =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one node × one 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Node-level rows keep the local effect visible: the attacker's forwarding falls while the nodes behind it lose delivery. A network average would hide both.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Features, grouped by what they measure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Forwarding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ForwardingRatio, IngressEgressDelta, ConsistencyScore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087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48132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PDR per child per window (blank when nothing was sent)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087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48132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Topology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ParentSwitchRate, HopChangeCount, HopStabilityDuration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0448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Physical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RSSI mean, variance, stability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97680" y="370332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319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90448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Cross-layer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RSSI_Hop_Diff, LatencyHopRatio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0332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31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390448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Tunnel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TunnelIntensity, TunnelBytes, TunnelLatency, DuplicateRate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plan: EDA, then clustering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Exploratory data analysis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9377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Distributions of ForwardingRatio and RSSI_Hop_Diff by phase and role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Time series of PDR, ForwardingRatio and root arrivals over the run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Pearson and Spearman correlations: all, baseline only, attack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PCA and t-SNE on z-scored features (clipped at ±5)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Descriptive only — no detection claims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44068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Clustering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48840"/>
            <a:ext cx="49377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DBSCAN (primary), K-Means, Ward hierarchical, GMM, spectral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 and reduced feature sets; seeds 42, 7 and 123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Internal quality: silhouette, Davies–Bouldin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Labels used only afterwards: purity and adjusted Rand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If wormhole windows do not separate, that is reported as a finding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run is validated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3-sigma test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attack-phase window is flagged when it lies more than 3 baseline standard deviations from the baseline mean (Zhukabayeva et al.)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Setup check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Topology during the attack, attacker position, victims alive but cut off; for the wormhole, B deeper than A and the wire carried the probes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0448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Published studies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4937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Direction and rough size compared with Airehrour, Khan, Zhukabayeva and Ramírez Gómez — consistency, not proof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90448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Leakage audit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572000"/>
            <a:ext cx="4937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one feature alone separate attack from normal? If so, it is reported, not hidden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33172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so far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47472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Run status, verified attacks, first EDA and how our numbers compare — provisional until all 81 runs are 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status, October 20, 2026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188720"/>
            <a:ext cx="3931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72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2121408"/>
            <a:ext cx="3931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attack runs processed: 35 blackhole + 9 wormhole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9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675888"/>
            <a:ext cx="3931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matched benign runs captured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4434840"/>
            <a:ext cx="39319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captures held out: tree/G402/highload (one board has no data), wormhole tree/DLSU (4 boards &lt; 95%), and 3 wormhole runs not yet analysed. 37 runs remain.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processed run passes the verifier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35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12848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blackhole runs PASS: signature, setup and data complete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212848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wormhole runs PASS on the linear chain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212848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parent switches or hop changes inside any wormhole attack window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29000"/>
            <a:ext cx="1060704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Blackhole: attacker forwarding drops to 0% in every run; victims lose delivery while bystanders keep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Wormhole: the wire delivered 99–101% of Node B's frames; the root saw duplicate arrivals in 179–193 attack windows per run and none outside the attack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Partial mesh: in all nine runs each node stayed under one parent during the attack, so these runs behave as trees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runs rated INCONCLUSIVE and held out; nothing in the processed set relies on them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Blackhole example: G402, linear, stationary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98080" y="1280160"/>
            <a:ext cx="4114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Root → attacker → six victims in a chain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783080"/>
            <a:ext cx="41148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attacker received 1,077 probes in the attack and forwarded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six victims fell from PDR 1.000 to 0.000, then recovered in cooldown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Baseline never varied (sd = 0), so the move is beyond any sigma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Neighbours confirm it: the attacker's children handed it probes its parent never received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Wormhole example: the second copy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55448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→ A frames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windows with 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DLSU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/ 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DLSU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 / 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DLSU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 / 720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 / 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/ 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716 / 720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Yuchengco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 / 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Yuchengco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/ 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Yuchengco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 / 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Linear chain, all nine runs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783080"/>
            <a:ext cx="39319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DLSU stationary: the root saw both copies in 180 attack windows, about 3.6 ms apart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duplicates in baseline or cooldown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Both primary signatures (TunnelIntensity, DuplicateRate) move from 0 to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TunnelLatency is reported, not tested: it has no baseline to test against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EDA view: attack windows sit apart</a:t>
            </a:r>
            <a:endParaRPr lang="en-US" sz="3000" dirty="0"/>
          </a:p>
        </p:txBody>
      </p:sp>
      <p:pic>
        <p:nvPicPr>
          <p:cNvPr id="3" name="Image 0" descr="C:\Users\Basti\AppData\Local\Temp\claude\s--My-Work-Business-Claude-AI-OS\0ab24a58-0f30-461e-a540-2897b1eafd74\scratchpad\deck\img\bh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20" y="1234440"/>
            <a:ext cx="917448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PCA (left) and t-SNE (right) of the G402 linear stationary blackhole run, z-scored features. Red = attack windows, blue = baseline, orange = cooldown.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This describes a picture of one run. It is not a detection result; the pooled clustering will test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one feature decide it? The leakage audit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Majority-class rate ≈ 0.70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783080"/>
            <a:ext cx="39319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PDR and LatencyHopRatio reach ≥ 0.95 in 12 runs each (9 star + 3 linear)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Expected: a blackhole drops everything, so the collapse is separable by construction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RSSI and hop features stay at the majority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Pooled audit over all runs follows once collection ends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our numbers compare with published work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310896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under an unmitigated blackhole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60–75% [70]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(six victims 1.000 → 0.000)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the range: every routed probe is lost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delivery, same ESP32 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97% [22]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PDR 1.000 (G402); 0.998 mean over all victims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or above the benchmark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instability under attack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16–246 rank changes [70]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no parent switches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Differs: suppression does not change routes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Wormhole effect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 count 4 → 3, delay up ~40% [71]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arrivals, no hop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matches: the copy, not the shortcut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64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Platforms, scales and protocols differ, so the comparison is about direction and rough size, not equal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we tested and did not see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Victims retransmit more (blackhole)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9377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 observed: the attacker still acknowledges every frame at the link layer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Sniffer: MacRetryRate rose in 8 of 22 covered runs (Oct. 19 tables) — no consistent rise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 counters did not change in any of the 34 runs of Oct. 15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4406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481328"/>
            <a:ext cx="4434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Topology distorts (wormhole)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48840"/>
            <a:ext cx="49377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 observed: no parent switch or hop change inside any attack window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mesh never routes over the wire, so the tree stays the same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tunnel reproduces the duplicate-delivery signature without the topological 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92040"/>
            <a:ext cx="10607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keep them: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Tables 3.4 and 3.5 were written before any capture. Reporting what did not happen is part of the result. The sniffer count is being recomputed after a re-analysis dropped the sniffer column.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we state in the paper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Emulated attacks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route attraction (blackhole) and no false neighbour (wormhole) — D-20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087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48132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run per cell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Sites act as repeats; site and run noise cannot be separated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087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48132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Fixed schedule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attack starts at the same time in every run, so position is kept out of model inputs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0448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Partial mesh = tree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node used a second parent in nine runs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97680" y="370332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319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90448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Small testbed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boards indoors; not a large or outdoor network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0332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319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3904488"/>
            <a:ext cx="2514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Open checks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SD fsync mid-run reset test (D-13); star wormhole design (D-28)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left before the final paper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20116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Capture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325880"/>
            <a:ext cx="8138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37 runs: wormhole on star, tree and partial mesh, plus all 9 benign runs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Re-analyse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14600"/>
            <a:ext cx="8138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Merge the sniffer captures back, then recompute MacRetryRate results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Cluster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703320"/>
            <a:ext cx="8138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the five algorithms on the pooled table and report purity and ARI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92040"/>
            <a:ext cx="20116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Write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892040"/>
            <a:ext cx="8138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Chapter 5 from the final tables only; pooled leakage audit; clear every placeholder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labelled, cross-layer dataset from a real ESP32 mesh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44 verified attack runs so far, two emulated attacks, four topologies, three sites — every run checked before it enters the dataset.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</a:rPr>
              <a:t>Thank you.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S16 Mesh">
  <a:themeElements>
    <a:clrScheme name="NIS16 Mesh">
      <a:dk1>
        <a:srgbClr val="1B2329"/>
      </a:dk1>
      <a:lt1>
        <a:srgbClr val="FFFFFF"/>
      </a:lt1>
      <a:dk2>
        <a:srgbClr val="0B2E3C"/>
      </a:dk2>
      <a:lt2>
        <a:srgbClr val="EAF2F3"/>
      </a:lt2>
      <a:accent1>
        <a:srgbClr val="0E7C86"/>
      </a:accent1>
      <a:accent2>
        <a:srgbClr val="E89B2D"/>
      </a:accent2>
      <a:accent3>
        <a:srgbClr val="C8414F"/>
      </a:accent3>
      <a:accent4>
        <a:srgbClr val="4E8F55"/>
      </a:accent4>
      <a:accent5>
        <a:srgbClr val="6B7C8A"/>
      </a:accent5>
      <a:accent6>
        <a:srgbClr val="1F5568"/>
      </a:accent6>
      <a:hlink>
        <a:srgbClr val="0E7C86"/>
      </a:hlink>
      <a:folHlink>
        <a:srgbClr val="6B7C8A"/>
      </a:folHlink>
    </a:clrScheme>
    <a:fontScheme name="NIS16 Mes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3 Defense - Cross-Layer ESP32 Mesh Dataset</dc:title>
  <dc:subject>PptxGenJS Presentation</dc:subject>
  <dc:creator>NIS16</dc:creator>
  <cp:lastModifiedBy>NIS16</cp:lastModifiedBy>
  <cp:revision>1</cp:revision>
  <dcterms:created xsi:type="dcterms:W3CDTF">2026-10-20T14:24:39Z</dcterms:created>
  <dcterms:modified xsi:type="dcterms:W3CDTF">2026-10-20T14:24:39Z</dcterms:modified>
</cp:coreProperties>
</file>