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Montserrat" charset="1" panose="00000500000000000000"/>
      <p:regular r:id="rId29"/>
    </p:embeddedFont>
    <p:embeddedFont>
      <p:font typeface="Montserrat Bold" charset="1" panose="00000800000000000000"/>
      <p:regular r:id="rId30"/>
    </p:embeddedFont>
    <p:embeddedFont>
      <p:font typeface="Arial Nova Bold" charset="1" panose="020B08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34340"/>
            <a:ext cx="16498082" cy="64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The ESP32 Wi-Fi firmware is closed-source binary, so attacks are emulated at the application layer using normal esp_mesh_send / esp_mesh_recv calls (no raw 802.11 frames are touched).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804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Blackhole attack — what it does: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 single attacker node positioned to receive probe traffic from victims.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Victims address probes directly to the attacker's MAC (behavioral equivalent of a false short-route advertisement).</a:t>
            </a:r>
          </a:p>
          <a:p>
            <a:pPr algn="l" marL="779358" indent="-259786" lvl="2">
              <a:lnSpc>
                <a:spcPts val="2165"/>
              </a:lnSpc>
              <a:buFont typeface="Arial"/>
              <a:buChar char="⚬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Baseline / cooldown phases: attacker forwards probes normally to root.</a:t>
            </a:r>
          </a:p>
          <a:p>
            <a:pPr algn="l" marL="779358" indent="-259786" lvl="2">
              <a:lnSpc>
                <a:spcPts val="2165"/>
              </a:lnSpc>
              <a:buFont typeface="Arial"/>
              <a:buChar char="⚬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Attack phase: attacker silently stops calling esp_mesh_send — packets vanish.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Observable signature: zero forwarded probes reach the root during the attack window.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804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Wormhole attack — what it does: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Two attacker nodes: Attacker B placed near victims, Attacker A placed near root.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 wired UART link between A and B acts as the out-of-band tunnel (this is what makes it a wormhole rather than ordinary forwarding).</a:t>
            </a:r>
          </a:p>
          <a:p>
            <a:pPr algn="l" marL="779358" indent="-259786" lvl="2">
              <a:lnSpc>
                <a:spcPts val="2165"/>
              </a:lnSpc>
              <a:buFont typeface="Arial"/>
              <a:buChar char="⚬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Attacker B captures probe metadata from local mesh traffic during the attack phase.</a:t>
            </a:r>
          </a:p>
          <a:p>
            <a:pPr algn="l" marL="779358" indent="-259786" lvl="2">
              <a:lnSpc>
                <a:spcPts val="2165"/>
              </a:lnSpc>
              <a:buFont typeface="Arial"/>
              <a:buChar char="⚬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Metadata is shipped through UART to Attacker A; CRC-protected to detect errors.</a:t>
            </a:r>
          </a:p>
          <a:p>
            <a:pPr algn="l" marL="779358" indent="-259786" lvl="2">
              <a:lnSpc>
                <a:spcPts val="2165"/>
              </a:lnSpc>
              <a:buFont typeface="Arial"/>
              <a:buChar char="⚬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Attacker A reconstructs a replica probe and re-injects it toward root via the legitimate mesh path.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Observable signature: the same logical probe arrives at root twice — once via slow multi-hop, once via fast wormhole shortcut, with a measurable latency mismatch.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804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Criteria: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Blackhole: root logs show the expected drop in arrivals during the attack window and normal arrivals before and after.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Wormhole: root logs show duplicate probe arrivals with measurable latency difference during the attack window.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Both attacks toggle cleanly on phase transitions; no leakage into baseline windows.</a:t>
            </a:r>
          </a:p>
          <a:p>
            <a:pPr algn="l" marL="389679" indent="-194840" lvl="1">
              <a:lnSpc>
                <a:spcPts val="2165"/>
              </a:lnSpc>
              <a:buFont typeface="Arial"/>
              <a:buChar char="•"/>
            </a:pPr>
            <a:r>
              <a:rPr lang="en-US" sz="1804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Behavior is consistent across all four topologies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804930"/>
            <a:ext cx="7575274" cy="6177979"/>
          </a:xfrm>
          <a:custGeom>
            <a:avLst/>
            <a:gdLst/>
            <a:ahLst/>
            <a:cxnLst/>
            <a:rect r="r" b="b" t="t" l="l"/>
            <a:pathLst>
              <a:path h="6177979" w="7575274">
                <a:moveTo>
                  <a:pt x="0" y="0"/>
                </a:moveTo>
                <a:lnTo>
                  <a:pt x="7575274" y="0"/>
                </a:lnTo>
                <a:lnTo>
                  <a:pt x="7575274" y="6177979"/>
                </a:lnTo>
                <a:lnTo>
                  <a:pt x="0" y="6177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0657" y="4326026"/>
            <a:ext cx="9932691" cy="3135788"/>
          </a:xfrm>
          <a:custGeom>
            <a:avLst/>
            <a:gdLst/>
            <a:ahLst/>
            <a:cxnLst/>
            <a:rect r="r" b="b" t="t" l="l"/>
            <a:pathLst>
              <a:path h="3135788" w="9932691">
                <a:moveTo>
                  <a:pt x="0" y="0"/>
                </a:moveTo>
                <a:lnTo>
                  <a:pt x="9932691" y="0"/>
                </a:lnTo>
                <a:lnTo>
                  <a:pt x="9932691" y="3135788"/>
                </a:lnTo>
                <a:lnTo>
                  <a:pt x="0" y="31357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10477" y="5834372"/>
            <a:ext cx="1299979" cy="482865"/>
            <a:chOff x="0" y="0"/>
            <a:chExt cx="342381" cy="1271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381" cy="127174"/>
            </a:xfrm>
            <a:custGeom>
              <a:avLst/>
              <a:gdLst/>
              <a:ahLst/>
              <a:cxnLst/>
              <a:rect r="r" b="b" t="t" l="l"/>
              <a:pathLst>
                <a:path h="127174" w="342381">
                  <a:moveTo>
                    <a:pt x="0" y="0"/>
                  </a:moveTo>
                  <a:lnTo>
                    <a:pt x="342381" y="0"/>
                  </a:lnTo>
                  <a:lnTo>
                    <a:pt x="342381" y="127174"/>
                  </a:lnTo>
                  <a:lnTo>
                    <a:pt x="0" y="127174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342381" cy="3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50568" y="9220200"/>
            <a:ext cx="53868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133305" y="5834372"/>
            <a:ext cx="775985" cy="482865"/>
            <a:chOff x="0" y="0"/>
            <a:chExt cx="204375" cy="1271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375" cy="127174"/>
            </a:xfrm>
            <a:custGeom>
              <a:avLst/>
              <a:gdLst/>
              <a:ahLst/>
              <a:cxnLst/>
              <a:rect r="r" b="b" t="t" l="l"/>
              <a:pathLst>
                <a:path h="127174" w="204375">
                  <a:moveTo>
                    <a:pt x="0" y="0"/>
                  </a:moveTo>
                  <a:lnTo>
                    <a:pt x="204375" y="0"/>
                  </a:lnTo>
                  <a:lnTo>
                    <a:pt x="204375" y="127174"/>
                  </a:lnTo>
                  <a:lnTo>
                    <a:pt x="0" y="127174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0"/>
              <a:ext cx="204375" cy="3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4862" y="3270587"/>
            <a:ext cx="8778069" cy="5700264"/>
          </a:xfrm>
          <a:custGeom>
            <a:avLst/>
            <a:gdLst/>
            <a:ahLst/>
            <a:cxnLst/>
            <a:rect r="r" b="b" t="t" l="l"/>
            <a:pathLst>
              <a:path h="5700264" w="8778069">
                <a:moveTo>
                  <a:pt x="0" y="0"/>
                </a:moveTo>
                <a:lnTo>
                  <a:pt x="8778069" y="0"/>
                </a:lnTo>
                <a:lnTo>
                  <a:pt x="8778069" y="5700264"/>
                </a:lnTo>
                <a:lnTo>
                  <a:pt x="0" y="5700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16059" y="3329710"/>
            <a:ext cx="9878570" cy="2384969"/>
          </a:xfrm>
          <a:custGeom>
            <a:avLst/>
            <a:gdLst/>
            <a:ahLst/>
            <a:cxnLst/>
            <a:rect r="r" b="b" t="t" l="l"/>
            <a:pathLst>
              <a:path h="2384969" w="9878570">
                <a:moveTo>
                  <a:pt x="0" y="0"/>
                </a:moveTo>
                <a:lnTo>
                  <a:pt x="9878570" y="0"/>
                </a:lnTo>
                <a:lnTo>
                  <a:pt x="9878570" y="2384969"/>
                </a:lnTo>
                <a:lnTo>
                  <a:pt x="0" y="2384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18072" y="4881014"/>
            <a:ext cx="2587977" cy="390460"/>
            <a:chOff x="0" y="0"/>
            <a:chExt cx="681607" cy="102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1607" cy="102837"/>
            </a:xfrm>
            <a:custGeom>
              <a:avLst/>
              <a:gdLst/>
              <a:ahLst/>
              <a:cxnLst/>
              <a:rect r="r" b="b" t="t" l="l"/>
              <a:pathLst>
                <a:path h="102837" w="681607">
                  <a:moveTo>
                    <a:pt x="0" y="0"/>
                  </a:moveTo>
                  <a:lnTo>
                    <a:pt x="681607" y="0"/>
                  </a:lnTo>
                  <a:lnTo>
                    <a:pt x="681607" y="102837"/>
                  </a:lnTo>
                  <a:lnTo>
                    <a:pt x="0" y="10283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681607" cy="7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233261" y="6354593"/>
            <a:ext cx="9786163" cy="2761812"/>
          </a:xfrm>
          <a:custGeom>
            <a:avLst/>
            <a:gdLst/>
            <a:ahLst/>
            <a:cxnLst/>
            <a:rect r="r" b="b" t="t" l="l"/>
            <a:pathLst>
              <a:path h="2761812" w="9786163">
                <a:moveTo>
                  <a:pt x="0" y="0"/>
                </a:moveTo>
                <a:lnTo>
                  <a:pt x="9786162" y="0"/>
                </a:lnTo>
                <a:lnTo>
                  <a:pt x="9786162" y="2761812"/>
                </a:lnTo>
                <a:lnTo>
                  <a:pt x="0" y="27618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39" t="0" r="-1739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01385" y="6460862"/>
            <a:ext cx="2684586" cy="459785"/>
            <a:chOff x="0" y="0"/>
            <a:chExt cx="707051" cy="121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051" cy="121096"/>
            </a:xfrm>
            <a:custGeom>
              <a:avLst/>
              <a:gdLst/>
              <a:ahLst/>
              <a:cxnLst/>
              <a:rect r="r" b="b" t="t" l="l"/>
              <a:pathLst>
                <a:path h="121096" w="707051">
                  <a:moveTo>
                    <a:pt x="0" y="0"/>
                  </a:moveTo>
                  <a:lnTo>
                    <a:pt x="707051" y="0"/>
                  </a:lnTo>
                  <a:lnTo>
                    <a:pt x="707051" y="121096"/>
                  </a:lnTo>
                  <a:lnTo>
                    <a:pt x="0" y="121096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0"/>
              <a:ext cx="707051" cy="25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8895" y="9220200"/>
            <a:ext cx="549021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1009" y="3943020"/>
            <a:ext cx="9465775" cy="4970019"/>
          </a:xfrm>
          <a:custGeom>
            <a:avLst/>
            <a:gdLst/>
            <a:ahLst/>
            <a:cxnLst/>
            <a:rect r="r" b="b" t="t" l="l"/>
            <a:pathLst>
              <a:path h="4970019" w="9465775">
                <a:moveTo>
                  <a:pt x="0" y="0"/>
                </a:moveTo>
                <a:lnTo>
                  <a:pt x="9465775" y="0"/>
                </a:lnTo>
                <a:lnTo>
                  <a:pt x="9465775" y="4970019"/>
                </a:lnTo>
                <a:lnTo>
                  <a:pt x="0" y="4970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1949" y="6796986"/>
            <a:ext cx="12036066" cy="1919916"/>
          </a:xfrm>
          <a:custGeom>
            <a:avLst/>
            <a:gdLst/>
            <a:ahLst/>
            <a:cxnLst/>
            <a:rect r="r" b="b" t="t" l="l"/>
            <a:pathLst>
              <a:path h="1919916" w="12036066">
                <a:moveTo>
                  <a:pt x="0" y="0"/>
                </a:moveTo>
                <a:lnTo>
                  <a:pt x="12036066" y="0"/>
                </a:lnTo>
                <a:lnTo>
                  <a:pt x="12036066" y="1919916"/>
                </a:lnTo>
                <a:lnTo>
                  <a:pt x="0" y="1919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01949" y="7617199"/>
            <a:ext cx="1462869" cy="482865"/>
            <a:chOff x="0" y="0"/>
            <a:chExt cx="385282" cy="1271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5282" cy="127174"/>
            </a:xfrm>
            <a:custGeom>
              <a:avLst/>
              <a:gdLst/>
              <a:ahLst/>
              <a:cxnLst/>
              <a:rect r="r" b="b" t="t" l="l"/>
              <a:pathLst>
                <a:path h="127174" w="385282">
                  <a:moveTo>
                    <a:pt x="0" y="0"/>
                  </a:moveTo>
                  <a:lnTo>
                    <a:pt x="385282" y="0"/>
                  </a:lnTo>
                  <a:lnTo>
                    <a:pt x="385282" y="127174"/>
                  </a:lnTo>
                  <a:lnTo>
                    <a:pt x="0" y="127174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385282" cy="3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4041" y="9220200"/>
            <a:ext cx="505991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737909" y="7617199"/>
            <a:ext cx="839730" cy="482865"/>
            <a:chOff x="0" y="0"/>
            <a:chExt cx="221163" cy="1271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63" cy="127174"/>
            </a:xfrm>
            <a:custGeom>
              <a:avLst/>
              <a:gdLst/>
              <a:ahLst/>
              <a:cxnLst/>
              <a:rect r="r" b="b" t="t" l="l"/>
              <a:pathLst>
                <a:path h="127174" w="221163">
                  <a:moveTo>
                    <a:pt x="0" y="0"/>
                  </a:moveTo>
                  <a:lnTo>
                    <a:pt x="221163" y="0"/>
                  </a:lnTo>
                  <a:lnTo>
                    <a:pt x="221163" y="127174"/>
                  </a:lnTo>
                  <a:lnTo>
                    <a:pt x="0" y="127174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0"/>
              <a:ext cx="221163" cy="3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872" y="3715591"/>
            <a:ext cx="8718323" cy="5189910"/>
          </a:xfrm>
          <a:custGeom>
            <a:avLst/>
            <a:gdLst/>
            <a:ahLst/>
            <a:cxnLst/>
            <a:rect r="r" b="b" t="t" l="l"/>
            <a:pathLst>
              <a:path h="5189910" w="8718323">
                <a:moveTo>
                  <a:pt x="0" y="0"/>
                </a:moveTo>
                <a:lnTo>
                  <a:pt x="8718323" y="0"/>
                </a:lnTo>
                <a:lnTo>
                  <a:pt x="8718323" y="5189909"/>
                </a:lnTo>
                <a:lnTo>
                  <a:pt x="0" y="5189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27287" y="3188762"/>
            <a:ext cx="12760713" cy="1576860"/>
          </a:xfrm>
          <a:custGeom>
            <a:avLst/>
            <a:gdLst/>
            <a:ahLst/>
            <a:cxnLst/>
            <a:rect r="r" b="b" t="t" l="l"/>
            <a:pathLst>
              <a:path h="1576860" w="12760713">
                <a:moveTo>
                  <a:pt x="0" y="0"/>
                </a:moveTo>
                <a:lnTo>
                  <a:pt x="12760713" y="0"/>
                </a:lnTo>
                <a:lnTo>
                  <a:pt x="12760713" y="1576860"/>
                </a:lnTo>
                <a:lnTo>
                  <a:pt x="0" y="15768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08862" y="4282757"/>
            <a:ext cx="1525086" cy="482865"/>
            <a:chOff x="0" y="0"/>
            <a:chExt cx="401669" cy="1271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1669" cy="127174"/>
            </a:xfrm>
            <a:custGeom>
              <a:avLst/>
              <a:gdLst/>
              <a:ahLst/>
              <a:cxnLst/>
              <a:rect r="r" b="b" t="t" l="l"/>
              <a:pathLst>
                <a:path h="127174" w="401669">
                  <a:moveTo>
                    <a:pt x="0" y="0"/>
                  </a:moveTo>
                  <a:lnTo>
                    <a:pt x="401669" y="0"/>
                  </a:lnTo>
                  <a:lnTo>
                    <a:pt x="401669" y="127174"/>
                  </a:lnTo>
                  <a:lnTo>
                    <a:pt x="0" y="127174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401669" cy="3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640952" y="6310546"/>
            <a:ext cx="11647048" cy="1921382"/>
          </a:xfrm>
          <a:custGeom>
            <a:avLst/>
            <a:gdLst/>
            <a:ahLst/>
            <a:cxnLst/>
            <a:rect r="r" b="b" t="t" l="l"/>
            <a:pathLst>
              <a:path h="1921382" w="11647048">
                <a:moveTo>
                  <a:pt x="0" y="0"/>
                </a:moveTo>
                <a:lnTo>
                  <a:pt x="11647048" y="0"/>
                </a:lnTo>
                <a:lnTo>
                  <a:pt x="11647048" y="1921382"/>
                </a:lnTo>
                <a:lnTo>
                  <a:pt x="0" y="1921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845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9153" y="9220200"/>
            <a:ext cx="516969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Star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96536" y="6788372"/>
            <a:ext cx="1337412" cy="482865"/>
            <a:chOff x="0" y="0"/>
            <a:chExt cx="352240" cy="1271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2240" cy="127174"/>
            </a:xfrm>
            <a:custGeom>
              <a:avLst/>
              <a:gdLst/>
              <a:ahLst/>
              <a:cxnLst/>
              <a:rect r="r" b="b" t="t" l="l"/>
              <a:pathLst>
                <a:path h="127174" w="352240">
                  <a:moveTo>
                    <a:pt x="0" y="0"/>
                  </a:moveTo>
                  <a:lnTo>
                    <a:pt x="352240" y="0"/>
                  </a:lnTo>
                  <a:lnTo>
                    <a:pt x="352240" y="127174"/>
                  </a:lnTo>
                  <a:lnTo>
                    <a:pt x="0" y="127174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0"/>
              <a:ext cx="352240" cy="3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8309" y="3595757"/>
            <a:ext cx="8786720" cy="5231269"/>
          </a:xfrm>
          <a:custGeom>
            <a:avLst/>
            <a:gdLst/>
            <a:ahLst/>
            <a:cxnLst/>
            <a:rect r="r" b="b" t="t" l="l"/>
            <a:pathLst>
              <a:path h="5231269" w="8786720">
                <a:moveTo>
                  <a:pt x="0" y="0"/>
                </a:moveTo>
                <a:lnTo>
                  <a:pt x="8786720" y="0"/>
                </a:lnTo>
                <a:lnTo>
                  <a:pt x="8786720" y="5231269"/>
                </a:lnTo>
                <a:lnTo>
                  <a:pt x="0" y="52312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03073" y="5442291"/>
            <a:ext cx="9984927" cy="1564590"/>
          </a:xfrm>
          <a:custGeom>
            <a:avLst/>
            <a:gdLst/>
            <a:ahLst/>
            <a:cxnLst/>
            <a:rect r="r" b="b" t="t" l="l"/>
            <a:pathLst>
              <a:path h="1564590" w="9984927">
                <a:moveTo>
                  <a:pt x="0" y="0"/>
                </a:moveTo>
                <a:lnTo>
                  <a:pt x="9984927" y="0"/>
                </a:lnTo>
                <a:lnTo>
                  <a:pt x="9984927" y="1564590"/>
                </a:lnTo>
                <a:lnTo>
                  <a:pt x="0" y="1564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704864" y="6112500"/>
            <a:ext cx="695776" cy="458385"/>
            <a:chOff x="0" y="0"/>
            <a:chExt cx="183250" cy="120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250" cy="120727"/>
            </a:xfrm>
            <a:custGeom>
              <a:avLst/>
              <a:gdLst/>
              <a:ahLst/>
              <a:cxnLst/>
              <a:rect r="r" b="b" t="t" l="l"/>
              <a:pathLst>
                <a:path h="120727" w="183250">
                  <a:moveTo>
                    <a:pt x="0" y="0"/>
                  </a:moveTo>
                  <a:lnTo>
                    <a:pt x="183250" y="0"/>
                  </a:lnTo>
                  <a:lnTo>
                    <a:pt x="183250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183250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61574" y="6112500"/>
            <a:ext cx="884021" cy="458385"/>
            <a:chOff x="0" y="0"/>
            <a:chExt cx="232828" cy="120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2828" cy="120727"/>
            </a:xfrm>
            <a:custGeom>
              <a:avLst/>
              <a:gdLst/>
              <a:ahLst/>
              <a:cxnLst/>
              <a:rect r="r" b="b" t="t" l="l"/>
              <a:pathLst>
                <a:path h="120727" w="232828">
                  <a:moveTo>
                    <a:pt x="0" y="0"/>
                  </a:moveTo>
                  <a:lnTo>
                    <a:pt x="232828" y="0"/>
                  </a:lnTo>
                  <a:lnTo>
                    <a:pt x="232828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0"/>
              <a:ext cx="232828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8323" y="9404676"/>
            <a:ext cx="511135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099643"/>
            <a:ext cx="10344411" cy="6158657"/>
          </a:xfrm>
          <a:custGeom>
            <a:avLst/>
            <a:gdLst/>
            <a:ahLst/>
            <a:cxnLst/>
            <a:rect r="r" b="b" t="t" l="l"/>
            <a:pathLst>
              <a:path h="6158657" w="10344411">
                <a:moveTo>
                  <a:pt x="0" y="0"/>
                </a:moveTo>
                <a:lnTo>
                  <a:pt x="10344411" y="0"/>
                </a:lnTo>
                <a:lnTo>
                  <a:pt x="10344411" y="6158657"/>
                </a:lnTo>
                <a:lnTo>
                  <a:pt x="0" y="6158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55129" y="3846623"/>
            <a:ext cx="10632871" cy="2593753"/>
          </a:xfrm>
          <a:custGeom>
            <a:avLst/>
            <a:gdLst/>
            <a:ahLst/>
            <a:cxnLst/>
            <a:rect r="r" b="b" t="t" l="l"/>
            <a:pathLst>
              <a:path h="2593753" w="10632871">
                <a:moveTo>
                  <a:pt x="0" y="0"/>
                </a:moveTo>
                <a:lnTo>
                  <a:pt x="10632871" y="0"/>
                </a:lnTo>
                <a:lnTo>
                  <a:pt x="10632871" y="2593754"/>
                </a:lnTo>
                <a:lnTo>
                  <a:pt x="0" y="2593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617813" y="5458865"/>
            <a:ext cx="1793346" cy="458385"/>
            <a:chOff x="0" y="0"/>
            <a:chExt cx="472322" cy="120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322" cy="120727"/>
            </a:xfrm>
            <a:custGeom>
              <a:avLst/>
              <a:gdLst/>
              <a:ahLst/>
              <a:cxnLst/>
              <a:rect r="r" b="b" t="t" l="l"/>
              <a:pathLst>
                <a:path h="120727" w="472322">
                  <a:moveTo>
                    <a:pt x="0" y="0"/>
                  </a:moveTo>
                  <a:lnTo>
                    <a:pt x="472322" y="0"/>
                  </a:lnTo>
                  <a:lnTo>
                    <a:pt x="472322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472322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6650" y="9220200"/>
            <a:ext cx="52147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266646"/>
            <a:ext cx="8178016" cy="5254548"/>
          </a:xfrm>
          <a:custGeom>
            <a:avLst/>
            <a:gdLst/>
            <a:ahLst/>
            <a:cxnLst/>
            <a:rect r="r" b="b" t="t" l="l"/>
            <a:pathLst>
              <a:path h="5254548" w="8178016">
                <a:moveTo>
                  <a:pt x="0" y="0"/>
                </a:moveTo>
                <a:lnTo>
                  <a:pt x="8178016" y="0"/>
                </a:lnTo>
                <a:lnTo>
                  <a:pt x="8178016" y="5254548"/>
                </a:lnTo>
                <a:lnTo>
                  <a:pt x="0" y="5254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10370" y="4145883"/>
            <a:ext cx="10577630" cy="2897154"/>
          </a:xfrm>
          <a:custGeom>
            <a:avLst/>
            <a:gdLst/>
            <a:ahLst/>
            <a:cxnLst/>
            <a:rect r="r" b="b" t="t" l="l"/>
            <a:pathLst>
              <a:path h="2897154" w="10577630">
                <a:moveTo>
                  <a:pt x="0" y="0"/>
                </a:moveTo>
                <a:lnTo>
                  <a:pt x="10577630" y="0"/>
                </a:lnTo>
                <a:lnTo>
                  <a:pt x="10577630" y="2897154"/>
                </a:lnTo>
                <a:lnTo>
                  <a:pt x="0" y="28971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86760" y="9220200"/>
            <a:ext cx="63144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Partial Mesh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10370" y="5594460"/>
            <a:ext cx="1239177" cy="458385"/>
            <a:chOff x="0" y="0"/>
            <a:chExt cx="326368" cy="120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6368" cy="120727"/>
            </a:xfrm>
            <a:custGeom>
              <a:avLst/>
              <a:gdLst/>
              <a:ahLst/>
              <a:cxnLst/>
              <a:rect r="r" b="b" t="t" l="l"/>
              <a:pathLst>
                <a:path h="120727" w="326368">
                  <a:moveTo>
                    <a:pt x="0" y="0"/>
                  </a:moveTo>
                  <a:lnTo>
                    <a:pt x="326368" y="0"/>
                  </a:lnTo>
                  <a:lnTo>
                    <a:pt x="326368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0"/>
              <a:ext cx="326368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49640" y="5594460"/>
            <a:ext cx="1239177" cy="458385"/>
            <a:chOff x="0" y="0"/>
            <a:chExt cx="326368" cy="1207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368" cy="120727"/>
            </a:xfrm>
            <a:custGeom>
              <a:avLst/>
              <a:gdLst/>
              <a:ahLst/>
              <a:cxnLst/>
              <a:rect r="r" b="b" t="t" l="l"/>
              <a:pathLst>
                <a:path h="120727" w="326368">
                  <a:moveTo>
                    <a:pt x="0" y="0"/>
                  </a:moveTo>
                  <a:lnTo>
                    <a:pt x="326368" y="0"/>
                  </a:lnTo>
                  <a:lnTo>
                    <a:pt x="326368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0"/>
              <a:ext cx="326368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01" y="3394091"/>
            <a:ext cx="8209838" cy="5274994"/>
          </a:xfrm>
          <a:custGeom>
            <a:avLst/>
            <a:gdLst/>
            <a:ahLst/>
            <a:cxnLst/>
            <a:rect r="r" b="b" t="t" l="l"/>
            <a:pathLst>
              <a:path h="5274994" w="8209838">
                <a:moveTo>
                  <a:pt x="0" y="0"/>
                </a:moveTo>
                <a:lnTo>
                  <a:pt x="8209838" y="0"/>
                </a:lnTo>
                <a:lnTo>
                  <a:pt x="8209838" y="5274994"/>
                </a:lnTo>
                <a:lnTo>
                  <a:pt x="0" y="52749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27177" y="3627472"/>
            <a:ext cx="10515758" cy="1660383"/>
          </a:xfrm>
          <a:custGeom>
            <a:avLst/>
            <a:gdLst/>
            <a:ahLst/>
            <a:cxnLst/>
            <a:rect r="r" b="b" t="t" l="l"/>
            <a:pathLst>
              <a:path h="1660383" w="10515758">
                <a:moveTo>
                  <a:pt x="0" y="0"/>
                </a:moveTo>
                <a:lnTo>
                  <a:pt x="10515758" y="0"/>
                </a:lnTo>
                <a:lnTo>
                  <a:pt x="10515758" y="1660383"/>
                </a:lnTo>
                <a:lnTo>
                  <a:pt x="0" y="16603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4054" y="4685115"/>
            <a:ext cx="1763171" cy="458385"/>
            <a:chOff x="0" y="0"/>
            <a:chExt cx="464374" cy="120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4374" cy="120727"/>
            </a:xfrm>
            <a:custGeom>
              <a:avLst/>
              <a:gdLst/>
              <a:ahLst/>
              <a:cxnLst/>
              <a:rect r="r" b="b" t="t" l="l"/>
              <a:pathLst>
                <a:path h="120727" w="464374">
                  <a:moveTo>
                    <a:pt x="0" y="0"/>
                  </a:moveTo>
                  <a:lnTo>
                    <a:pt x="464374" y="0"/>
                  </a:lnTo>
                  <a:lnTo>
                    <a:pt x="464374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464374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54542" y="5747429"/>
            <a:ext cx="10388393" cy="1896577"/>
          </a:xfrm>
          <a:custGeom>
            <a:avLst/>
            <a:gdLst/>
            <a:ahLst/>
            <a:cxnLst/>
            <a:rect r="r" b="b" t="t" l="l"/>
            <a:pathLst>
              <a:path h="1896577" w="10388393">
                <a:moveTo>
                  <a:pt x="0" y="0"/>
                </a:moveTo>
                <a:lnTo>
                  <a:pt x="10388393" y="0"/>
                </a:lnTo>
                <a:lnTo>
                  <a:pt x="10388393" y="1896577"/>
                </a:lnTo>
                <a:lnTo>
                  <a:pt x="0" y="1896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5152" y="1907240"/>
            <a:ext cx="1746284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APPLICATION-LAYER ATTACK MODULE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2976" y="9220200"/>
            <a:ext cx="496204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Partial Mesh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89581" y="6383230"/>
            <a:ext cx="1763171" cy="458385"/>
            <a:chOff x="0" y="0"/>
            <a:chExt cx="464374" cy="1207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4374" cy="120727"/>
            </a:xfrm>
            <a:custGeom>
              <a:avLst/>
              <a:gdLst/>
              <a:ahLst/>
              <a:cxnLst/>
              <a:rect r="r" b="b" t="t" l="l"/>
              <a:pathLst>
                <a:path h="120727" w="464374">
                  <a:moveTo>
                    <a:pt x="0" y="0"/>
                  </a:moveTo>
                  <a:lnTo>
                    <a:pt x="464374" y="0"/>
                  </a:lnTo>
                  <a:lnTo>
                    <a:pt x="464374" y="120727"/>
                  </a:lnTo>
                  <a:lnTo>
                    <a:pt x="0" y="120727"/>
                  </a:lnTo>
                  <a:close/>
                </a:path>
              </a:pathLst>
            </a:custGeom>
            <a:ln w="5715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0"/>
              <a:ext cx="464374" cy="2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MULTI-TOPOLOGY TESTBED DEPLOYMENT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86634"/>
            <a:ext cx="15817504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Physically deploy and verify the mesh in all four topology configurations from the proposal.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Topologies to deploy: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Star — every node connects directly to the root (single-hop tree).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Tree — hierarchical structure with intermediate forwarding nodes.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Linear chain — nodes arranged in a line; each reaches only adjacent neighbors (forces long multi-hop paths).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Partial mesh — some nodes have multiple potential parents (most realistic for real-world deployments).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Setup constraints: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5 to 10 ESP32 nodes, positions fixed and documented per topology.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Criteria: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Each topology converges to its intended parent-child structure within 60 seconds.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Structure is verified by inspecting parent-MAC and layer values in root logs.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Mesh remains stable through a full 5-minute baseline phase (no spontaneous re-routing).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Both attacks show their expected signatures in all four topologies. 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219854" y="10121890"/>
            <a:ext cx="1848291" cy="0"/>
          </a:xfrm>
          <a:prstGeom prst="line">
            <a:avLst/>
          </a:prstGeom>
          <a:ln cap="flat" w="38100">
            <a:solidFill>
              <a:srgbClr val="01012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MULTI-TOPOLOGY TESTBED DEPLOYMENT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0748" y="2824410"/>
            <a:ext cx="3094875" cy="3073935"/>
          </a:xfrm>
          <a:custGeom>
            <a:avLst/>
            <a:gdLst/>
            <a:ahLst/>
            <a:cxnLst/>
            <a:rect r="r" b="b" t="t" l="l"/>
            <a:pathLst>
              <a:path h="3073935" w="3094875">
                <a:moveTo>
                  <a:pt x="0" y="0"/>
                </a:moveTo>
                <a:lnTo>
                  <a:pt x="3094875" y="0"/>
                </a:lnTo>
                <a:lnTo>
                  <a:pt x="3094875" y="3073935"/>
                </a:lnTo>
                <a:lnTo>
                  <a:pt x="0" y="3073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0748" y="6563647"/>
            <a:ext cx="3094875" cy="3229435"/>
          </a:xfrm>
          <a:custGeom>
            <a:avLst/>
            <a:gdLst/>
            <a:ahLst/>
            <a:cxnLst/>
            <a:rect r="r" b="b" t="t" l="l"/>
            <a:pathLst>
              <a:path h="3229435" w="3094875">
                <a:moveTo>
                  <a:pt x="0" y="0"/>
                </a:moveTo>
                <a:lnTo>
                  <a:pt x="3094875" y="0"/>
                </a:lnTo>
                <a:lnTo>
                  <a:pt x="3094875" y="3229435"/>
                </a:lnTo>
                <a:lnTo>
                  <a:pt x="0" y="3229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19773" y="6563647"/>
            <a:ext cx="4600162" cy="3229435"/>
          </a:xfrm>
          <a:custGeom>
            <a:avLst/>
            <a:gdLst/>
            <a:ahLst/>
            <a:cxnLst/>
            <a:rect r="r" b="b" t="t" l="l"/>
            <a:pathLst>
              <a:path h="3229435" w="4600162">
                <a:moveTo>
                  <a:pt x="0" y="0"/>
                </a:moveTo>
                <a:lnTo>
                  <a:pt x="4600162" y="0"/>
                </a:lnTo>
                <a:lnTo>
                  <a:pt x="4600162" y="3229435"/>
                </a:lnTo>
                <a:lnTo>
                  <a:pt x="0" y="3229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19773" y="3081990"/>
            <a:ext cx="4590223" cy="2621404"/>
          </a:xfrm>
          <a:custGeom>
            <a:avLst/>
            <a:gdLst/>
            <a:ahLst/>
            <a:cxnLst/>
            <a:rect r="r" b="b" t="t" l="l"/>
            <a:pathLst>
              <a:path h="2621404" w="4590223">
                <a:moveTo>
                  <a:pt x="0" y="0"/>
                </a:moveTo>
                <a:lnTo>
                  <a:pt x="4590223" y="0"/>
                </a:lnTo>
                <a:lnTo>
                  <a:pt x="4590223" y="2621404"/>
                </a:lnTo>
                <a:lnTo>
                  <a:pt x="0" y="26214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75047" y="7755697"/>
            <a:ext cx="2837670" cy="645769"/>
            <a:chOff x="0" y="0"/>
            <a:chExt cx="3783560" cy="86102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768185" y="0"/>
              <a:ext cx="2264472" cy="861025"/>
              <a:chOff x="0" y="0"/>
              <a:chExt cx="447303" cy="17007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47303" cy="170079"/>
              </a:xfrm>
              <a:custGeom>
                <a:avLst/>
                <a:gdLst/>
                <a:ahLst/>
                <a:cxnLst/>
                <a:rect r="r" b="b" t="t" l="l"/>
                <a:pathLst>
                  <a:path h="170079" w="447303">
                    <a:moveTo>
                      <a:pt x="85040" y="0"/>
                    </a:moveTo>
                    <a:lnTo>
                      <a:pt x="362264" y="0"/>
                    </a:lnTo>
                    <a:cubicBezTo>
                      <a:pt x="384818" y="0"/>
                      <a:pt x="406448" y="8959"/>
                      <a:pt x="422396" y="24908"/>
                    </a:cubicBezTo>
                    <a:cubicBezTo>
                      <a:pt x="438344" y="40856"/>
                      <a:pt x="447303" y="62486"/>
                      <a:pt x="447303" y="85040"/>
                    </a:cubicBezTo>
                    <a:lnTo>
                      <a:pt x="447303" y="85040"/>
                    </a:lnTo>
                    <a:cubicBezTo>
                      <a:pt x="447303" y="132006"/>
                      <a:pt x="409230" y="170079"/>
                      <a:pt x="362264" y="170079"/>
                    </a:cubicBezTo>
                    <a:lnTo>
                      <a:pt x="85040" y="170079"/>
                    </a:lnTo>
                    <a:cubicBezTo>
                      <a:pt x="38074" y="170079"/>
                      <a:pt x="0" y="132006"/>
                      <a:pt x="0" y="85040"/>
                    </a:cubicBezTo>
                    <a:lnTo>
                      <a:pt x="0" y="85040"/>
                    </a:lnTo>
                    <a:cubicBezTo>
                      <a:pt x="0" y="38074"/>
                      <a:pt x="38074" y="0"/>
                      <a:pt x="85040" y="0"/>
                    </a:cubicBezTo>
                    <a:close/>
                  </a:path>
                </a:pathLst>
              </a:custGeom>
              <a:ln w="19050" cap="rnd">
                <a:solidFill>
                  <a:srgbClr val="01012C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0"/>
                <a:ext cx="447303" cy="748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9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220963"/>
              <a:ext cx="378356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1012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Wormhole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75047" y="4038493"/>
            <a:ext cx="2837670" cy="645769"/>
            <a:chOff x="0" y="0"/>
            <a:chExt cx="3783560" cy="86102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768185" y="0"/>
              <a:ext cx="2264472" cy="861025"/>
              <a:chOff x="0" y="0"/>
              <a:chExt cx="447303" cy="17007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47303" cy="170079"/>
              </a:xfrm>
              <a:custGeom>
                <a:avLst/>
                <a:gdLst/>
                <a:ahLst/>
                <a:cxnLst/>
                <a:rect r="r" b="b" t="t" l="l"/>
                <a:pathLst>
                  <a:path h="170079" w="447303">
                    <a:moveTo>
                      <a:pt x="85040" y="0"/>
                    </a:moveTo>
                    <a:lnTo>
                      <a:pt x="362264" y="0"/>
                    </a:lnTo>
                    <a:cubicBezTo>
                      <a:pt x="384818" y="0"/>
                      <a:pt x="406448" y="8959"/>
                      <a:pt x="422396" y="24908"/>
                    </a:cubicBezTo>
                    <a:cubicBezTo>
                      <a:pt x="438344" y="40856"/>
                      <a:pt x="447303" y="62486"/>
                      <a:pt x="447303" y="85040"/>
                    </a:cubicBezTo>
                    <a:lnTo>
                      <a:pt x="447303" y="85040"/>
                    </a:lnTo>
                    <a:cubicBezTo>
                      <a:pt x="447303" y="132006"/>
                      <a:pt x="409230" y="170079"/>
                      <a:pt x="362264" y="170079"/>
                    </a:cubicBezTo>
                    <a:lnTo>
                      <a:pt x="85040" y="170079"/>
                    </a:lnTo>
                    <a:cubicBezTo>
                      <a:pt x="38074" y="170079"/>
                      <a:pt x="0" y="132006"/>
                      <a:pt x="0" y="85040"/>
                    </a:cubicBezTo>
                    <a:lnTo>
                      <a:pt x="0" y="85040"/>
                    </a:lnTo>
                    <a:cubicBezTo>
                      <a:pt x="0" y="38074"/>
                      <a:pt x="38074" y="0"/>
                      <a:pt x="85040" y="0"/>
                    </a:cubicBezTo>
                    <a:close/>
                  </a:path>
                </a:pathLst>
              </a:custGeom>
              <a:ln w="19050" cap="rnd">
                <a:solidFill>
                  <a:srgbClr val="01012C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95250"/>
                <a:ext cx="447303" cy="748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9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20963"/>
              <a:ext cx="378356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1012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Blackhole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697805" y="7075333"/>
            <a:ext cx="4261625" cy="2006497"/>
          </a:xfrm>
          <a:custGeom>
            <a:avLst/>
            <a:gdLst/>
            <a:ahLst/>
            <a:cxnLst/>
            <a:rect r="r" b="b" t="t" l="l"/>
            <a:pathLst>
              <a:path h="2006497" w="4261625">
                <a:moveTo>
                  <a:pt x="0" y="0"/>
                </a:moveTo>
                <a:lnTo>
                  <a:pt x="4261625" y="0"/>
                </a:lnTo>
                <a:lnTo>
                  <a:pt x="4261625" y="2006497"/>
                </a:lnTo>
                <a:lnTo>
                  <a:pt x="0" y="20064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38596" y="3386790"/>
            <a:ext cx="4180042" cy="1970784"/>
          </a:xfrm>
          <a:custGeom>
            <a:avLst/>
            <a:gdLst/>
            <a:ahLst/>
            <a:cxnLst/>
            <a:rect r="r" b="b" t="t" l="l"/>
            <a:pathLst>
              <a:path h="1970784" w="4180042">
                <a:moveTo>
                  <a:pt x="0" y="0"/>
                </a:moveTo>
                <a:lnTo>
                  <a:pt x="4180042" y="0"/>
                </a:lnTo>
                <a:lnTo>
                  <a:pt x="4180042" y="1970784"/>
                </a:lnTo>
                <a:lnTo>
                  <a:pt x="0" y="19707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00390" y="6535113"/>
            <a:ext cx="3067116" cy="3286503"/>
          </a:xfrm>
          <a:custGeom>
            <a:avLst/>
            <a:gdLst/>
            <a:ahLst/>
            <a:cxnLst/>
            <a:rect r="r" b="b" t="t" l="l"/>
            <a:pathLst>
              <a:path h="3286503" w="3067116">
                <a:moveTo>
                  <a:pt x="0" y="0"/>
                </a:moveTo>
                <a:lnTo>
                  <a:pt x="3067116" y="0"/>
                </a:lnTo>
                <a:lnTo>
                  <a:pt x="3067116" y="3286503"/>
                </a:lnTo>
                <a:lnTo>
                  <a:pt x="0" y="3286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81255" y="2739040"/>
            <a:ext cx="3086251" cy="3266283"/>
          </a:xfrm>
          <a:custGeom>
            <a:avLst/>
            <a:gdLst/>
            <a:ahLst/>
            <a:cxnLst/>
            <a:rect r="r" b="b" t="t" l="l"/>
            <a:pathLst>
              <a:path h="3266283" w="3086251">
                <a:moveTo>
                  <a:pt x="0" y="0"/>
                </a:moveTo>
                <a:lnTo>
                  <a:pt x="3086251" y="0"/>
                </a:lnTo>
                <a:lnTo>
                  <a:pt x="3086251" y="3266283"/>
                </a:lnTo>
                <a:lnTo>
                  <a:pt x="0" y="32662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29620" y="0"/>
            <a:ext cx="12276298" cy="10287000"/>
          </a:xfrm>
          <a:custGeom>
            <a:avLst/>
            <a:gdLst/>
            <a:ahLst/>
            <a:cxnLst/>
            <a:rect r="r" b="b" t="t" l="l"/>
            <a:pathLst>
              <a:path h="10287000" w="12276298">
                <a:moveTo>
                  <a:pt x="0" y="0"/>
                </a:moveTo>
                <a:lnTo>
                  <a:pt x="12276298" y="0"/>
                </a:lnTo>
                <a:lnTo>
                  <a:pt x="122762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207" y="227084"/>
            <a:ext cx="5143558" cy="137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22"/>
              </a:lnSpc>
              <a:spcBef>
                <a:spcPct val="0"/>
              </a:spcBef>
            </a:pPr>
            <a:r>
              <a:rPr lang="en-US" b="true" sz="8159" spc="-2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87710" y="2181005"/>
            <a:ext cx="589249" cy="585917"/>
            <a:chOff x="0" y="0"/>
            <a:chExt cx="81742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931"/>
                </a:lnSpc>
                <a:spcBef>
                  <a:spcPct val="0"/>
                </a:spcBef>
              </a:pPr>
              <a:r>
                <a:rPr lang="en-US" b="true" sz="700" spc="-25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38109" y="3272886"/>
            <a:ext cx="564323" cy="561132"/>
            <a:chOff x="0" y="0"/>
            <a:chExt cx="81742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35713" y="3187610"/>
            <a:ext cx="581915" cy="578625"/>
            <a:chOff x="0" y="0"/>
            <a:chExt cx="81742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633" y="95250"/>
              <a:ext cx="664156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"/>
                </a:lnSpc>
              </a:pPr>
              <a:r>
                <a:rPr lang="en-US" b="true" sz="700" spc="-25">
                  <a:solidFill>
                    <a:srgbClr val="3CC0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ROOT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38109" y="4242506"/>
            <a:ext cx="614994" cy="611517"/>
            <a:chOff x="0" y="0"/>
            <a:chExt cx="81742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23471" y="5143500"/>
            <a:ext cx="623643" cy="620117"/>
            <a:chOff x="0" y="0"/>
            <a:chExt cx="81742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02432" y="2486356"/>
            <a:ext cx="564323" cy="561132"/>
            <a:chOff x="0" y="0"/>
            <a:chExt cx="81742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5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5184"/>
            <a:ext cx="6129620" cy="114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5"/>
              </a:lnSpc>
              <a:spcBef>
                <a:spcPct val="0"/>
              </a:spcBef>
            </a:pPr>
            <a:r>
              <a:rPr lang="en-US" b="true" sz="6854" spc="-2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BLACKHOLE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29620" y="0"/>
            <a:ext cx="12276298" cy="10287000"/>
          </a:xfrm>
          <a:custGeom>
            <a:avLst/>
            <a:gdLst/>
            <a:ahLst/>
            <a:cxnLst/>
            <a:rect r="r" b="b" t="t" l="l"/>
            <a:pathLst>
              <a:path h="10287000" w="12276298">
                <a:moveTo>
                  <a:pt x="0" y="0"/>
                </a:moveTo>
                <a:lnTo>
                  <a:pt x="12276298" y="0"/>
                </a:lnTo>
                <a:lnTo>
                  <a:pt x="122762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196653" y="2493229"/>
            <a:ext cx="629781" cy="626220"/>
            <a:chOff x="0" y="0"/>
            <a:chExt cx="81742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710" y="2181005"/>
            <a:ext cx="589249" cy="585917"/>
            <a:chOff x="0" y="0"/>
            <a:chExt cx="81742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931"/>
                </a:lnSpc>
                <a:spcBef>
                  <a:spcPct val="0"/>
                </a:spcBef>
              </a:pPr>
              <a:r>
                <a:rPr lang="en-US" b="true" sz="700" spc="-25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38109" y="3272886"/>
            <a:ext cx="564323" cy="561132"/>
            <a:chOff x="0" y="0"/>
            <a:chExt cx="81742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35713" y="3187610"/>
            <a:ext cx="581915" cy="578625"/>
            <a:chOff x="0" y="0"/>
            <a:chExt cx="81742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633" y="95250"/>
              <a:ext cx="664156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"/>
                </a:lnSpc>
              </a:pPr>
              <a:r>
                <a:rPr lang="en-US" b="true" sz="700" spc="-25">
                  <a:solidFill>
                    <a:srgbClr val="3CC0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ROOT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38109" y="4242506"/>
            <a:ext cx="614994" cy="611517"/>
            <a:chOff x="0" y="0"/>
            <a:chExt cx="81742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23471" y="5143500"/>
            <a:ext cx="623643" cy="620117"/>
            <a:chOff x="0" y="0"/>
            <a:chExt cx="81742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0" y="1449736"/>
            <a:ext cx="6427893" cy="254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4926" indent="-527463" lvl="1">
              <a:lnSpc>
                <a:spcPts val="6840"/>
              </a:lnSpc>
              <a:buFont typeface="Arial"/>
              <a:buChar char="•"/>
            </a:pPr>
            <a:r>
              <a:rPr lang="en-US" b="true" sz="4886" spc="-1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</a:t>
            </a:r>
          </a:p>
          <a:p>
            <a:pPr algn="l" marL="1054926" indent="-527463" lvl="1">
              <a:lnSpc>
                <a:spcPts val="6840"/>
              </a:lnSpc>
              <a:buFont typeface="Arial"/>
              <a:buChar char="•"/>
            </a:pPr>
            <a:r>
              <a:rPr lang="en-US" b="true" sz="4886" spc="-1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PARTIAL MESH </a:t>
            </a:r>
          </a:p>
          <a:p>
            <a:pPr algn="l" marL="1054926" indent="-527463" lvl="1">
              <a:lnSpc>
                <a:spcPts val="6840"/>
              </a:lnSpc>
              <a:buFont typeface="Arial"/>
              <a:buChar char="•"/>
            </a:pPr>
            <a:r>
              <a:rPr lang="en-US" b="true" sz="4886" spc="-1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5659"/>
            <a:ext cx="6011478" cy="236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7"/>
              </a:lnSpc>
            </a:pPr>
            <a:r>
              <a:rPr lang="en-US" b="true" sz="6890" spc="-2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BLACKHOLE</a:t>
            </a:r>
          </a:p>
          <a:p>
            <a:pPr algn="ctr">
              <a:lnSpc>
                <a:spcPts val="9647"/>
              </a:lnSpc>
              <a:spcBef>
                <a:spcPct val="0"/>
              </a:spcBef>
            </a:pPr>
            <a:r>
              <a:rPr lang="en-US" b="true" sz="6890" spc="-2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29620" y="0"/>
            <a:ext cx="12276298" cy="10287000"/>
          </a:xfrm>
          <a:custGeom>
            <a:avLst/>
            <a:gdLst/>
            <a:ahLst/>
            <a:cxnLst/>
            <a:rect r="r" b="b" t="t" l="l"/>
            <a:pathLst>
              <a:path h="10287000" w="12276298">
                <a:moveTo>
                  <a:pt x="0" y="0"/>
                </a:moveTo>
                <a:lnTo>
                  <a:pt x="12276298" y="0"/>
                </a:lnTo>
                <a:lnTo>
                  <a:pt x="122762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212158" y="3285431"/>
            <a:ext cx="629781" cy="626220"/>
            <a:chOff x="0" y="0"/>
            <a:chExt cx="81742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ROOT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710" y="2181005"/>
            <a:ext cx="589249" cy="585917"/>
            <a:chOff x="0" y="0"/>
            <a:chExt cx="81742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931"/>
                </a:lnSpc>
                <a:spcBef>
                  <a:spcPct val="0"/>
                </a:spcBef>
              </a:pPr>
              <a:r>
                <a:rPr lang="en-US" b="true" sz="700" spc="-25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92343" y="3451731"/>
            <a:ext cx="614994" cy="611517"/>
            <a:chOff x="0" y="0"/>
            <a:chExt cx="81742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68700" y="3166864"/>
            <a:ext cx="623643" cy="620117"/>
            <a:chOff x="0" y="0"/>
            <a:chExt cx="81742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62291" y="2413992"/>
            <a:ext cx="597052" cy="593676"/>
            <a:chOff x="0" y="0"/>
            <a:chExt cx="81742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48995" y="2400772"/>
            <a:ext cx="623643" cy="620117"/>
            <a:chOff x="0" y="0"/>
            <a:chExt cx="81742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38652" y="2163905"/>
            <a:ext cx="623643" cy="620117"/>
            <a:chOff x="0" y="0"/>
            <a:chExt cx="817422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5659"/>
            <a:ext cx="6011478" cy="116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7"/>
              </a:lnSpc>
              <a:spcBef>
                <a:spcPct val="0"/>
              </a:spcBef>
            </a:pPr>
            <a:r>
              <a:rPr lang="en-US" b="true" sz="6890" spc="-2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WORMHOLE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29620" y="0"/>
            <a:ext cx="12276298" cy="10287000"/>
          </a:xfrm>
          <a:custGeom>
            <a:avLst/>
            <a:gdLst/>
            <a:ahLst/>
            <a:cxnLst/>
            <a:rect r="r" b="b" t="t" l="l"/>
            <a:pathLst>
              <a:path h="10287000" w="12276298">
                <a:moveTo>
                  <a:pt x="0" y="0"/>
                </a:moveTo>
                <a:lnTo>
                  <a:pt x="12276298" y="0"/>
                </a:lnTo>
                <a:lnTo>
                  <a:pt x="122762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196653" y="2493229"/>
            <a:ext cx="629781" cy="626220"/>
            <a:chOff x="0" y="0"/>
            <a:chExt cx="81742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710" y="2181005"/>
            <a:ext cx="589249" cy="585917"/>
            <a:chOff x="0" y="0"/>
            <a:chExt cx="81742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931"/>
                </a:lnSpc>
                <a:spcBef>
                  <a:spcPct val="0"/>
                </a:spcBef>
              </a:pPr>
              <a:r>
                <a:rPr lang="en-US" b="true" sz="700" spc="-25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38109" y="3256614"/>
            <a:ext cx="564323" cy="561132"/>
            <a:chOff x="0" y="0"/>
            <a:chExt cx="81742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35713" y="3187610"/>
            <a:ext cx="581915" cy="578625"/>
            <a:chOff x="0" y="0"/>
            <a:chExt cx="81742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633" y="95250"/>
              <a:ext cx="664156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"/>
                </a:lnSpc>
              </a:pPr>
              <a:r>
                <a:rPr lang="en-US" b="true" sz="700" spc="-25">
                  <a:solidFill>
                    <a:srgbClr val="3CC0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ROOT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38109" y="4242506"/>
            <a:ext cx="614994" cy="611517"/>
            <a:chOff x="0" y="0"/>
            <a:chExt cx="81742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16025" y="5143500"/>
            <a:ext cx="623643" cy="620117"/>
            <a:chOff x="0" y="0"/>
            <a:chExt cx="81742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38109" y="3240342"/>
            <a:ext cx="597052" cy="593676"/>
            <a:chOff x="0" y="0"/>
            <a:chExt cx="817422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6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3036635" y="2806339"/>
            <a:ext cx="160019" cy="43400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0" y="1449736"/>
            <a:ext cx="6427893" cy="254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4926" indent="-527463" lvl="1">
              <a:lnSpc>
                <a:spcPts val="6840"/>
              </a:lnSpc>
              <a:buFont typeface="Arial"/>
              <a:buChar char="•"/>
            </a:pPr>
            <a:r>
              <a:rPr lang="en-US" b="true" sz="4886" spc="-1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</a:t>
            </a:r>
          </a:p>
          <a:p>
            <a:pPr algn="l" marL="1054926" indent="-527463" lvl="1">
              <a:lnSpc>
                <a:spcPts val="6840"/>
              </a:lnSpc>
              <a:buFont typeface="Arial"/>
              <a:buChar char="•"/>
            </a:pPr>
            <a:r>
              <a:rPr lang="en-US" b="true" sz="4886" spc="-1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PARTIAL MESH </a:t>
            </a:r>
          </a:p>
          <a:p>
            <a:pPr algn="l" marL="1054926" indent="-527463" lvl="1">
              <a:lnSpc>
                <a:spcPts val="6840"/>
              </a:lnSpc>
              <a:buFont typeface="Arial"/>
              <a:buChar char="•"/>
            </a:pPr>
            <a:r>
              <a:rPr lang="en-US" b="true" sz="4886" spc="-1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5659"/>
            <a:ext cx="6011478" cy="236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7"/>
              </a:lnSpc>
            </a:pPr>
            <a:r>
              <a:rPr lang="en-US" b="true" sz="6890" spc="-2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WORMHOLE</a:t>
            </a:r>
          </a:p>
          <a:p>
            <a:pPr algn="ctr">
              <a:lnSpc>
                <a:spcPts val="9647"/>
              </a:lnSpc>
              <a:spcBef>
                <a:spcPct val="0"/>
              </a:spcBef>
            </a:pPr>
            <a:r>
              <a:rPr lang="en-US" b="true" sz="6890" spc="-2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29620" y="0"/>
            <a:ext cx="12276298" cy="10287000"/>
          </a:xfrm>
          <a:custGeom>
            <a:avLst/>
            <a:gdLst/>
            <a:ahLst/>
            <a:cxnLst/>
            <a:rect r="r" b="b" t="t" l="l"/>
            <a:pathLst>
              <a:path h="10287000" w="12276298">
                <a:moveTo>
                  <a:pt x="0" y="0"/>
                </a:moveTo>
                <a:lnTo>
                  <a:pt x="12276298" y="0"/>
                </a:lnTo>
                <a:lnTo>
                  <a:pt x="122762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92294" y="2084610"/>
            <a:ext cx="629781" cy="626220"/>
            <a:chOff x="0" y="0"/>
            <a:chExt cx="81742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710" y="2181005"/>
            <a:ext cx="589249" cy="585917"/>
            <a:chOff x="0" y="0"/>
            <a:chExt cx="81742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931"/>
                </a:lnSpc>
                <a:spcBef>
                  <a:spcPct val="0"/>
                </a:spcBef>
              </a:pPr>
              <a:r>
                <a:rPr lang="en-US" b="true" sz="700" spc="-25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35713" y="3187610"/>
            <a:ext cx="581915" cy="578625"/>
            <a:chOff x="0" y="0"/>
            <a:chExt cx="81742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D4FFD4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633" y="95250"/>
              <a:ext cx="664156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"/>
                </a:lnSpc>
              </a:pPr>
              <a:r>
                <a:rPr lang="en-US" b="true" sz="700" spc="-25">
                  <a:solidFill>
                    <a:srgbClr val="3CC0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ROOT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92343" y="3451731"/>
            <a:ext cx="614994" cy="611517"/>
            <a:chOff x="0" y="0"/>
            <a:chExt cx="81742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68700" y="3166864"/>
            <a:ext cx="623643" cy="620117"/>
            <a:chOff x="0" y="0"/>
            <a:chExt cx="81742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5CE1E6"/>
            </a:solidFill>
            <a:ln w="66675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633" y="66675"/>
              <a:ext cx="66415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</a:t>
              </a:r>
            </a:p>
            <a:p>
              <a:pPr algn="ctr" marL="0" indent="0" lvl="0">
                <a:lnSpc>
                  <a:spcPts val="798"/>
                </a:lnSpc>
                <a:spcBef>
                  <a:spcPct val="0"/>
                </a:spcBef>
              </a:pPr>
              <a:r>
                <a:rPr lang="en-US" b="true" sz="600" spc="-21" strike="noStrike" u="none">
                  <a:solidFill>
                    <a:srgbClr val="1800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62291" y="2413992"/>
            <a:ext cx="597052" cy="593676"/>
            <a:chOff x="0" y="0"/>
            <a:chExt cx="81742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7422" cy="812800"/>
            </a:xfrm>
            <a:custGeom>
              <a:avLst/>
              <a:gdLst/>
              <a:ahLst/>
              <a:cxnLst/>
              <a:rect r="r" b="b" t="t" l="l"/>
              <a:pathLst>
                <a:path h="812800" w="817422">
                  <a:moveTo>
                    <a:pt x="408711" y="0"/>
                  </a:moveTo>
                  <a:cubicBezTo>
                    <a:pt x="182986" y="0"/>
                    <a:pt x="0" y="181951"/>
                    <a:pt x="0" y="406400"/>
                  </a:cubicBezTo>
                  <a:cubicBezTo>
                    <a:pt x="0" y="630849"/>
                    <a:pt x="182986" y="812800"/>
                    <a:pt x="408711" y="812800"/>
                  </a:cubicBezTo>
                  <a:cubicBezTo>
                    <a:pt x="634436" y="812800"/>
                    <a:pt x="817422" y="630849"/>
                    <a:pt x="817422" y="406400"/>
                  </a:cubicBezTo>
                  <a:cubicBezTo>
                    <a:pt x="817422" y="181951"/>
                    <a:pt x="634436" y="0"/>
                    <a:pt x="408711" y="0"/>
                  </a:cubicBezTo>
                  <a:close/>
                </a:path>
              </a:pathLst>
            </a:custGeom>
            <a:solidFill>
              <a:srgbClr val="FFB8B8"/>
            </a:solidFill>
            <a:ln w="66675" cap="sq">
              <a:solidFill>
                <a:srgbClr val="A42525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633" y="57150"/>
              <a:ext cx="664156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31"/>
                </a:lnSpc>
              </a:pPr>
              <a:r>
                <a:rPr lang="en-US" b="true" sz="700" spc="-25">
                  <a:solidFill>
                    <a:srgbClr val="7B2F2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 6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13160817" y="2397720"/>
            <a:ext cx="331478" cy="1627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603377"/>
            <a:ext cx="9312231" cy="3748281"/>
          </a:xfrm>
          <a:custGeom>
            <a:avLst/>
            <a:gdLst/>
            <a:ahLst/>
            <a:cxnLst/>
            <a:rect r="r" b="b" t="t" l="l"/>
            <a:pathLst>
              <a:path h="3748281" w="9312231">
                <a:moveTo>
                  <a:pt x="0" y="0"/>
                </a:moveTo>
                <a:lnTo>
                  <a:pt x="9312231" y="0"/>
                </a:lnTo>
                <a:lnTo>
                  <a:pt x="9312231" y="3748280"/>
                </a:lnTo>
                <a:lnTo>
                  <a:pt x="0" y="3748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4714" y="2603377"/>
            <a:ext cx="8217385" cy="3748281"/>
          </a:xfrm>
          <a:custGeom>
            <a:avLst/>
            <a:gdLst/>
            <a:ahLst/>
            <a:cxnLst/>
            <a:rect r="r" b="b" t="t" l="l"/>
            <a:pathLst>
              <a:path h="3748281" w="8217385">
                <a:moveTo>
                  <a:pt x="0" y="0"/>
                </a:moveTo>
                <a:lnTo>
                  <a:pt x="8217385" y="0"/>
                </a:lnTo>
                <a:lnTo>
                  <a:pt x="8217385" y="3748280"/>
                </a:lnTo>
                <a:lnTo>
                  <a:pt x="0" y="3748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MULTI-TOPOLOGY TESTBED DEPLOYMENT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76741" y="6472620"/>
            <a:ext cx="63144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Partial Mesh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2834" y="6472620"/>
            <a:ext cx="505991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68907" y="8412480"/>
            <a:ext cx="1317533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topology converges to its intended parent-child structure within 60 seconds.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Structure is verified by inspecting parent-MAC and layer values in root logs.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Mesh remains stable through a full 5-minute baseline phase (no spontaneous re-routing).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Both attacks show their expected signatures in all four topologies. 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4461" y="6068773"/>
            <a:ext cx="13084230" cy="3666554"/>
          </a:xfrm>
          <a:custGeom>
            <a:avLst/>
            <a:gdLst/>
            <a:ahLst/>
            <a:cxnLst/>
            <a:rect r="r" b="b" t="t" l="l"/>
            <a:pathLst>
              <a:path h="3666554" w="13084230">
                <a:moveTo>
                  <a:pt x="0" y="0"/>
                </a:moveTo>
                <a:lnTo>
                  <a:pt x="13084230" y="0"/>
                </a:lnTo>
                <a:lnTo>
                  <a:pt x="13084230" y="3666553"/>
                </a:lnTo>
                <a:lnTo>
                  <a:pt x="0" y="36665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0324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10411" y="2194139"/>
            <a:ext cx="10275812" cy="3545155"/>
          </a:xfrm>
          <a:custGeom>
            <a:avLst/>
            <a:gdLst/>
            <a:ahLst/>
            <a:cxnLst/>
            <a:rect r="r" b="b" t="t" l="l"/>
            <a:pathLst>
              <a:path h="3545155" w="10275812">
                <a:moveTo>
                  <a:pt x="0" y="0"/>
                </a:moveTo>
                <a:lnTo>
                  <a:pt x="10275812" y="0"/>
                </a:lnTo>
                <a:lnTo>
                  <a:pt x="10275812" y="3545155"/>
                </a:lnTo>
                <a:lnTo>
                  <a:pt x="0" y="35451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152" y="1711539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MULTI-TOPOLOGY TESTBED DEPLOYMENT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588323" y="5688779"/>
            <a:ext cx="511135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50568" y="9697226"/>
            <a:ext cx="53868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Topology - Blackhole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5940" y="2942330"/>
            <a:ext cx="8587454" cy="3333005"/>
          </a:xfrm>
          <a:custGeom>
            <a:avLst/>
            <a:gdLst/>
            <a:ahLst/>
            <a:cxnLst/>
            <a:rect r="r" b="b" t="t" l="l"/>
            <a:pathLst>
              <a:path h="3333005" w="8587454">
                <a:moveTo>
                  <a:pt x="0" y="0"/>
                </a:moveTo>
                <a:lnTo>
                  <a:pt x="8587453" y="0"/>
                </a:lnTo>
                <a:lnTo>
                  <a:pt x="8587453" y="3333005"/>
                </a:lnTo>
                <a:lnTo>
                  <a:pt x="0" y="33330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5940" y="6735639"/>
            <a:ext cx="8587454" cy="3145155"/>
          </a:xfrm>
          <a:custGeom>
            <a:avLst/>
            <a:gdLst/>
            <a:ahLst/>
            <a:cxnLst/>
            <a:rect r="r" b="b" t="t" l="l"/>
            <a:pathLst>
              <a:path h="3145155" w="8587454">
                <a:moveTo>
                  <a:pt x="0" y="0"/>
                </a:moveTo>
                <a:lnTo>
                  <a:pt x="8587453" y="0"/>
                </a:lnTo>
                <a:lnTo>
                  <a:pt x="8587453" y="3145155"/>
                </a:lnTo>
                <a:lnTo>
                  <a:pt x="0" y="31451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MULTI-TOPOLOGY TESTBED DEPLOYMENT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74116" y="4334774"/>
            <a:ext cx="641806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Partial Mesh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4195" y="8091047"/>
            <a:ext cx="516334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6402" y="6377084"/>
            <a:ext cx="10216859" cy="3716382"/>
          </a:xfrm>
          <a:custGeom>
            <a:avLst/>
            <a:gdLst/>
            <a:ahLst/>
            <a:cxnLst/>
            <a:rect r="r" b="b" t="t" l="l"/>
            <a:pathLst>
              <a:path h="3716382" w="10216859">
                <a:moveTo>
                  <a:pt x="0" y="0"/>
                </a:moveTo>
                <a:lnTo>
                  <a:pt x="10216858" y="0"/>
                </a:lnTo>
                <a:lnTo>
                  <a:pt x="10216858" y="3716382"/>
                </a:lnTo>
                <a:lnTo>
                  <a:pt x="0" y="371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9225" y="2393234"/>
            <a:ext cx="8378494" cy="3868434"/>
          </a:xfrm>
          <a:custGeom>
            <a:avLst/>
            <a:gdLst/>
            <a:ahLst/>
            <a:cxnLst/>
            <a:rect r="r" b="b" t="t" l="l"/>
            <a:pathLst>
              <a:path h="3868434" w="8378494">
                <a:moveTo>
                  <a:pt x="0" y="0"/>
                </a:moveTo>
                <a:lnTo>
                  <a:pt x="8378494" y="0"/>
                </a:lnTo>
                <a:lnTo>
                  <a:pt x="8378494" y="3868434"/>
                </a:lnTo>
                <a:lnTo>
                  <a:pt x="0" y="3868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044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152" y="1711539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MULTI-TOPOLOGY TESTBED DEPLOYMENT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768733" y="4233219"/>
            <a:ext cx="521493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68733" y="8144066"/>
            <a:ext cx="549056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(source: </a:t>
            </a:r>
            <a:r>
              <a:rPr lang="en-US" b="true" sz="2400" spc="-8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Topology - Wormhole</a:t>
            </a:r>
            <a:r>
              <a:rPr lang="en-US" sz="2400" spc="-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219854" y="9078087"/>
            <a:ext cx="1848291" cy="0"/>
          </a:xfrm>
          <a:prstGeom prst="line">
            <a:avLst/>
          </a:prstGeom>
          <a:ln cap="flat" w="38100">
            <a:solidFill>
              <a:srgbClr val="01012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PHASE-CONTROLLED EXPERIMENT EXECUTION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86634"/>
            <a:ext cx="15817504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Run the full experimental matrix and produce labeled raw telemetry per run.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 timeline (per experiment):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1 minute — mesh formation.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5 minutes — baseline (normal operation).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3 minutes — attack phase active.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2 minutes — cooldown.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Experimental matrix: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4 topologies × 2 attack types × at least 3 repeats = minimum 24 runs.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Root broadcasts phase transition signals; every node embeds the current phase ID in its log rows (the ground-truth label).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Criteria: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At least 24 complete runs are collected.</a:t>
            </a:r>
          </a:p>
          <a:p>
            <a:pPr algn="l" marL="453392" indent="-226696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Every run's per-node CSV logs are intact.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Phase IDs in node logs match the root's broadcast timeline within tolerance.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6308" y="2921071"/>
            <a:ext cx="15619514" cy="5435056"/>
          </a:xfrm>
          <a:custGeom>
            <a:avLst/>
            <a:gdLst/>
            <a:ahLst/>
            <a:cxnLst/>
            <a:rect r="r" b="b" t="t" l="l"/>
            <a:pathLst>
              <a:path h="5435056" w="15619514">
                <a:moveTo>
                  <a:pt x="0" y="0"/>
                </a:moveTo>
                <a:lnTo>
                  <a:pt x="15619514" y="0"/>
                </a:lnTo>
                <a:lnTo>
                  <a:pt x="15619514" y="5435055"/>
                </a:lnTo>
                <a:lnTo>
                  <a:pt x="0" y="5435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PHASE-CONTROLLED EXPERIMENT EXECUTION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286619" y="8935897"/>
            <a:ext cx="605885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At least 24 complete runs are collected.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6204" y="1028700"/>
            <a:ext cx="413096" cy="360426"/>
          </a:xfrm>
          <a:custGeom>
            <a:avLst/>
            <a:gdLst/>
            <a:ahLst/>
            <a:cxnLst/>
            <a:rect r="r" b="b" t="t" l="l"/>
            <a:pathLst>
              <a:path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37331" y="1028700"/>
            <a:ext cx="396617" cy="360426"/>
          </a:xfrm>
          <a:custGeom>
            <a:avLst/>
            <a:gdLst/>
            <a:ahLst/>
            <a:cxnLst/>
            <a:rect r="r" b="b" t="t" l="l"/>
            <a:pathLst>
              <a:path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484" y="8585192"/>
            <a:ext cx="13661758" cy="622610"/>
          </a:xfrm>
          <a:custGeom>
            <a:avLst/>
            <a:gdLst/>
            <a:ahLst/>
            <a:cxnLst/>
            <a:rect r="r" b="b" t="t" l="l"/>
            <a:pathLst>
              <a:path h="622610" w="13661758">
                <a:moveTo>
                  <a:pt x="0" y="0"/>
                </a:moveTo>
                <a:lnTo>
                  <a:pt x="13661758" y="0"/>
                </a:lnTo>
                <a:lnTo>
                  <a:pt x="13661758" y="622610"/>
                </a:lnTo>
                <a:lnTo>
                  <a:pt x="0" y="622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10686" r="-3565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185" y="3949122"/>
            <a:ext cx="15607952" cy="2908787"/>
          </a:xfrm>
          <a:custGeom>
            <a:avLst/>
            <a:gdLst/>
            <a:ahLst/>
            <a:cxnLst/>
            <a:rect r="r" b="b" t="t" l="l"/>
            <a:pathLst>
              <a:path h="2908787" w="15607952">
                <a:moveTo>
                  <a:pt x="0" y="0"/>
                </a:moveTo>
                <a:lnTo>
                  <a:pt x="15607953" y="0"/>
                </a:lnTo>
                <a:lnTo>
                  <a:pt x="15607953" y="2908787"/>
                </a:lnTo>
                <a:lnTo>
                  <a:pt x="0" y="2908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4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6402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3995196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Milestone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152" y="1907240"/>
            <a:ext cx="1746284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</a:pPr>
            <a:r>
              <a:rPr lang="en-US" b="true" sz="5499" spc="-45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PHASE-CONTROLLED EXPERIMENT EXECUTION</a:t>
            </a:r>
          </a:p>
          <a:p>
            <a:pPr algn="l" marL="0" indent="0" lvl="0">
              <a:lnSpc>
                <a:spcPts val="4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78348" y="7686942"/>
            <a:ext cx="12191604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Every</a:t>
            </a: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 run's per-node CSV logs are intact.</a:t>
            </a:r>
          </a:p>
          <a:p>
            <a:pPr algn="ctr">
              <a:lnSpc>
                <a:spcPts val="2240"/>
              </a:lnSpc>
            </a:pPr>
            <a:r>
              <a:rPr lang="en-US" sz="1600" spc="-57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Each run produces 7 files — 5 child telemetry + root telemetry + root arrivals — and each passes five checks before the run 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DAHQHvF6T3o</dc:identifier>
  <dcterms:modified xsi:type="dcterms:W3CDTF">2011-08-01T06:04:30Z</dcterms:modified>
  <cp:revision>1</cp:revision>
  <dc:title>Thesis 2</dc:title>
</cp:coreProperties>
</file>